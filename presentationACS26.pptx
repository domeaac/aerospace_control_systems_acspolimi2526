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86" r:id="rId2"/>
  </p:sldMasterIdLst>
  <p:notesMasterIdLst>
    <p:notesMasterId r:id="rId150"/>
  </p:notesMasterIdLst>
  <p:sldIdLst>
    <p:sldId id="1066" r:id="rId3"/>
    <p:sldId id="1101" r:id="rId4"/>
    <p:sldId id="1087" r:id="rId5"/>
    <p:sldId id="1068" r:id="rId6"/>
    <p:sldId id="1071" r:id="rId7"/>
    <p:sldId id="1220" r:id="rId8"/>
    <p:sldId id="1221" r:id="rId9"/>
    <p:sldId id="1081" r:id="rId10"/>
    <p:sldId id="1102" r:id="rId11"/>
    <p:sldId id="1103" r:id="rId12"/>
    <p:sldId id="1104" r:id="rId13"/>
    <p:sldId id="1105" r:id="rId14"/>
    <p:sldId id="1106" r:id="rId15"/>
    <p:sldId id="1107" r:id="rId16"/>
    <p:sldId id="1116" r:id="rId17"/>
    <p:sldId id="1117" r:id="rId18"/>
    <p:sldId id="1118" r:id="rId19"/>
    <p:sldId id="1119" r:id="rId20"/>
    <p:sldId id="1120" r:id="rId21"/>
    <p:sldId id="1121" r:id="rId22"/>
    <p:sldId id="1122" r:id="rId23"/>
    <p:sldId id="1110" r:id="rId24"/>
    <p:sldId id="1113" r:id="rId25"/>
    <p:sldId id="1112" r:id="rId26"/>
    <p:sldId id="1114" r:id="rId27"/>
    <p:sldId id="1115" r:id="rId28"/>
    <p:sldId id="1124" r:id="rId29"/>
    <p:sldId id="1123" r:id="rId30"/>
    <p:sldId id="1125" r:id="rId31"/>
    <p:sldId id="1126" r:id="rId32"/>
    <p:sldId id="1170" r:id="rId33"/>
    <p:sldId id="1222" r:id="rId34"/>
    <p:sldId id="1256" r:id="rId35"/>
    <p:sldId id="1257" r:id="rId36"/>
    <p:sldId id="1258" r:id="rId37"/>
    <p:sldId id="1259" r:id="rId38"/>
    <p:sldId id="1260" r:id="rId39"/>
    <p:sldId id="1261" r:id="rId40"/>
    <p:sldId id="1262" r:id="rId41"/>
    <p:sldId id="1263" r:id="rId42"/>
    <p:sldId id="1264" r:id="rId43"/>
    <p:sldId id="1265" r:id="rId44"/>
    <p:sldId id="1266" r:id="rId45"/>
    <p:sldId id="1267" r:id="rId46"/>
    <p:sldId id="1268" r:id="rId47"/>
    <p:sldId id="1269" r:id="rId48"/>
    <p:sldId id="1270" r:id="rId49"/>
    <p:sldId id="1271" r:id="rId50"/>
    <p:sldId id="1272" r:id="rId51"/>
    <p:sldId id="1273" r:id="rId52"/>
    <p:sldId id="1274" r:id="rId53"/>
    <p:sldId id="1275" r:id="rId54"/>
    <p:sldId id="1276" r:id="rId55"/>
    <p:sldId id="1082" r:id="rId56"/>
    <p:sldId id="1094" r:id="rId57"/>
    <p:sldId id="1095" r:id="rId58"/>
    <p:sldId id="1097" r:id="rId59"/>
    <p:sldId id="1096" r:id="rId60"/>
    <p:sldId id="1098" r:id="rId61"/>
    <p:sldId id="1099" r:id="rId62"/>
    <p:sldId id="1083" r:id="rId63"/>
    <p:sldId id="1129" r:id="rId64"/>
    <p:sldId id="1130" r:id="rId65"/>
    <p:sldId id="1131" r:id="rId66"/>
    <p:sldId id="1161" r:id="rId67"/>
    <p:sldId id="1162" r:id="rId68"/>
    <p:sldId id="1164" r:id="rId69"/>
    <p:sldId id="1163" r:id="rId70"/>
    <p:sldId id="1167" r:id="rId71"/>
    <p:sldId id="1165" r:id="rId72"/>
    <p:sldId id="1135" r:id="rId73"/>
    <p:sldId id="1145" r:id="rId74"/>
    <p:sldId id="1136" r:id="rId75"/>
    <p:sldId id="1140" r:id="rId76"/>
    <p:sldId id="1139" r:id="rId77"/>
    <p:sldId id="1146" r:id="rId78"/>
    <p:sldId id="1138" r:id="rId79"/>
    <p:sldId id="1147" r:id="rId80"/>
    <p:sldId id="1148" r:id="rId81"/>
    <p:sldId id="1149" r:id="rId82"/>
    <p:sldId id="1141" r:id="rId83"/>
    <p:sldId id="1142" r:id="rId84"/>
    <p:sldId id="1150" r:id="rId85"/>
    <p:sldId id="1143" r:id="rId86"/>
    <p:sldId id="1151" r:id="rId87"/>
    <p:sldId id="1153" r:id="rId88"/>
    <p:sldId id="1154" r:id="rId89"/>
    <p:sldId id="1091" r:id="rId90"/>
    <p:sldId id="1168" r:id="rId91"/>
    <p:sldId id="1155" r:id="rId92"/>
    <p:sldId id="1158" r:id="rId93"/>
    <p:sldId id="1157" r:id="rId94"/>
    <p:sldId id="1159" r:id="rId95"/>
    <p:sldId id="1160" r:id="rId96"/>
    <p:sldId id="1171" r:id="rId97"/>
    <p:sldId id="1172" r:id="rId98"/>
    <p:sldId id="1173" r:id="rId99"/>
    <p:sldId id="1174" r:id="rId100"/>
    <p:sldId id="1175" r:id="rId101"/>
    <p:sldId id="1179" r:id="rId102"/>
    <p:sldId id="1180" r:id="rId103"/>
    <p:sldId id="1177" r:id="rId104"/>
    <p:sldId id="1181" r:id="rId105"/>
    <p:sldId id="1182" r:id="rId106"/>
    <p:sldId id="1183" r:id="rId107"/>
    <p:sldId id="1184" r:id="rId108"/>
    <p:sldId id="1185" r:id="rId109"/>
    <p:sldId id="1186" r:id="rId110"/>
    <p:sldId id="1187" r:id="rId111"/>
    <p:sldId id="1188" r:id="rId112"/>
    <p:sldId id="1191" r:id="rId113"/>
    <p:sldId id="1192" r:id="rId114"/>
    <p:sldId id="1193" r:id="rId115"/>
    <p:sldId id="1194" r:id="rId116"/>
    <p:sldId id="1196" r:id="rId117"/>
    <p:sldId id="1197" r:id="rId118"/>
    <p:sldId id="1198" r:id="rId119"/>
    <p:sldId id="1190" r:id="rId120"/>
    <p:sldId id="1199" r:id="rId121"/>
    <p:sldId id="1085" r:id="rId122"/>
    <p:sldId id="1200" r:id="rId123"/>
    <p:sldId id="1201" r:id="rId124"/>
    <p:sldId id="1202" r:id="rId125"/>
    <p:sldId id="1208" r:id="rId126"/>
    <p:sldId id="1205" r:id="rId127"/>
    <p:sldId id="1204" r:id="rId128"/>
    <p:sldId id="1206" r:id="rId129"/>
    <p:sldId id="1209" r:id="rId130"/>
    <p:sldId id="1210" r:id="rId131"/>
    <p:sldId id="1211" r:id="rId132"/>
    <p:sldId id="1212" r:id="rId133"/>
    <p:sldId id="1213" r:id="rId134"/>
    <p:sldId id="1215" r:id="rId135"/>
    <p:sldId id="1214" r:id="rId136"/>
    <p:sldId id="1216" r:id="rId137"/>
    <p:sldId id="1253" r:id="rId138"/>
    <p:sldId id="1249" r:id="rId139"/>
    <p:sldId id="1248" r:id="rId140"/>
    <p:sldId id="1250" r:id="rId141"/>
    <p:sldId id="1251" r:id="rId142"/>
    <p:sldId id="1255" r:id="rId143"/>
    <p:sldId id="1217" r:id="rId144"/>
    <p:sldId id="1247" r:id="rId145"/>
    <p:sldId id="1218" r:id="rId146"/>
    <p:sldId id="1219" r:id="rId147"/>
    <p:sldId id="1089" r:id="rId148"/>
    <p:sldId id="1169" r:id="rId149"/>
  </p:sldIdLst>
  <p:sldSz cx="12192000" cy="6858000"/>
  <p:notesSz cx="6858000" cy="9144000"/>
  <p:embeddedFontLst>
    <p:embeddedFont>
      <p:font typeface="Cambria Math" panose="02040503050406030204" pitchFamily="18" charset="0"/>
      <p:regular r:id="rId151"/>
    </p:embeddedFont>
    <p:embeddedFont>
      <p:font typeface="Manrope" panose="020B0604020202020204" charset="0"/>
      <p:regular r:id="rId152"/>
      <p:bold r:id="rId153"/>
      <p:italic r:id="rId154"/>
      <p:boldItalic r:id="rId155"/>
    </p:embeddedFont>
    <p:embeddedFont>
      <p:font typeface="Manrope Light"/>
      <p:regular r:id="rId156"/>
      <p:bold r:id="rId157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5DE"/>
    <a:srgbClr val="102C53"/>
    <a:srgbClr val="8190A5"/>
    <a:srgbClr val="F2AA00"/>
    <a:srgbClr val="562B11"/>
    <a:srgbClr val="F3F3F3"/>
    <a:srgbClr val="E3E6EB"/>
    <a:srgbClr val="D2D7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751162-9CE9-4173-B0B1-C47A3025D29A}" v="11" dt="2026-06-27T11:41:53.2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Stile medio 4 - Color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Stile medio 4 - Color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FABFCF23-3B69-468F-B69F-88F6DE6A72F2}" styleName="Stile medio 1 - Color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viewProps" Target="viewProps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theme" Target="theme/theme1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45" Type="http://schemas.openxmlformats.org/officeDocument/2006/relationships/slide" Target="slides/slide143.xml"/><Relationship Id="rId16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51" Type="http://schemas.openxmlformats.org/officeDocument/2006/relationships/font" Target="fonts/font1.fntdata"/><Relationship Id="rId156" Type="http://schemas.openxmlformats.org/officeDocument/2006/relationships/font" Target="fonts/font6.fntdata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16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157" Type="http://schemas.openxmlformats.org/officeDocument/2006/relationships/font" Target="fonts/font7.fntdata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font" Target="fonts/font2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microsoft.com/office/2015/10/relationships/revisionInfo" Target="revisionInfo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font" Target="fonts/font3.fntdata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font" Target="fonts/font4.fntdata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enico Raffaele Acierno" userId="85bb9d4f-008b-4cea-ba67-17a2bc78ee2c" providerId="ADAL" clId="{8D3975AD-C898-4F01-9257-142D101D4D39}"/>
    <pc:docChg chg="undo redo custSel modSld sldOrd">
      <pc:chgData name="Domenico Raffaele Acierno" userId="85bb9d4f-008b-4cea-ba67-17a2bc78ee2c" providerId="ADAL" clId="{8D3975AD-C898-4F01-9257-142D101D4D39}" dt="2026-06-27T12:36:46.943" v="168"/>
      <pc:docMkLst>
        <pc:docMk/>
      </pc:docMkLst>
      <pc:sldChg chg="modSp mod">
        <pc:chgData name="Domenico Raffaele Acierno" userId="85bb9d4f-008b-4cea-ba67-17a2bc78ee2c" providerId="ADAL" clId="{8D3975AD-C898-4F01-9257-142D101D4D39}" dt="2026-06-27T11:33:29.358" v="70" actId="27636"/>
        <pc:sldMkLst>
          <pc:docMk/>
          <pc:sldMk cId="4268258427" sldId="1071"/>
        </pc:sldMkLst>
        <pc:spChg chg="mod">
          <ac:chgData name="Domenico Raffaele Acierno" userId="85bb9d4f-008b-4cea-ba67-17a2bc78ee2c" providerId="ADAL" clId="{8D3975AD-C898-4F01-9257-142D101D4D39}" dt="2026-06-27T11:33:29.358" v="70" actId="27636"/>
          <ac:spMkLst>
            <pc:docMk/>
            <pc:sldMk cId="4268258427" sldId="1071"/>
            <ac:spMk id="6" creationId="{B87D5B62-2846-D63C-7D64-8A1596D7715C}"/>
          </ac:spMkLst>
        </pc:spChg>
      </pc:sldChg>
      <pc:sldChg chg="modSp mod">
        <pc:chgData name="Domenico Raffaele Acierno" userId="85bb9d4f-008b-4cea-ba67-17a2bc78ee2c" providerId="ADAL" clId="{8D3975AD-C898-4F01-9257-142D101D4D39}" dt="2026-06-27T11:41:53.248" v="157" actId="5793"/>
        <pc:sldMkLst>
          <pc:docMk/>
          <pc:sldMk cId="4231965340" sldId="1101"/>
        </pc:sldMkLst>
        <pc:spChg chg="mod">
          <ac:chgData name="Domenico Raffaele Acierno" userId="85bb9d4f-008b-4cea-ba67-17a2bc78ee2c" providerId="ADAL" clId="{8D3975AD-C898-4F01-9257-142D101D4D39}" dt="2026-06-27T11:41:53.248" v="157" actId="5793"/>
          <ac:spMkLst>
            <pc:docMk/>
            <pc:sldMk cId="4231965340" sldId="1101"/>
            <ac:spMk id="30" creationId="{9E80947D-6661-D821-5060-7DF2FFB7F6ED}"/>
          </ac:spMkLst>
        </pc:spChg>
      </pc:sldChg>
      <pc:sldChg chg="modSp mod">
        <pc:chgData name="Domenico Raffaele Acierno" userId="85bb9d4f-008b-4cea-ba67-17a2bc78ee2c" providerId="ADAL" clId="{8D3975AD-C898-4F01-9257-142D101D4D39}" dt="2026-06-27T11:33:29.427" v="72" actId="27636"/>
        <pc:sldMkLst>
          <pc:docMk/>
          <pc:sldMk cId="602869276" sldId="1113"/>
        </pc:sldMkLst>
        <pc:spChg chg="mod">
          <ac:chgData name="Domenico Raffaele Acierno" userId="85bb9d4f-008b-4cea-ba67-17a2bc78ee2c" providerId="ADAL" clId="{8D3975AD-C898-4F01-9257-142D101D4D39}" dt="2026-06-27T11:33:29.427" v="72" actId="27636"/>
          <ac:spMkLst>
            <pc:docMk/>
            <pc:sldMk cId="602869276" sldId="1113"/>
            <ac:spMk id="7" creationId="{31F6C6AF-A0FC-210C-D105-54C8B419CD85}"/>
          </ac:spMkLst>
        </pc:spChg>
      </pc:sldChg>
      <pc:sldChg chg="modSp mod">
        <pc:chgData name="Domenico Raffaele Acierno" userId="85bb9d4f-008b-4cea-ba67-17a2bc78ee2c" providerId="ADAL" clId="{8D3975AD-C898-4F01-9257-142D101D4D39}" dt="2026-06-27T11:33:29.681" v="74" actId="27636"/>
        <pc:sldMkLst>
          <pc:docMk/>
          <pc:sldMk cId="627155077" sldId="1161"/>
        </pc:sldMkLst>
        <pc:spChg chg="mod">
          <ac:chgData name="Domenico Raffaele Acierno" userId="85bb9d4f-008b-4cea-ba67-17a2bc78ee2c" providerId="ADAL" clId="{8D3975AD-C898-4F01-9257-142D101D4D39}" dt="2026-06-27T11:33:29.681" v="74" actId="27636"/>
          <ac:spMkLst>
            <pc:docMk/>
            <pc:sldMk cId="627155077" sldId="1161"/>
            <ac:spMk id="7" creationId="{69ECDEC7-47A5-781A-BEE8-CAE43893E04C}"/>
          </ac:spMkLst>
        </pc:spChg>
      </pc:sldChg>
      <pc:sldChg chg="modSp mod">
        <pc:chgData name="Domenico Raffaele Acierno" userId="85bb9d4f-008b-4cea-ba67-17a2bc78ee2c" providerId="ADAL" clId="{8D3975AD-C898-4F01-9257-142D101D4D39}" dt="2026-06-27T11:41:11.791" v="154" actId="1076"/>
        <pc:sldMkLst>
          <pc:docMk/>
          <pc:sldMk cId="3573241510" sldId="1169"/>
        </pc:sldMkLst>
        <pc:spChg chg="mod">
          <ac:chgData name="Domenico Raffaele Acierno" userId="85bb9d4f-008b-4cea-ba67-17a2bc78ee2c" providerId="ADAL" clId="{8D3975AD-C898-4F01-9257-142D101D4D39}" dt="2026-06-27T11:33:29.336" v="69" actId="27636"/>
          <ac:spMkLst>
            <pc:docMk/>
            <pc:sldMk cId="3573241510" sldId="1169"/>
            <ac:spMk id="6" creationId="{D4654FE8-8CB7-A927-1FE4-767B06EDE64C}"/>
          </ac:spMkLst>
        </pc:spChg>
        <pc:picChg chg="mod">
          <ac:chgData name="Domenico Raffaele Acierno" userId="85bb9d4f-008b-4cea-ba67-17a2bc78ee2c" providerId="ADAL" clId="{8D3975AD-C898-4F01-9257-142D101D4D39}" dt="2026-06-27T11:41:11.791" v="154" actId="1076"/>
          <ac:picMkLst>
            <pc:docMk/>
            <pc:sldMk cId="3573241510" sldId="1169"/>
            <ac:picMk id="10" creationId="{7F6DE745-F929-6904-782C-159E45FC534B}"/>
          </ac:picMkLst>
        </pc:picChg>
      </pc:sldChg>
      <pc:sldChg chg="modSp mod">
        <pc:chgData name="Domenico Raffaele Acierno" userId="85bb9d4f-008b-4cea-ba67-17a2bc78ee2c" providerId="ADAL" clId="{8D3975AD-C898-4F01-9257-142D101D4D39}" dt="2026-06-27T11:16:15.237" v="1" actId="14100"/>
        <pc:sldMkLst>
          <pc:docMk/>
          <pc:sldMk cId="4160346727" sldId="1202"/>
        </pc:sldMkLst>
        <pc:picChg chg="mod">
          <ac:chgData name="Domenico Raffaele Acierno" userId="85bb9d4f-008b-4cea-ba67-17a2bc78ee2c" providerId="ADAL" clId="{8D3975AD-C898-4F01-9257-142D101D4D39}" dt="2026-06-27T11:16:15.237" v="1" actId="14100"/>
          <ac:picMkLst>
            <pc:docMk/>
            <pc:sldMk cId="4160346727" sldId="1202"/>
            <ac:picMk id="13" creationId="{EFFB793C-C5CF-41C6-14A5-1E61056B47F1}"/>
          </ac:picMkLst>
        </pc:picChg>
      </pc:sldChg>
      <pc:sldChg chg="addSp delSp modSp mod">
        <pc:chgData name="Domenico Raffaele Acierno" userId="85bb9d4f-008b-4cea-ba67-17a2bc78ee2c" providerId="ADAL" clId="{8D3975AD-C898-4F01-9257-142D101D4D39}" dt="2026-06-27T11:19:27.960" v="14" actId="1076"/>
        <pc:sldMkLst>
          <pc:docMk/>
          <pc:sldMk cId="432559238" sldId="1210"/>
        </pc:sldMkLst>
        <pc:picChg chg="add del">
          <ac:chgData name="Domenico Raffaele Acierno" userId="85bb9d4f-008b-4cea-ba67-17a2bc78ee2c" providerId="ADAL" clId="{8D3975AD-C898-4F01-9257-142D101D4D39}" dt="2026-06-27T11:19:21.602" v="11" actId="478"/>
          <ac:picMkLst>
            <pc:docMk/>
            <pc:sldMk cId="432559238" sldId="1210"/>
            <ac:picMk id="4" creationId="{68D486A3-99FD-23EC-05DF-651AA47C3347}"/>
          </ac:picMkLst>
        </pc:picChg>
        <pc:picChg chg="add del mod">
          <ac:chgData name="Domenico Raffaele Acierno" userId="85bb9d4f-008b-4cea-ba67-17a2bc78ee2c" providerId="ADAL" clId="{8D3975AD-C898-4F01-9257-142D101D4D39}" dt="2026-06-27T11:19:18.019" v="8" actId="22"/>
          <ac:picMkLst>
            <pc:docMk/>
            <pc:sldMk cId="432559238" sldId="1210"/>
            <ac:picMk id="6" creationId="{8B929D0B-3D32-D388-4B45-69BE2AD31357}"/>
          </ac:picMkLst>
        </pc:picChg>
        <pc:picChg chg="add mod">
          <ac:chgData name="Domenico Raffaele Acierno" userId="85bb9d4f-008b-4cea-ba67-17a2bc78ee2c" providerId="ADAL" clId="{8D3975AD-C898-4F01-9257-142D101D4D39}" dt="2026-06-27T11:19:27.960" v="14" actId="1076"/>
          <ac:picMkLst>
            <pc:docMk/>
            <pc:sldMk cId="432559238" sldId="1210"/>
            <ac:picMk id="13" creationId="{AF7F8A78-ABD9-DBD9-6E1D-EAB6BF5A3C2B}"/>
          </ac:picMkLst>
        </pc:picChg>
      </pc:sldChg>
      <pc:sldChg chg="addSp delSp modSp mod">
        <pc:chgData name="Domenico Raffaele Acierno" userId="85bb9d4f-008b-4cea-ba67-17a2bc78ee2c" providerId="ADAL" clId="{8D3975AD-C898-4F01-9257-142D101D4D39}" dt="2026-06-27T12:04:02.279" v="159" actId="22"/>
        <pc:sldMkLst>
          <pc:docMk/>
          <pc:sldMk cId="3093690452" sldId="1212"/>
        </pc:sldMkLst>
        <pc:picChg chg="add">
          <ac:chgData name="Domenico Raffaele Acierno" userId="85bb9d4f-008b-4cea-ba67-17a2bc78ee2c" providerId="ADAL" clId="{8D3975AD-C898-4F01-9257-142D101D4D39}" dt="2026-06-27T12:04:02.279" v="159" actId="22"/>
          <ac:picMkLst>
            <pc:docMk/>
            <pc:sldMk cId="3093690452" sldId="1212"/>
            <ac:picMk id="4" creationId="{0D196373-7FFC-0382-32CF-E06EF3C351D0}"/>
          </ac:picMkLst>
        </pc:picChg>
        <pc:picChg chg="add del mod">
          <ac:chgData name="Domenico Raffaele Acierno" userId="85bb9d4f-008b-4cea-ba67-17a2bc78ee2c" providerId="ADAL" clId="{8D3975AD-C898-4F01-9257-142D101D4D39}" dt="2026-06-27T11:22:39.561" v="23" actId="22"/>
          <ac:picMkLst>
            <pc:docMk/>
            <pc:sldMk cId="3093690452" sldId="1212"/>
            <ac:picMk id="4" creationId="{C963F6D5-82E8-5544-BF79-F8084DE555A2}"/>
          </ac:picMkLst>
        </pc:picChg>
        <pc:picChg chg="add del">
          <ac:chgData name="Domenico Raffaele Acierno" userId="85bb9d4f-008b-4cea-ba67-17a2bc78ee2c" providerId="ADAL" clId="{8D3975AD-C898-4F01-9257-142D101D4D39}" dt="2026-06-27T12:04:01.718" v="158" actId="478"/>
          <ac:picMkLst>
            <pc:docMk/>
            <pc:sldMk cId="3093690452" sldId="1212"/>
            <ac:picMk id="6" creationId="{0F51807D-1CF2-6ACF-50FD-706B5912B098}"/>
          </ac:picMkLst>
        </pc:picChg>
      </pc:sldChg>
      <pc:sldChg chg="addSp delSp modSp mod">
        <pc:chgData name="Domenico Raffaele Acierno" userId="85bb9d4f-008b-4cea-ba67-17a2bc78ee2c" providerId="ADAL" clId="{8D3975AD-C898-4F01-9257-142D101D4D39}" dt="2026-06-27T12:04:21.347" v="165" actId="14100"/>
        <pc:sldMkLst>
          <pc:docMk/>
          <pc:sldMk cId="3816352395" sldId="1216"/>
        </pc:sldMkLst>
        <pc:picChg chg="add del mod">
          <ac:chgData name="Domenico Raffaele Acierno" userId="85bb9d4f-008b-4cea-ba67-17a2bc78ee2c" providerId="ADAL" clId="{8D3975AD-C898-4F01-9257-142D101D4D39}" dt="2026-06-27T12:04:09.429" v="160" actId="478"/>
          <ac:picMkLst>
            <pc:docMk/>
            <pc:sldMk cId="3816352395" sldId="1216"/>
            <ac:picMk id="4" creationId="{A89A8705-0C7B-5A23-E3AE-6F9F05940049}"/>
          </ac:picMkLst>
        </pc:picChg>
        <pc:picChg chg="add mod">
          <ac:chgData name="Domenico Raffaele Acierno" userId="85bb9d4f-008b-4cea-ba67-17a2bc78ee2c" providerId="ADAL" clId="{8D3975AD-C898-4F01-9257-142D101D4D39}" dt="2026-06-27T12:04:21.347" v="165" actId="14100"/>
          <ac:picMkLst>
            <pc:docMk/>
            <pc:sldMk cId="3816352395" sldId="1216"/>
            <ac:picMk id="6" creationId="{59118C43-730D-EC24-5C98-4EBD76711780}"/>
          </ac:picMkLst>
        </pc:picChg>
        <pc:picChg chg="del">
          <ac:chgData name="Domenico Raffaele Acierno" userId="85bb9d4f-008b-4cea-ba67-17a2bc78ee2c" providerId="ADAL" clId="{8D3975AD-C898-4F01-9257-142D101D4D39}" dt="2026-06-27T11:30:01.119" v="43" actId="478"/>
          <ac:picMkLst>
            <pc:docMk/>
            <pc:sldMk cId="3816352395" sldId="1216"/>
            <ac:picMk id="8" creationId="{75F9D83C-87AA-BEBE-FFA8-040EE728B65B}"/>
          </ac:picMkLst>
        </pc:picChg>
      </pc:sldChg>
      <pc:sldChg chg="modSp mod">
        <pc:chgData name="Domenico Raffaele Acierno" userId="85bb9d4f-008b-4cea-ba67-17a2bc78ee2c" providerId="ADAL" clId="{8D3975AD-C898-4F01-9257-142D101D4D39}" dt="2026-06-27T12:06:25.485" v="166" actId="1076"/>
        <pc:sldMkLst>
          <pc:docMk/>
          <pc:sldMk cId="62810097" sldId="1217"/>
        </pc:sldMkLst>
        <pc:spChg chg="mod">
          <ac:chgData name="Domenico Raffaele Acierno" userId="85bb9d4f-008b-4cea-ba67-17a2bc78ee2c" providerId="ADAL" clId="{8D3975AD-C898-4F01-9257-142D101D4D39}" dt="2026-06-27T12:06:25.485" v="166" actId="1076"/>
          <ac:spMkLst>
            <pc:docMk/>
            <pc:sldMk cId="62810097" sldId="1217"/>
            <ac:spMk id="18" creationId="{08D5F49D-B0F9-232A-709B-2A40964DEBC3}"/>
          </ac:spMkLst>
        </pc:spChg>
      </pc:sldChg>
      <pc:sldChg chg="delSp modSp mod">
        <pc:chgData name="Domenico Raffaele Acierno" userId="85bb9d4f-008b-4cea-ba67-17a2bc78ee2c" providerId="ADAL" clId="{8D3975AD-C898-4F01-9257-142D101D4D39}" dt="2026-06-27T11:34:06.253" v="147" actId="1076"/>
        <pc:sldMkLst>
          <pc:docMk/>
          <pc:sldMk cId="901652177" sldId="1219"/>
        </pc:sldMkLst>
        <pc:spChg chg="mod">
          <ac:chgData name="Domenico Raffaele Acierno" userId="85bb9d4f-008b-4cea-ba67-17a2bc78ee2c" providerId="ADAL" clId="{8D3975AD-C898-4F01-9257-142D101D4D39}" dt="2026-06-27T11:34:06.253" v="147" actId="1076"/>
          <ac:spMkLst>
            <pc:docMk/>
            <pc:sldMk cId="901652177" sldId="1219"/>
            <ac:spMk id="4" creationId="{25679323-5863-B22E-7947-85090D67E93F}"/>
          </ac:spMkLst>
        </pc:spChg>
        <pc:spChg chg="del mod">
          <ac:chgData name="Domenico Raffaele Acierno" userId="85bb9d4f-008b-4cea-ba67-17a2bc78ee2c" providerId="ADAL" clId="{8D3975AD-C898-4F01-9257-142D101D4D39}" dt="2026-06-27T11:32:45.125" v="67"/>
          <ac:spMkLst>
            <pc:docMk/>
            <pc:sldMk cId="901652177" sldId="1219"/>
            <ac:spMk id="6" creationId="{34224D13-CBA9-8B2B-E5B9-48BE5A64FDFE}"/>
          </ac:spMkLst>
        </pc:spChg>
      </pc:sldChg>
      <pc:sldChg chg="modSp mod">
        <pc:chgData name="Domenico Raffaele Acierno" userId="85bb9d4f-008b-4cea-ba67-17a2bc78ee2c" providerId="ADAL" clId="{8D3975AD-C898-4F01-9257-142D101D4D39}" dt="2026-06-27T11:33:29.373" v="71" actId="27636"/>
        <pc:sldMkLst>
          <pc:docMk/>
          <pc:sldMk cId="3014755046" sldId="1220"/>
        </pc:sldMkLst>
        <pc:spChg chg="mod">
          <ac:chgData name="Domenico Raffaele Acierno" userId="85bb9d4f-008b-4cea-ba67-17a2bc78ee2c" providerId="ADAL" clId="{8D3975AD-C898-4F01-9257-142D101D4D39}" dt="2026-06-27T11:33:29.373" v="71" actId="27636"/>
          <ac:spMkLst>
            <pc:docMk/>
            <pc:sldMk cId="3014755046" sldId="1220"/>
            <ac:spMk id="6" creationId="{1B7AFC74-B681-C3C1-72AB-B4881AA70DA9}"/>
          </ac:spMkLst>
        </pc:spChg>
      </pc:sldChg>
      <pc:sldChg chg="ord">
        <pc:chgData name="Domenico Raffaele Acierno" userId="85bb9d4f-008b-4cea-ba67-17a2bc78ee2c" providerId="ADAL" clId="{8D3975AD-C898-4F01-9257-142D101D4D39}" dt="2026-06-27T12:36:46.943" v="168"/>
        <pc:sldMkLst>
          <pc:docMk/>
          <pc:sldMk cId="123037907" sldId="1248"/>
        </pc:sldMkLst>
      </pc:sldChg>
      <pc:sldChg chg="addSp delSp modSp mod">
        <pc:chgData name="Domenico Raffaele Acierno" userId="85bb9d4f-008b-4cea-ba67-17a2bc78ee2c" providerId="ADAL" clId="{8D3975AD-C898-4F01-9257-142D101D4D39}" dt="2026-06-27T11:31:39.038" v="62" actId="1076"/>
        <pc:sldMkLst>
          <pc:docMk/>
          <pc:sldMk cId="3082757122" sldId="1250"/>
        </pc:sldMkLst>
        <pc:picChg chg="add del mod">
          <ac:chgData name="Domenico Raffaele Acierno" userId="85bb9d4f-008b-4cea-ba67-17a2bc78ee2c" providerId="ADAL" clId="{8D3975AD-C898-4F01-9257-142D101D4D39}" dt="2026-06-27T11:31:00.318" v="49" actId="478"/>
          <ac:picMkLst>
            <pc:docMk/>
            <pc:sldMk cId="3082757122" sldId="1250"/>
            <ac:picMk id="6" creationId="{22E9BCFC-416A-0031-1219-1E52F5FC0754}"/>
          </ac:picMkLst>
        </pc:picChg>
        <pc:picChg chg="add del mod">
          <ac:chgData name="Domenico Raffaele Acierno" userId="85bb9d4f-008b-4cea-ba67-17a2bc78ee2c" providerId="ADAL" clId="{8D3975AD-C898-4F01-9257-142D101D4D39}" dt="2026-06-27T11:25:31.034" v="41" actId="22"/>
          <ac:picMkLst>
            <pc:docMk/>
            <pc:sldMk cId="3082757122" sldId="1250"/>
            <ac:picMk id="7" creationId="{FB02CDB2-DD63-9E18-FCB6-418231E56C30}"/>
          </ac:picMkLst>
        </pc:picChg>
        <pc:picChg chg="del">
          <ac:chgData name="Domenico Raffaele Acierno" userId="85bb9d4f-008b-4cea-ba67-17a2bc78ee2c" providerId="ADAL" clId="{8D3975AD-C898-4F01-9257-142D101D4D39}" dt="2026-06-27T11:30:59.524" v="48" actId="478"/>
          <ac:picMkLst>
            <pc:docMk/>
            <pc:sldMk cId="3082757122" sldId="1250"/>
            <ac:picMk id="8" creationId="{A33F8BEF-5EF3-8571-F914-A358A15686C5}"/>
          </ac:picMkLst>
        </pc:picChg>
        <pc:picChg chg="add mod modCrop">
          <ac:chgData name="Domenico Raffaele Acierno" userId="85bb9d4f-008b-4cea-ba67-17a2bc78ee2c" providerId="ADAL" clId="{8D3975AD-C898-4F01-9257-142D101D4D39}" dt="2026-06-27T11:31:23.619" v="59" actId="1076"/>
          <ac:picMkLst>
            <pc:docMk/>
            <pc:sldMk cId="3082757122" sldId="1250"/>
            <ac:picMk id="13" creationId="{484095D0-E6E8-39E5-BAB1-8F2D51D293A0}"/>
          </ac:picMkLst>
        </pc:picChg>
        <pc:picChg chg="add mod">
          <ac:chgData name="Domenico Raffaele Acierno" userId="85bb9d4f-008b-4cea-ba67-17a2bc78ee2c" providerId="ADAL" clId="{8D3975AD-C898-4F01-9257-142D101D4D39}" dt="2026-06-27T11:31:39.038" v="62" actId="1076"/>
          <ac:picMkLst>
            <pc:docMk/>
            <pc:sldMk cId="3082757122" sldId="1250"/>
            <ac:picMk id="16" creationId="{9EE18974-A711-DDCE-6722-9F295754229A}"/>
          </ac:picMkLst>
        </pc:picChg>
      </pc:sldChg>
      <pc:sldChg chg="modSp mod">
        <pc:chgData name="Domenico Raffaele Acierno" userId="85bb9d4f-008b-4cea-ba67-17a2bc78ee2c" providerId="ADAL" clId="{8D3975AD-C898-4F01-9257-142D101D4D39}" dt="2026-06-27T11:39:01.247" v="153" actId="20577"/>
        <pc:sldMkLst>
          <pc:docMk/>
          <pc:sldMk cId="3662463244" sldId="1260"/>
        </pc:sldMkLst>
        <pc:spChg chg="mod">
          <ac:chgData name="Domenico Raffaele Acierno" userId="85bb9d4f-008b-4cea-ba67-17a2bc78ee2c" providerId="ADAL" clId="{8D3975AD-C898-4F01-9257-142D101D4D39}" dt="2026-06-27T11:39:01.247" v="153" actId="20577"/>
          <ac:spMkLst>
            <pc:docMk/>
            <pc:sldMk cId="3662463244" sldId="1260"/>
            <ac:spMk id="37" creationId="{8CD83027-1047-3C9C-1248-F3D4F3CD1F99}"/>
          </ac:spMkLst>
        </pc:spChg>
      </pc:sldChg>
      <pc:sldChg chg="modSp mod">
        <pc:chgData name="Domenico Raffaele Acierno" userId="85bb9d4f-008b-4cea-ba67-17a2bc78ee2c" providerId="ADAL" clId="{8D3975AD-C898-4F01-9257-142D101D4D39}" dt="2026-06-27T11:33:29.517" v="73" actId="27636"/>
        <pc:sldMkLst>
          <pc:docMk/>
          <pc:sldMk cId="717275906" sldId="1268"/>
        </pc:sldMkLst>
        <pc:spChg chg="mod">
          <ac:chgData name="Domenico Raffaele Acierno" userId="85bb9d4f-008b-4cea-ba67-17a2bc78ee2c" providerId="ADAL" clId="{8D3975AD-C898-4F01-9257-142D101D4D39}" dt="2026-06-27T11:33:29.517" v="73" actId="27636"/>
          <ac:spMkLst>
            <pc:docMk/>
            <pc:sldMk cId="717275906" sldId="1268"/>
            <ac:spMk id="7" creationId="{CC877F91-1BCB-E544-FD44-FBEC075BD96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2F874-A982-4EC3-BD4B-BD59E32C66C1}" type="datetimeFigureOut">
              <a:rPr lang="it-IT" smtClean="0"/>
              <a:t>27/06/2026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62F2E-6FDF-4A6B-AB76-08EC33B125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7886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4892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175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6EE3C-977F-1945-D311-027DB1FB9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83AD85E-8317-81D6-4BEC-34AAB237E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A7B9603-D81B-FD37-9C46-F1AFD4AE8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BF2B293-F203-FCFF-6295-570A4C99C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5517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7756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0FDF3-BFAE-BFE9-0D49-F2506B6AB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B366E92-8516-1909-2493-C4195B8C3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03909FB-FE82-AC6C-82E4-479546AE1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282A370-E725-A9DD-A358-31E57E3D8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4848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2736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63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70976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8FC2D-A115-66A5-CE7C-1A1DAC622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180D40D-778B-4A96-5E43-7C70B334E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9A5DDD6-6DBC-669B-5BD1-C4F1250B9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B5671B6-6FAD-012F-A8B3-602B2FDDCA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64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22660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5494D-A1E8-E488-3879-E8448583A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2A2BDEC-7009-CD70-AF19-A8E67ECB7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5614DEE-D6C0-6796-78D7-2121496205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F1BFB9E-9F5E-CE48-1C2E-1909ED0BE6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65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5593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1CA1C-BB58-AD0C-0722-86859C12D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FD409C9-0E98-5445-D16E-53E7AD385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CAE8042-00BA-6B7F-C430-DB9335395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C12CE4B-590F-493E-A040-C088760A9A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66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17642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837DC-FF9C-5D52-4722-68E3BFCCD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DE2ED3C-C18B-573B-BFF8-2E27AC989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1D42DED-4B74-BF17-1FE8-698204A63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8B7A65A-69B7-CCB8-CF10-6A2A6501C1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67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0455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FC057-0401-2C70-2761-C8783BDFE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6A4A354-65F6-BAF0-FE6F-2CCC08ABE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4A3FE07-19D1-10C8-0C1D-4B671C5A2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50CFBB2-2816-FE3A-4739-CDA7D437E7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68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793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3C9EC-6A34-DA54-21DC-AD4CB1973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B5543B6-AF01-2B96-1C08-D846EBE89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0D0A404-BDB3-A476-2727-471F16EF9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BBA3847-D3CE-A00E-3F6B-3CE1BA298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69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49928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54292-327A-7904-EAAB-E0B688BBA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5F2D98F-5C5D-867B-3D60-67C47E5B3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72090AD-F3BD-59E1-0CE0-463FBDE01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DAA1006-5915-5362-31A1-85D8AED27D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70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90470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FDA48-204A-94FC-E315-7D2F410C4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C2349DB-E338-FC76-CB5D-6C0488869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ADA5BA7-76DD-CFCB-8DE5-4D1BCD13F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974640D-B192-28FA-339C-B874340982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71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45734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D06FE-E003-F602-D4A7-1B6E2FA63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C3B97B4-5BCA-4619-5A62-2FD25392F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8312D11-918A-1E8A-B932-7BF3A53A2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380AFED-F4ED-CD29-4020-54CB8CF392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72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66483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518F6-6F04-AFBD-933B-19A1180D9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2F94B17-25F5-E092-04CA-2F9A63114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A157EA0-5E2E-0635-192F-524D9B360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DE77749-AF15-1FB6-35A3-CC0C2BEDE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73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51834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8ED37-848E-7E53-35B7-8D30EB216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B7B8ED6-A6BC-48E5-DA69-001AD88CE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93AEC94-E457-66C4-EE08-F07A0E8E7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E0F4373-D2F2-505D-4F2D-621E49191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74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97537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C0D79-1476-57C1-13B5-8832FB8B9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7E1273A-FACC-A90C-734F-3F3E1B7F0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1A478ED-D15E-9218-3657-A6FC9F129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4D8C393-5F21-BCBF-3B94-60A38B42C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75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13294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4BD5F-5358-CB06-37B8-4E291B35C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BBE076B-07BC-6150-36DF-F69D1AB5C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AC68516-A889-A147-2ABA-99569C609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AD9F644-CCB9-C686-DEF6-C496B94EDF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76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07766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08C08-D8DD-BBFE-C1D2-446BF70B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C0E6C48-CD0D-C489-AC1D-AEEE8477C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D8E13B0-0FC8-10A8-A75F-4F3870406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1CCAF0C-C167-187D-5817-3A3EB76AC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77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60577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97025-6667-2D8D-C9FE-9FCF676BA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33DC379-E7AF-E98D-7532-347B6195B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6F8E493-1B3E-6D9A-7FCF-CC53243B4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CCDFD2C-A14C-2995-379C-A51AA0315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78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65331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5E59D-AD86-1CB6-5CCD-3431065CA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69072F0-DEE8-E8A1-467D-4A2A09FAC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88F6249-6C92-4962-0FB3-5E5887A58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71403E4-6C8E-C032-5E77-6FF021948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79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56915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BB952-B974-206F-FE26-114F9464B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BDCEF47-EF70-11DA-4AA3-D92E7409DB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7382A69-5365-44FE-F51A-2C6CE935D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E16EEB-A93D-A8DF-BE13-1B6FC79F8A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80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54184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27F04-A5B2-D421-DE41-F2AF52F4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986FA6C-DB67-FA13-F482-FE737F4DAF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4D9EFAE-3FF6-6825-839C-BC091CED5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F56A2F3-4777-1A83-9AAB-0EEE86754A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81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56975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97E21-1BD4-D85D-9115-3E7BD6BF5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B4DE1BF-C4BF-9309-7857-3C8381EE2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1BAF065-563F-33F8-583C-789FADCD9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5C69810-DB1F-81F3-491F-CF545AB7F7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82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26996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279BE-0026-19C7-265C-EEDB415ED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C5E6F32-FE5A-3766-341E-8773DAFAC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BB02F8F-0D0D-2285-8284-B3FDC5BD0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77A33A6-D43F-22FD-470A-E842127C5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83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51927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82523-65CA-FD3E-30AE-A4FF8E70B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FD38CB8-9F7F-F9BF-94E7-DC23D60B99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87764EC-3DCC-7B53-2402-F01E796BA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EC7886D-389E-C724-BCDE-8186A01D51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84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06300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34733-7CD8-5229-5DBA-F97442DC4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0078290-412B-F11F-51B7-261337516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4E6880C-2E37-33DE-424E-5F53522D3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2923993-AB4A-82E7-021D-37A8EAF420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86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05924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7B42E-A928-9E7D-16A4-FC4F68A07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756DFB6-14B2-341D-2141-F4ADEDBF6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E4C8E6F-F129-5822-83FF-479F4E63D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E31FA92-5E5E-1354-3B9A-7131F6CF2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87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96175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9EBED-B3E2-3FC4-981C-576439E84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DA2A531-6A6C-1847-3CBB-E3F8337D6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13184CE-7EE0-D4A6-8630-A31046666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1BD3E4F-E9A4-8D0F-7E75-7C6408748F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100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36561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61DD-7174-D2BD-7EA4-BF40D0F06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47F7853-FEF5-909B-4F86-53A895079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383774D-2270-F389-6B1C-13890E146B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BB1490D-4A62-CF4F-1B70-002CC4060B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101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6967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D1CB4-5958-1A88-DF41-F77A1287C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CA5B7A4-D6D8-81C2-9F92-B2DC99E4E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52F1A92-A8DF-D867-5CD2-871F06A9F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851AAD6-CE10-E8B2-117F-07F6AE947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102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82441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0190A-FC99-BBC2-2AB4-29B1FE802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9230710-4AC3-E380-DEFC-8C3FEF0B4B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4DA5474-AFF6-AFD1-D0B8-AEE9DB68F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5AEDDAE-C253-F3D6-4892-B3AB6BA30B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103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16214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7CA3C-CE4A-6C8B-4261-FC3AE85F8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29AF8F8-C620-622E-A044-3A1270E74E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C979064-E945-F3E9-DCCB-3D49D9333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8CA23B3-1126-9330-5F8A-7BEC524DD2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104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2801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01E59-B12D-6EF0-5912-1576D030A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842E97F-72F7-5395-657B-30C85687C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7427D36-97A8-6E21-63FB-7FA81F122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2081792-27C1-3329-7A98-252A83AAA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105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50347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8E1F4-6D64-FE1F-6D37-088ED7E13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46EDD61-E629-FE63-7378-A08308FA1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A0502A5-D001-2095-B966-EED8A3208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5C6CCCA-8314-9C1D-49A6-7AE8B6AEB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106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64702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F2D91-A33C-E6E5-D335-BB70A115F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DB720E1-84D1-F4AB-E8AA-19B1CC7E1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54C1CF7-5811-BC09-B798-1919E6520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732383D-17B5-E594-C004-937074C454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107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58571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A9763-F26F-A4E2-21A9-BAED0C4AB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DA1C4DD-7993-F6C5-B314-EDFB8D986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990D3FD-35C9-7043-7A36-DA691C8B0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ADA14E8-493E-9641-1001-BE5506A383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108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159462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54E2E-29ED-74B6-F9A1-47A2B8060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4D1BC3D-236D-9AFE-9819-01597B0F5B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9D69EBB-7A7E-1693-EF24-C1E4DE7B0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114F022-95B5-AAD8-272B-23D354C9A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109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35512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65342-E8A1-0E04-08F4-76619A590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612B090-E345-D055-B63E-05DFBA937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475A553-F7C2-1286-39D6-3B8E0C600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FF968CC-25E5-E575-DB38-D4750705F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376478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88854-4FC7-82B8-70C0-E5A07F80D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1C4D570-FCDD-1FC5-895B-3C0245329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95A2308-0487-4B2C-56D2-419182542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3AEDBE2-8B35-68D0-AD39-5BDE5B0C1B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783700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9ECC0-8E9D-256C-DA3F-4238E9FAB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8BB4755-5201-C163-C5A8-E95BCA227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C8250F3-14F6-CAF4-6326-E5DFBF0EA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1516566-F5DA-F0F8-7B20-D14A9B929D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298576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0D007-2B7D-B42F-F8B9-F33BF3D86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5ECDB02-D746-FB66-AD01-846B5485D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4982548-AF7C-164E-9C6F-65DCD5AC1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E54E4AD-4AF6-94F0-BC02-F403F17E4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84922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63F3E-998A-79E6-75B1-FC25E36B0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AC60B27-A9B5-6EFA-2E4B-DC2DD435B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62B71D0-5799-DE72-D7EB-E4CA2A8D9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7E79BD1-7F54-6809-8B0B-17C0F0618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227821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2E958-238A-2634-C8C8-54F313019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9731D4F-5C7A-025E-3033-DCFAC67AB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6F6D931-F458-2C20-DDC3-3356701AA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547E311-FCCA-495B-B148-2B2A47061F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640306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FBFF5-66AE-DF78-7122-739B56835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41B9338-3724-B202-3178-870980DB0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9831E5B-FFC8-AD88-DA90-D5942E641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982E87F-D034-CAC8-1384-2713B51E37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949250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6D769-0FC3-834D-0749-19F64474D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93D5598-119E-230E-0BDC-AB44698EEB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59E1512-D55C-2086-E4B8-781C0C364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C266687-443E-2E31-4B22-CCB898E28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711186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7FD74-DB3F-927D-F781-D1CFF80D7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28FBAB5-8929-9D47-6D45-41CF9D38A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B3E2960-BF37-AC9C-2D5E-7AE94B621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1E760C-08EA-AC7F-7043-084C5BB38A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511905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8B6D6-D6B4-CE27-61A4-C91E29362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AB96D22-6AF1-9E74-6F12-384748A23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273C6B8-DBD7-2A29-5FA8-0ECC98651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7C86CE2-8F7E-D44A-36E0-EC8F4EDAE7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639245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96789-B74E-DC9E-E8C0-8BABA7081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A1144B3-BF12-0070-A08E-1DC0D6F33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36CADF0-792A-627A-1CC4-7E9C28750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97D600C-8DFE-EAE4-CB68-59E5BE2B9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480691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436F5-94E8-FFC2-3591-6C6922DC8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F07B2B1-36A2-324A-F037-A0762FD02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0994AF3-E3BD-6294-DCBC-8C09671BB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EA63C01-2CE2-3DBA-EAF3-385C2C94B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346499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58676-56CA-D7BE-003D-C6DF97A2D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EBE6BBD-6BDC-F8A6-39DC-49943D033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16BC691-EB82-4915-4D87-9D5910E5E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73209BB-DF47-7F11-D1DC-2BA321753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642576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8433C-4A95-3A2A-DEDB-16005A68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3123CAB-7352-767A-EABE-91B3AEEC2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4A380AC-D3D1-C2B4-D317-3C0DF9527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E5A4DE8-9CDB-F108-19D8-CCB2A6747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915953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655DB-21CA-3653-5861-6FCDA58F4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44322F0-7058-BD41-7CF1-5D9CAC58C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B3E976D-AFD6-86E0-8AE9-D09D27989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BF47393-4BC7-BBBA-1423-8AAF50923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713268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F1D64-5044-6D5B-B880-13BD643C8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808DBD2-C6FD-C59B-0711-4AC8A76F7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D14EDBD-193A-9AD6-7EE1-BAB55CFAD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2455E68-753E-883A-5896-32EFF4073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653468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19BF7-90C7-5FB6-FDC9-90D75C067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F9EE329-BCD8-B9D7-2FF6-0822E8F05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A7EE681-9110-EC06-7DAF-96F164711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A85BE3C-DB4B-40A5-392E-C59B44734C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858596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9A2D9-99D4-83DE-B115-9ACE19EB4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60002E2-11EC-0CF3-9CE3-63048CAEB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D62A6D3-CC4A-4FF4-776B-445EA7E88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8DC602F-C6B3-F5D0-188C-83EFB7460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216548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25AFB-D550-459D-D353-8F2C9FFF3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DDF6D78-7F50-6992-6D8F-7B82012D3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5651E81-65B0-3147-71E6-9BC972D82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D082D37-DAD2-A8E3-C0F5-71B1C52B1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413110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16AA5-3E00-2442-9EAB-23FA94D22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C8B0EF4-901F-09A3-3D55-37403FF56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1B5B681-0B84-500E-4687-B0CE6DFA3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9DD86D1-06BD-7807-E6B1-96BECF0FA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838266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6BE8A-C843-39DA-BB11-8D7E6F8DC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7588872-5F78-BA43-52A0-9F16CD5E1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73C453B-4269-3E2D-F8E6-CF0161CDAF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F60CA3D-CF99-D59D-EF3C-60A11DEC7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335102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61FB9-68C0-F772-7E88-CFF8336C4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22F2C33-3CA8-C469-640A-AC7EF9B97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E5C4109-4A6C-8E15-F1B6-38A3E35FA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425619C-11DB-4039-BD71-69758C1E4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144321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DB509-AF28-E345-5655-42242D13D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A7B5228-CF22-4242-031D-D876BC664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31E6377-3908-5C8B-47C1-9512F65EB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A45C8DC-90FD-3A09-1105-E5CDDDC013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39378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B6075-1363-2927-9F90-53E122A0E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B2D21AA-3256-9CC5-E0F9-75B9084BC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F0A349D-994C-85DC-0CA8-56C2991FF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62AF781-A589-C78A-573F-2EF4B94C8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739521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4237C-BCBA-47E1-3B89-95CF16F90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7BC46D0-6392-4666-A07B-8C2CCBFD8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CBAE97D-05E0-6DD4-5780-1A99ECAC6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82BD5A-CD95-C72E-32DF-4DDB73D4D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317664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BDC0E-A456-ED9B-F550-797C3EED7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5B4AA77-04BA-CA17-2104-41E8EFD1F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6E9CA1A-4778-C891-9FE5-0EA218BFF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3800E5C-7301-BF35-84F5-249F4D30C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221186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42A36-E2F8-CA54-BF6A-C4BBA7F0C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483F02B-89E5-CA2E-F730-0A17DC5B9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FFB766A-E06B-FBBB-5DEF-4ECD5FF03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B68C242-2EE6-3215-A30F-BBF3604CE2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137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67842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878D6-E848-570C-1269-62C9C2202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561AA06-1E87-E459-5833-1399363AC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A77F990-0A65-EDEA-61DA-1A1CCAFEE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15AD453-B136-B047-2B3A-29913D755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025392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CA40A-3BE7-FAB8-4AD2-50C306A0C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4C8B2C4-B730-CB88-69E7-E67A98F4CD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8AEDE44-C570-9A22-679B-C7597855E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D78EAD7-6745-DA2D-B59E-FDE77E5B7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139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307394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CFE6B-4722-F46C-0F47-BBB78D5B8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1AB21B2-C8C9-EDB5-53FD-906F48139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F50954A-30E4-77B7-E1D6-5AFA410ED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2B92065-3BEF-412F-B222-1C5727F9C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140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990522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A778A-1CD4-827C-C644-F70567A18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DC66D9A-D69E-8579-171C-6392D432A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5506376-412B-BBF6-933E-755960E86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02D84A2-7EC1-E3C7-604C-8B29BE002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141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007471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D307C-2BA5-7CDB-BF24-23FFB8C10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7403D04-0681-51EA-B4FF-B153396E21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DC243CB-8B7D-2D35-928E-E14347605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CD128C4-8FE6-28E7-6E97-979D3B975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142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271716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FC9CB-9677-DFF5-35CD-634314F20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10FE971-AA87-E8D7-E334-404DA8F725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C6AB7AE-2460-D9AD-348B-674F11448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EA19A1D-6ADF-BDC0-5238-4687963499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143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633743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3BA71-0288-3F20-27B5-DF056237B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C6A8555-1583-8767-EA38-3D1257CF5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2402678-B4CC-7CE7-EB87-238207ED8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2CC328E-ACD3-9465-7358-7AD9275FD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144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69101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9F5EF-7850-4951-202B-8333C8A90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1944BAA-3D67-C906-9DA4-68DA7ABCE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C5CED10-13F5-1809-F3D3-33D9050D4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CFEA689-5887-8696-9499-F14F954E93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145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236228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147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8803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_A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0933319C-8AC5-4764-9981-AEA331D30C57}"/>
              </a:ext>
            </a:extLst>
          </p:cNvPr>
          <p:cNvSpPr/>
          <p:nvPr userDrawn="1"/>
        </p:nvSpPr>
        <p:spPr>
          <a:xfrm>
            <a:off x="0" y="0"/>
            <a:ext cx="285591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847A823-6861-4ED7-916A-EB4BF5CE6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08073"/>
            <a:ext cx="2163688" cy="840083"/>
          </a:xfrm>
        </p:spPr>
        <p:txBody>
          <a:bodyPr/>
          <a:lstStyle>
            <a:lvl1pPr>
              <a:defRPr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86D3BA3-83F0-4C02-8636-ACA6EA9D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92C02-5049-45F6-990D-D048C5503331}" type="datetime1">
              <a:rPr lang="it-IT" smtClean="0"/>
              <a:t>27/06/2026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CB1FEA7-7590-4AD0-A0B1-48092069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MA2 - Introduzione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5199BD-4F67-4AA1-A795-95C0BF54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67325048-9832-400A-BAC7-02B5977E3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163762" cy="442912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1C0D3E2E-2AFC-47C5-ADBC-3E40FCEC1C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16275" y="2060575"/>
            <a:ext cx="8640763" cy="4429125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 b="1"/>
            </a:lvl1pPr>
            <a:lvl2pPr marL="800100" indent="-342900"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defRPr sz="1400" b="0"/>
            </a:lvl2pPr>
            <a:lvl3pPr marL="1257300" indent="-342900">
              <a:buFont typeface="+mj-lt"/>
              <a:buAutoNum type="arabicPeriod"/>
              <a:defRPr sz="14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it-IT"/>
              <a:t>Titolo sezione</a:t>
            </a:r>
          </a:p>
          <a:p>
            <a:pPr lvl="1"/>
            <a:r>
              <a:rPr lang="it-IT"/>
              <a:t>Titolo sezione</a:t>
            </a:r>
          </a:p>
          <a:p>
            <a:pPr lvl="0"/>
            <a:r>
              <a:rPr lang="it-IT"/>
              <a:t>Titolo sezione</a:t>
            </a:r>
          </a:p>
          <a:p>
            <a:pPr lvl="1"/>
            <a:r>
              <a:rPr lang="it-IT"/>
              <a:t>Titolo sezione</a:t>
            </a:r>
          </a:p>
          <a:p>
            <a:pPr lvl="0"/>
            <a:r>
              <a:rPr lang="it-IT"/>
              <a:t>Titolo sezione</a:t>
            </a:r>
          </a:p>
          <a:p>
            <a:pPr lvl="1"/>
            <a:r>
              <a:rPr lang="it-IT"/>
              <a:t>Titolo sezione</a:t>
            </a:r>
          </a:p>
          <a:p>
            <a:pPr lvl="0"/>
            <a:r>
              <a:rPr lang="it-IT"/>
              <a:t>Titolo sezione</a:t>
            </a:r>
          </a:p>
          <a:p>
            <a:pPr lvl="1"/>
            <a:r>
              <a:rPr lang="it-IT"/>
              <a:t>Titolo sezione</a:t>
            </a:r>
          </a:p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0479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_B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812652"/>
            <a:ext cx="11522075" cy="84008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/>
              <a:t>Indice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77977-51FF-41AA-81B6-7EEC85327F95}" type="datetime1">
              <a:rPr lang="it-IT" smtClean="0"/>
              <a:t>27/06/2026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MA2 - Introduzione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‹N›</a:t>
            </a:fld>
            <a:endParaRPr lang="it-IT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D1CFA815-ACBE-4524-9331-D296F8E0F9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054988"/>
            <a:ext cx="1890652" cy="332803"/>
          </a:xfrm>
        </p:spPr>
        <p:txBody>
          <a:bodyPr>
            <a:normAutofit/>
          </a:bodyPr>
          <a:lstStyle>
            <a:lvl1pPr>
              <a:defRPr sz="12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 sezione</a:t>
            </a:r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75158ADB-01E3-4A38-A321-CD450AEEEF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8652" y="3054988"/>
            <a:ext cx="1890653" cy="332803"/>
          </a:xfrm>
        </p:spPr>
        <p:txBody>
          <a:bodyPr>
            <a:normAutofit/>
          </a:bodyPr>
          <a:lstStyle>
            <a:lvl1pPr>
              <a:defRPr sz="12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 sezione</a:t>
            </a:r>
          </a:p>
        </p:txBody>
      </p:sp>
      <p:sp>
        <p:nvSpPr>
          <p:cNvPr id="10" name="Segnaposto testo 7">
            <a:extLst>
              <a:ext uri="{FF2B5EF4-FFF2-40B4-BE49-F238E27FC236}">
                <a16:creationId xmlns:a16="http://schemas.microsoft.com/office/drawing/2014/main" id="{C2B0DC0F-1C21-45C1-8F2A-00A6E13418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2342" y="3054988"/>
            <a:ext cx="1890653" cy="332803"/>
          </a:xfrm>
        </p:spPr>
        <p:txBody>
          <a:bodyPr>
            <a:normAutofit/>
          </a:bodyPr>
          <a:lstStyle>
            <a:lvl1pPr>
              <a:defRPr sz="12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 sezione</a:t>
            </a:r>
          </a:p>
        </p:txBody>
      </p:sp>
      <p:sp>
        <p:nvSpPr>
          <p:cNvPr id="11" name="Segnaposto testo 7">
            <a:extLst>
              <a:ext uri="{FF2B5EF4-FFF2-40B4-BE49-F238E27FC236}">
                <a16:creationId xmlns:a16="http://schemas.microsoft.com/office/drawing/2014/main" id="{76250419-1EAD-4278-97B7-1BA8F07525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6032" y="3054988"/>
            <a:ext cx="1890653" cy="332803"/>
          </a:xfrm>
        </p:spPr>
        <p:txBody>
          <a:bodyPr>
            <a:normAutofit/>
          </a:bodyPr>
          <a:lstStyle>
            <a:lvl1pPr>
              <a:defRPr sz="12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 sezione</a:t>
            </a:r>
          </a:p>
        </p:txBody>
      </p:sp>
      <p:sp>
        <p:nvSpPr>
          <p:cNvPr id="12" name="Segnaposto testo 7">
            <a:extLst>
              <a:ext uri="{FF2B5EF4-FFF2-40B4-BE49-F238E27FC236}">
                <a16:creationId xmlns:a16="http://schemas.microsoft.com/office/drawing/2014/main" id="{DCD9C49F-F44E-4E82-864B-742438DCAE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89722" y="3054988"/>
            <a:ext cx="1890653" cy="332803"/>
          </a:xfrm>
        </p:spPr>
        <p:txBody>
          <a:bodyPr>
            <a:normAutofit/>
          </a:bodyPr>
          <a:lstStyle>
            <a:lvl1pPr>
              <a:defRPr sz="12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 sezione</a:t>
            </a:r>
            <a:br>
              <a:rPr lang="it-IT"/>
            </a:br>
            <a:endParaRPr lang="it-IT"/>
          </a:p>
        </p:txBody>
      </p:sp>
      <p:sp>
        <p:nvSpPr>
          <p:cNvPr id="13" name="Segnaposto testo 7">
            <a:extLst>
              <a:ext uri="{FF2B5EF4-FFF2-40B4-BE49-F238E27FC236}">
                <a16:creationId xmlns:a16="http://schemas.microsoft.com/office/drawing/2014/main" id="{7F91CD7E-BBFD-483F-A271-EC1D28C8A8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3736780"/>
            <a:ext cx="1890652" cy="1876932"/>
          </a:xfrm>
        </p:spPr>
        <p:txBody>
          <a:bodyPr>
            <a:normAutofit/>
          </a:bodyPr>
          <a:lstStyle>
            <a:lvl1pPr>
              <a:defRPr sz="11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Titolo argomento</a:t>
            </a:r>
          </a:p>
          <a:p>
            <a:pPr lvl="0"/>
            <a:endParaRPr lang="it-IT"/>
          </a:p>
        </p:txBody>
      </p:sp>
      <p:sp>
        <p:nvSpPr>
          <p:cNvPr id="14" name="Segnaposto testo 7">
            <a:extLst>
              <a:ext uri="{FF2B5EF4-FFF2-40B4-BE49-F238E27FC236}">
                <a16:creationId xmlns:a16="http://schemas.microsoft.com/office/drawing/2014/main" id="{3D86C7EF-AEA6-4614-B487-FD62FE7D1B2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98652" y="3736780"/>
            <a:ext cx="1890653" cy="1876932"/>
          </a:xfrm>
        </p:spPr>
        <p:txBody>
          <a:bodyPr>
            <a:normAutofit/>
          </a:bodyPr>
          <a:lstStyle>
            <a:lvl1pPr>
              <a:defRPr sz="11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Titolo argomento</a:t>
            </a:r>
          </a:p>
          <a:p>
            <a:pPr lvl="0"/>
            <a:endParaRPr lang="it-IT"/>
          </a:p>
        </p:txBody>
      </p:sp>
      <p:sp>
        <p:nvSpPr>
          <p:cNvPr id="15" name="Segnaposto testo 7">
            <a:extLst>
              <a:ext uri="{FF2B5EF4-FFF2-40B4-BE49-F238E27FC236}">
                <a16:creationId xmlns:a16="http://schemas.microsoft.com/office/drawing/2014/main" id="{06482AA6-FB29-4523-AF8A-19196AC02EB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2342" y="3736780"/>
            <a:ext cx="1890653" cy="1876932"/>
          </a:xfrm>
        </p:spPr>
        <p:txBody>
          <a:bodyPr>
            <a:normAutofit/>
          </a:bodyPr>
          <a:lstStyle>
            <a:lvl1pPr>
              <a:defRPr sz="11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Titolo argomento</a:t>
            </a:r>
          </a:p>
          <a:p>
            <a:pPr lvl="0"/>
            <a:endParaRPr lang="it-IT"/>
          </a:p>
        </p:txBody>
      </p:sp>
      <p:sp>
        <p:nvSpPr>
          <p:cNvPr id="16" name="Segnaposto testo 7">
            <a:extLst>
              <a:ext uri="{FF2B5EF4-FFF2-40B4-BE49-F238E27FC236}">
                <a16:creationId xmlns:a16="http://schemas.microsoft.com/office/drawing/2014/main" id="{29425362-73BC-4CAC-B398-63AC560AFF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26032" y="3736780"/>
            <a:ext cx="1890653" cy="1876932"/>
          </a:xfrm>
        </p:spPr>
        <p:txBody>
          <a:bodyPr>
            <a:normAutofit/>
          </a:bodyPr>
          <a:lstStyle>
            <a:lvl1pPr>
              <a:defRPr sz="11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Titolo argomento</a:t>
            </a:r>
          </a:p>
          <a:p>
            <a:pPr lvl="0"/>
            <a:endParaRPr lang="it-IT"/>
          </a:p>
        </p:txBody>
      </p:sp>
      <p:sp>
        <p:nvSpPr>
          <p:cNvPr id="17" name="Segnaposto testo 7">
            <a:extLst>
              <a:ext uri="{FF2B5EF4-FFF2-40B4-BE49-F238E27FC236}">
                <a16:creationId xmlns:a16="http://schemas.microsoft.com/office/drawing/2014/main" id="{37A8CDF9-B79C-4BF7-B437-25EC350C08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89722" y="3736780"/>
            <a:ext cx="1890653" cy="1876932"/>
          </a:xfrm>
        </p:spPr>
        <p:txBody>
          <a:bodyPr>
            <a:normAutofit/>
          </a:bodyPr>
          <a:lstStyle>
            <a:lvl1pPr>
              <a:defRPr sz="11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Titolo argomento</a:t>
            </a:r>
          </a:p>
          <a:p>
            <a:pPr lvl="0"/>
            <a:endParaRPr lang="it-IT"/>
          </a:p>
        </p:txBody>
      </p:sp>
      <p:sp>
        <p:nvSpPr>
          <p:cNvPr id="18" name="Segnaposto testo 7">
            <a:extLst>
              <a:ext uri="{FF2B5EF4-FFF2-40B4-BE49-F238E27FC236}">
                <a16:creationId xmlns:a16="http://schemas.microsoft.com/office/drawing/2014/main" id="{50290743-6926-46ED-BE46-501A4F78CC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16200000">
            <a:off x="191706" y="2115912"/>
            <a:ext cx="776376" cy="665702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01</a:t>
            </a:r>
          </a:p>
        </p:txBody>
      </p:sp>
      <p:sp>
        <p:nvSpPr>
          <p:cNvPr id="19" name="Segnaposto testo 7">
            <a:extLst>
              <a:ext uri="{FF2B5EF4-FFF2-40B4-BE49-F238E27FC236}">
                <a16:creationId xmlns:a16="http://schemas.microsoft.com/office/drawing/2014/main" id="{9AA91E9E-F4C5-4318-8BFC-5E627DF7F5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rot="16200000">
            <a:off x="2324033" y="2115912"/>
            <a:ext cx="776376" cy="665702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02</a:t>
            </a:r>
          </a:p>
        </p:txBody>
      </p:sp>
      <p:sp>
        <p:nvSpPr>
          <p:cNvPr id="20" name="Segnaposto testo 7">
            <a:extLst>
              <a:ext uri="{FF2B5EF4-FFF2-40B4-BE49-F238E27FC236}">
                <a16:creationId xmlns:a16="http://schemas.microsoft.com/office/drawing/2014/main" id="{D6F57CB6-9F04-49B6-939C-D13BA7FB06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rot="16200000">
            <a:off x="4515027" y="2115912"/>
            <a:ext cx="776376" cy="665702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03</a:t>
            </a:r>
          </a:p>
        </p:txBody>
      </p:sp>
      <p:sp>
        <p:nvSpPr>
          <p:cNvPr id="21" name="Segnaposto testo 7">
            <a:extLst>
              <a:ext uri="{FF2B5EF4-FFF2-40B4-BE49-F238E27FC236}">
                <a16:creationId xmlns:a16="http://schemas.microsoft.com/office/drawing/2014/main" id="{6C01B50D-1661-4131-BCDF-441CC22144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6674762" y="2115912"/>
            <a:ext cx="776376" cy="665702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04</a:t>
            </a:r>
          </a:p>
        </p:txBody>
      </p:sp>
      <p:sp>
        <p:nvSpPr>
          <p:cNvPr id="22" name="Segnaposto testo 7">
            <a:extLst>
              <a:ext uri="{FF2B5EF4-FFF2-40B4-BE49-F238E27FC236}">
                <a16:creationId xmlns:a16="http://schemas.microsoft.com/office/drawing/2014/main" id="{2D503613-5D8F-4B95-8EB3-13963149108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>
            <a:off x="8846462" y="2115912"/>
            <a:ext cx="776376" cy="665702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19369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io_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1418313"/>
            <a:ext cx="8640763" cy="1299008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del divisorio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E134B4D-D1C6-403C-87F8-32776FD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526D3B-03D2-4B47-B87E-FB37B34FF9BC}" type="datetime1">
              <a:rPr lang="it-IT" smtClean="0"/>
              <a:t>27/06/2026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7C40DD1-2473-433A-86AF-A19E5D1C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MA2 - Introduzione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E4E6DD-3673-45F3-B980-656947B0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1418312"/>
            <a:ext cx="1284270" cy="128427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1418312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2717320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4D2183DA-6999-4DF4-AE0B-EDCD20466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65931" y="3961597"/>
            <a:ext cx="3091107" cy="2359025"/>
          </a:xfrm>
        </p:spPr>
        <p:txBody>
          <a:bodyPr anchor="b">
            <a:normAutofit/>
          </a:bodyPr>
          <a:lstStyle>
            <a:lvl1pPr algn="r">
              <a:defRPr sz="96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00</a:t>
            </a: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35E14663-8764-4DCE-B9CB-7C9A4CEA9BB5}"/>
              </a:ext>
            </a:extLst>
          </p:cNvPr>
          <p:cNvSpPr/>
          <p:nvPr userDrawn="1"/>
        </p:nvSpPr>
        <p:spPr>
          <a:xfrm rot="6083929">
            <a:off x="1311375" y="1414011"/>
            <a:ext cx="10887270" cy="10887979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853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io_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1418313"/>
            <a:ext cx="8640763" cy="1299008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del divisorio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E134B4D-D1C6-403C-87F8-32776FD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69D6BE-8CDB-4C57-B05F-A076FD63E693}" type="datetime1">
              <a:rPr lang="it-IT" smtClean="0"/>
              <a:t>27/06/2026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7C40DD1-2473-433A-86AF-A19E5D1C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MA2 - Introduzione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E4E6DD-3673-45F3-B980-656947B0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1418312"/>
            <a:ext cx="1284270" cy="128427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1418312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2717320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4D2183DA-6999-4DF4-AE0B-EDCD20466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985" y="3961597"/>
            <a:ext cx="2924053" cy="2359025"/>
          </a:xfrm>
        </p:spPr>
        <p:txBody>
          <a:bodyPr anchor="b">
            <a:normAutofit/>
          </a:bodyPr>
          <a:lstStyle>
            <a:lvl1pPr algn="r">
              <a:defRPr sz="96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22318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io_C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1418313"/>
            <a:ext cx="8640763" cy="1284268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Titolo del divisorio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E134B4D-D1C6-403C-87F8-32776FD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534A5DB-EB24-4D28-9A35-C408E42DFF20}" type="datetime1">
              <a:rPr lang="it-IT" smtClean="0"/>
              <a:t>27/06/2026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7C40DD1-2473-433A-86AF-A19E5D1C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it-IT"/>
              <a:t>MA2 - Introduzione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E4E6DD-3673-45F3-B980-656947B0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1418312"/>
            <a:ext cx="1284270" cy="1284270"/>
          </a:xfrm>
          <a:prstGeom prst="ellipse">
            <a:avLst/>
          </a:prstGeom>
          <a:noFill/>
          <a:ln w="9525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1418312"/>
            <a:ext cx="12192000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2717320"/>
            <a:ext cx="12192000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4D2183DA-6999-4DF4-AE0B-EDCD20466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20808" y="3961597"/>
            <a:ext cx="3636230" cy="2359025"/>
          </a:xfrm>
        </p:spPr>
        <p:txBody>
          <a:bodyPr anchor="b">
            <a:normAutofit/>
          </a:bodyPr>
          <a:lstStyle>
            <a:lvl1pPr algn="r">
              <a:defRPr sz="96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557231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finale_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4295077"/>
            <a:ext cx="8640763" cy="1299008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Chiusura / Ringraziamenti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4295076"/>
            <a:ext cx="1284270" cy="128427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4295076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5594084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e 9">
            <a:extLst>
              <a:ext uri="{FF2B5EF4-FFF2-40B4-BE49-F238E27FC236}">
                <a16:creationId xmlns:a16="http://schemas.microsoft.com/office/drawing/2014/main" id="{29206C3E-8262-4BAC-A209-F4327335E1F0}"/>
              </a:ext>
            </a:extLst>
          </p:cNvPr>
          <p:cNvSpPr/>
          <p:nvPr userDrawn="1"/>
        </p:nvSpPr>
        <p:spPr>
          <a:xfrm rot="11483929">
            <a:off x="1293786" y="-5274490"/>
            <a:ext cx="10887270" cy="10887979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E4786A85-B23B-420C-9463-CF262A126A21}"/>
              </a:ext>
            </a:extLst>
          </p:cNvPr>
          <p:cNvSpPr/>
          <p:nvPr userDrawn="1"/>
        </p:nvSpPr>
        <p:spPr>
          <a:xfrm rot="11483929">
            <a:off x="652366" y="5545716"/>
            <a:ext cx="10887270" cy="10887979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77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finale_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4295077"/>
            <a:ext cx="8640763" cy="1299008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Chiusura / Ringraziamenti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4295076"/>
            <a:ext cx="1284270" cy="128427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4295076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5594084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493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 test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08073"/>
            <a:ext cx="8640000" cy="840083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A83E8-C6AB-483D-8FFF-B4AB4CCBD4DC}" type="datetime1">
              <a:rPr lang="it-IT" smtClean="0"/>
              <a:t>27/06/2026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MA2 - Introduzione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8640000" cy="4429125"/>
          </a:xfrm>
        </p:spPr>
        <p:txBody>
          <a:bodyPr/>
          <a:lstStyle/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8769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 testo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11522075" cy="840083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D27CC-B957-4E8C-B36B-F37A671AA098}" type="datetime1">
              <a:rPr lang="it-IT" smtClean="0"/>
              <a:t>27/06/2026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MA2 - Introduzione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5330113" cy="4429125"/>
          </a:xfrm>
        </p:spPr>
        <p:txBody>
          <a:bodyPr/>
          <a:lstStyle/>
          <a:p>
            <a:pPr lvl="0"/>
            <a:endParaRPr lang="it-IT"/>
          </a:p>
        </p:txBody>
      </p:sp>
      <p:sp>
        <p:nvSpPr>
          <p:cNvPr id="10" name="Segnaposto testo 6">
            <a:extLst>
              <a:ext uri="{FF2B5EF4-FFF2-40B4-BE49-F238E27FC236}">
                <a16:creationId xmlns:a16="http://schemas.microsoft.com/office/drawing/2014/main" id="{A91EDD17-1F39-46F2-A6AE-0DA93D9DE7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26926" y="2060575"/>
            <a:ext cx="5330113" cy="4429125"/>
          </a:xfrm>
        </p:spPr>
        <p:txBody>
          <a:bodyPr/>
          <a:lstStyle/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809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 testo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11522075" cy="840083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5A492-E025-4817-9C06-58241F350F7C}" type="datetime1">
              <a:rPr lang="it-IT" smtClean="0"/>
              <a:t>27/06/2026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MA2 - Introduzione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6275" y="2060575"/>
            <a:ext cx="8640762" cy="4429125"/>
          </a:xfrm>
        </p:spPr>
        <p:txBody>
          <a:bodyPr/>
          <a:lstStyle/>
          <a:p>
            <a:pPr lvl="0"/>
            <a:endParaRPr lang="it-IT"/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E3A4E093-361F-4C37-B47B-B067A8415F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4" y="2060575"/>
            <a:ext cx="2601668" cy="4429125"/>
          </a:xfrm>
        </p:spPr>
        <p:txBody>
          <a:bodyPr/>
          <a:lstStyle>
            <a:lvl1pPr marL="342900" indent="-342900">
              <a:buAutoNum type="arabicPeriod"/>
              <a:defRPr b="1"/>
            </a:lvl1pPr>
          </a:lstStyle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endParaRPr lang="it-IT"/>
          </a:p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endParaRPr lang="it-IT"/>
          </a:p>
          <a:p>
            <a:pPr lvl="0"/>
            <a:r>
              <a:rPr lang="it-IT" err="1"/>
              <a:t>Lorem</a:t>
            </a:r>
            <a:r>
              <a:rPr lang="it-IT"/>
              <a:t> ipsum</a:t>
            </a:r>
          </a:p>
        </p:txBody>
      </p:sp>
    </p:spTree>
    <p:extLst>
      <p:ext uri="{BB962C8B-B14F-4D97-AF65-F5344CB8AC3E}">
        <p14:creationId xmlns:p14="http://schemas.microsoft.com/office/powerpoint/2010/main" val="470807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Ogget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11522075" cy="840083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5458E8-0508-42CF-A7E2-ABE84A714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2060576"/>
            <a:ext cx="11522075" cy="4146550"/>
          </a:xfrm>
          <a:noFill/>
        </p:spPr>
        <p:txBody>
          <a:bodyPr/>
          <a:lstStyle/>
          <a:p>
            <a:pPr lvl="0"/>
            <a:endParaRPr lang="it-IT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F319-3DE1-42E7-B8C5-A63566802E72}" type="datetime1">
              <a:rPr lang="it-IT" smtClean="0"/>
              <a:t>27/06/2026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MA2 - Introduzione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‹N›</a:t>
            </a:fld>
            <a:endParaRPr lang="it-IT"/>
          </a:p>
        </p:txBody>
      </p:sp>
      <p:sp>
        <p:nvSpPr>
          <p:cNvPr id="7" name="Segnaposto testo 11">
            <a:extLst>
              <a:ext uri="{FF2B5EF4-FFF2-40B4-BE49-F238E27FC236}">
                <a16:creationId xmlns:a16="http://schemas.microsoft.com/office/drawing/2014/main" id="{6924BD38-C241-45AE-9D16-9EE806C407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962" y="6207125"/>
            <a:ext cx="11522076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7021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colonna _ testo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0933319C-8AC5-4764-9981-AEA331D30C57}"/>
              </a:ext>
            </a:extLst>
          </p:cNvPr>
          <p:cNvSpPr/>
          <p:nvPr userDrawn="1"/>
        </p:nvSpPr>
        <p:spPr>
          <a:xfrm>
            <a:off x="0" y="0"/>
            <a:ext cx="285591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847A823-6861-4ED7-916A-EB4BF5CE6D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808073"/>
            <a:ext cx="2163688" cy="840083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Inserire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86D3BA3-83F0-4C02-8636-ACA6EA9D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it-IT" smtClean="0"/>
              <a:t>27/06/2026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CB1FEA7-7590-4AD0-A0B1-48092069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MA2 - Introduzione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5199BD-4F67-4AA1-A795-95C0BF54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67325048-9832-400A-BAC7-02B5977E3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163762" cy="442912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1C0D3E2E-2AFC-47C5-ADBC-3E40FCEC1C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16275" y="2060575"/>
            <a:ext cx="8640763" cy="442912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1598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colonna _ oggetto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0933319C-8AC5-4764-9981-AEA331D30C57}"/>
              </a:ext>
            </a:extLst>
          </p:cNvPr>
          <p:cNvSpPr/>
          <p:nvPr userDrawn="1"/>
        </p:nvSpPr>
        <p:spPr>
          <a:xfrm>
            <a:off x="0" y="0"/>
            <a:ext cx="285591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847A823-6861-4ED7-916A-EB4BF5CE6D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808073"/>
            <a:ext cx="2163688" cy="840083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Inserire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86D3BA3-83F0-4C02-8636-ACA6EA9D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97BE-F37D-46F0-93F3-AE7A3161FF00}" type="datetime1">
              <a:rPr lang="it-IT" smtClean="0"/>
              <a:t>27/06/2026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CB1FEA7-7590-4AD0-A0B1-48092069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MA2 - Introduzione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5199BD-4F67-4AA1-A795-95C0BF54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67325048-9832-400A-BAC7-02B5977E3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163762" cy="442912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/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9B8341C8-2CFC-44BF-90C6-72E69DB8889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16275" y="2060575"/>
            <a:ext cx="8640762" cy="3997325"/>
          </a:xfrm>
          <a:noFill/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B32F2C4-840A-465D-B8D3-9DE2BF3FC6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16275" y="6207125"/>
            <a:ext cx="5232400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3577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sfondo colore _ oggetto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11522075" cy="840083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5458E8-0508-42CF-A7E2-ABE84A714D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963" y="2060576"/>
            <a:ext cx="11522075" cy="4146550"/>
          </a:xfrm>
          <a:noFill/>
        </p:spPr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Inserire testo / oggetto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A268B-5F29-43D7-B590-3B90FE89F7E2}" type="datetime1">
              <a:rPr lang="it-IT" smtClean="0"/>
              <a:t>27/06/2026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MA2 - Introduzione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‹N›</a:t>
            </a:fld>
            <a:endParaRPr lang="it-IT"/>
          </a:p>
        </p:txBody>
      </p:sp>
      <p:sp>
        <p:nvSpPr>
          <p:cNvPr id="7" name="Segnaposto testo 11">
            <a:extLst>
              <a:ext uri="{FF2B5EF4-FFF2-40B4-BE49-F238E27FC236}">
                <a16:creationId xmlns:a16="http://schemas.microsoft.com/office/drawing/2014/main" id="{8E2D0317-6708-4FD8-83CC-23BC5CFD3B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962" y="6207125"/>
            <a:ext cx="5232400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6660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immagine _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858C886A-46B2-4CBC-A989-B9F302647C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20316" y="0"/>
            <a:ext cx="6471684" cy="6489700"/>
          </a:xfrm>
          <a:noFill/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5034479" cy="84008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58F39-2F12-49D7-9E3C-9A2C2C1FD0EF}" type="datetime1">
              <a:rPr lang="it-IT" smtClean="0"/>
              <a:t>27/06/2026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MA2 - Introduzione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‹N›</a:t>
            </a:fld>
            <a:endParaRPr lang="it-IT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3E84B02-C61F-4F06-B7D2-53B3863108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060575"/>
            <a:ext cx="5106987" cy="4429125"/>
          </a:xfrm>
        </p:spPr>
        <p:txBody>
          <a:bodyPr/>
          <a:lstStyle/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2292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immagine _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BF578AB8-DC96-4BF4-9F97-D7DA508CF3E9}"/>
              </a:ext>
            </a:extLst>
          </p:cNvPr>
          <p:cNvSpPr/>
          <p:nvPr userDrawn="1"/>
        </p:nvSpPr>
        <p:spPr>
          <a:xfrm>
            <a:off x="0" y="0"/>
            <a:ext cx="2855913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858C886A-46B2-4CBC-A989-B9F302647C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4962" y="812652"/>
            <a:ext cx="5423999" cy="5677048"/>
          </a:xfrm>
          <a:noFill/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812652"/>
            <a:ext cx="5761038" cy="84008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72F12-9C3B-4726-9FE8-C915500000DD}" type="datetime1">
              <a:rPr lang="it-IT" smtClean="0"/>
              <a:t>27/06/2026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MA2 - Introduzione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4BEA68D2-13D7-4E83-8B67-3B7D4B3EB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2060575"/>
            <a:ext cx="5761038" cy="442912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518515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didascalia 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6696458" cy="84008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CB964-B347-491C-9649-622CE6AA6D65}" type="datetime1">
              <a:rPr lang="it-IT" smtClean="0"/>
              <a:t>27/06/2026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MA2 - Introduzione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‹N›</a:t>
            </a:fld>
            <a:endParaRPr lang="it-IT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3E84B02-C61F-4F06-B7D2-53B3863108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060575"/>
            <a:ext cx="6696458" cy="442912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9" name="Segnaposto testo 11">
            <a:extLst>
              <a:ext uri="{FF2B5EF4-FFF2-40B4-BE49-F238E27FC236}">
                <a16:creationId xmlns:a16="http://schemas.microsoft.com/office/drawing/2014/main" id="{44C15745-FE91-4F85-912A-DE21BA99A8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31074" y="6207125"/>
            <a:ext cx="4525963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  <p:sp>
        <p:nvSpPr>
          <p:cNvPr id="13" name="Segnaposto contenuto 10">
            <a:extLst>
              <a:ext uri="{FF2B5EF4-FFF2-40B4-BE49-F238E27FC236}">
                <a16:creationId xmlns:a16="http://schemas.microsoft.com/office/drawing/2014/main" id="{981C075B-AD13-4CF1-8E6F-EFDE96C167B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331075" y="800100"/>
            <a:ext cx="4525963" cy="5407025"/>
          </a:xfrm>
          <a:noFill/>
        </p:spPr>
        <p:txBody>
          <a:bodyPr/>
          <a:lstStyle/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3932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didascalia 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6696458" cy="84008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E6638-5F8F-4963-A855-BC23A27409E7}" type="datetime1">
              <a:rPr lang="it-IT" smtClean="0"/>
              <a:t>27/06/2026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MA2 - Introduzione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‹N›</a:t>
            </a:fld>
            <a:endParaRPr lang="it-IT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3E84B02-C61F-4F06-B7D2-53B3863108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2" y="2060575"/>
            <a:ext cx="6696457" cy="442912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9" name="Segnaposto testo 11">
            <a:extLst>
              <a:ext uri="{FF2B5EF4-FFF2-40B4-BE49-F238E27FC236}">
                <a16:creationId xmlns:a16="http://schemas.microsoft.com/office/drawing/2014/main" id="{44C15745-FE91-4F85-912A-DE21BA99A8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31074" y="6207125"/>
            <a:ext cx="4525963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  <p:sp>
        <p:nvSpPr>
          <p:cNvPr id="14" name="Segnaposto testo 11">
            <a:extLst>
              <a:ext uri="{FF2B5EF4-FFF2-40B4-BE49-F238E27FC236}">
                <a16:creationId xmlns:a16="http://schemas.microsoft.com/office/drawing/2014/main" id="{347D0FBD-1472-468C-84DA-540ADCCDF1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31074" y="3138105"/>
            <a:ext cx="4525963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  <p:sp>
        <p:nvSpPr>
          <p:cNvPr id="18" name="Segnaposto contenuto 10">
            <a:extLst>
              <a:ext uri="{FF2B5EF4-FFF2-40B4-BE49-F238E27FC236}">
                <a16:creationId xmlns:a16="http://schemas.microsoft.com/office/drawing/2014/main" id="{AE654BE7-A245-475E-B2C5-2D5C0EA5B87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331075" y="3867807"/>
            <a:ext cx="4525963" cy="2339318"/>
          </a:xfrm>
          <a:noFill/>
        </p:spPr>
        <p:txBody>
          <a:bodyPr/>
          <a:lstStyle/>
          <a:p>
            <a:pPr lvl="0"/>
            <a:endParaRPr lang="it-IT"/>
          </a:p>
        </p:txBody>
      </p:sp>
      <p:sp>
        <p:nvSpPr>
          <p:cNvPr id="19" name="Segnaposto contenuto 10">
            <a:extLst>
              <a:ext uri="{FF2B5EF4-FFF2-40B4-BE49-F238E27FC236}">
                <a16:creationId xmlns:a16="http://schemas.microsoft.com/office/drawing/2014/main" id="{C7FD40C7-9A42-4239-BA55-CFB8D43C528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331075" y="799291"/>
            <a:ext cx="4525963" cy="2339318"/>
          </a:xfrm>
          <a:noFill/>
        </p:spPr>
        <p:txBody>
          <a:bodyPr/>
          <a:lstStyle/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62106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didascalia 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08073"/>
            <a:ext cx="8640000" cy="840083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59801-77E0-4F00-A785-4D2DB05EC90C}" type="datetime1">
              <a:rPr lang="it-IT" smtClean="0"/>
              <a:t>27/06/2026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MA2 - Introduzione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6"/>
            <a:ext cx="8640000" cy="761756"/>
          </a:xfrm>
        </p:spPr>
        <p:txBody>
          <a:bodyPr/>
          <a:lstStyle/>
          <a:p>
            <a:pPr lvl="0"/>
            <a:endParaRPr lang="it-IT"/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D48807E7-406F-46DA-A7FF-0C9752585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3234752"/>
            <a:ext cx="5423999" cy="2972374"/>
          </a:xfrm>
          <a:noFill/>
        </p:spPr>
        <p:txBody>
          <a:bodyPr/>
          <a:lstStyle/>
          <a:p>
            <a:pPr lvl="0"/>
            <a:endParaRPr lang="it-IT"/>
          </a:p>
        </p:txBody>
      </p:sp>
      <p:sp>
        <p:nvSpPr>
          <p:cNvPr id="9" name="Segnaposto testo 11">
            <a:extLst>
              <a:ext uri="{FF2B5EF4-FFF2-40B4-BE49-F238E27FC236}">
                <a16:creationId xmlns:a16="http://schemas.microsoft.com/office/drawing/2014/main" id="{833CAB92-1558-4E15-91D9-6F44CDF88BF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962" y="6207125"/>
            <a:ext cx="5423999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B0E56354-394B-4187-9F9C-3EC0AFE56EF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463201" y="3234752"/>
            <a:ext cx="5423999" cy="2972374"/>
          </a:xfrm>
          <a:noFill/>
        </p:spPr>
        <p:txBody>
          <a:bodyPr/>
          <a:lstStyle/>
          <a:p>
            <a:pPr lvl="0"/>
            <a:endParaRPr lang="it-IT"/>
          </a:p>
        </p:txBody>
      </p:sp>
      <p:sp>
        <p:nvSpPr>
          <p:cNvPr id="11" name="Segnaposto testo 11">
            <a:extLst>
              <a:ext uri="{FF2B5EF4-FFF2-40B4-BE49-F238E27FC236}">
                <a16:creationId xmlns:a16="http://schemas.microsoft.com/office/drawing/2014/main" id="{FA2B0198-8A91-4620-9797-8C5B2DBFE1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63200" y="6207125"/>
            <a:ext cx="5423999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97318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grafica _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BAA8E8E9-CF16-408F-8D84-BC8F1DE0AE3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0"/>
            <a:ext cx="0" cy="6858000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e 12">
            <a:extLst>
              <a:ext uri="{FF2B5EF4-FFF2-40B4-BE49-F238E27FC236}">
                <a16:creationId xmlns:a16="http://schemas.microsoft.com/office/drawing/2014/main" id="{769E06E2-5F0D-4920-A3E9-64AE757EB613}"/>
              </a:ext>
            </a:extLst>
          </p:cNvPr>
          <p:cNvSpPr/>
          <p:nvPr userDrawn="1"/>
        </p:nvSpPr>
        <p:spPr>
          <a:xfrm>
            <a:off x="315427" y="709127"/>
            <a:ext cx="5780573" cy="5780573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2313FBE5-F1C4-4411-B0A7-486C895AF990}"/>
              </a:ext>
            </a:extLst>
          </p:cNvPr>
          <p:cNvSpPr/>
          <p:nvPr userDrawn="1"/>
        </p:nvSpPr>
        <p:spPr>
          <a:xfrm>
            <a:off x="6096000" y="709127"/>
            <a:ext cx="5780573" cy="5780573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172E8-D22A-40A6-BBB0-673D07F72B13}" type="datetime1">
              <a:rPr lang="it-IT" smtClean="0"/>
              <a:t>27/06/2026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MA2 - Introduzione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4950" y="2887039"/>
            <a:ext cx="3400570" cy="210620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/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58D49EF2-5E35-412C-A5DD-2A6A604FC3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79792" y="2887039"/>
            <a:ext cx="3400570" cy="210620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2E32AEAB-53EF-4B9D-AE36-D26FBF01B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04950" y="2239963"/>
            <a:ext cx="3400425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  <p:sp>
        <p:nvSpPr>
          <p:cNvPr id="16" name="Segnaposto testo 9">
            <a:extLst>
              <a:ext uri="{FF2B5EF4-FFF2-40B4-BE49-F238E27FC236}">
                <a16:creationId xmlns:a16="http://schemas.microsoft.com/office/drawing/2014/main" id="{8BDCC8A1-442C-4890-928F-754837D40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79792" y="2239963"/>
            <a:ext cx="3400425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8431287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grafica _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25EF8-2623-405C-8592-9252C811CD0E}" type="datetime1">
              <a:rPr lang="it-IT" smtClean="0"/>
              <a:t>27/06/2026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MA2 - Introduzione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8620" y="2887039"/>
            <a:ext cx="3100906" cy="360266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2E32AEAB-53EF-4B9D-AE36-D26FBF01B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8643" y="2239963"/>
            <a:ext cx="3100906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066F22CF-5ACC-4388-97EC-12C4EE01108C}"/>
              </a:ext>
            </a:extLst>
          </p:cNvPr>
          <p:cNvCxnSpPr>
            <a:cxnSpLocks/>
          </p:cNvCxnSpPr>
          <p:nvPr userDrawn="1"/>
        </p:nvCxnSpPr>
        <p:spPr>
          <a:xfrm>
            <a:off x="4176734" y="0"/>
            <a:ext cx="0" cy="6858000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e 12">
            <a:extLst>
              <a:ext uri="{FF2B5EF4-FFF2-40B4-BE49-F238E27FC236}">
                <a16:creationId xmlns:a16="http://schemas.microsoft.com/office/drawing/2014/main" id="{769E06E2-5F0D-4920-A3E9-64AE757EB613}"/>
              </a:ext>
            </a:extLst>
          </p:cNvPr>
          <p:cNvSpPr/>
          <p:nvPr userDrawn="1"/>
        </p:nvSpPr>
        <p:spPr>
          <a:xfrm>
            <a:off x="315425" y="2637317"/>
            <a:ext cx="3846583" cy="3846583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D84D0C32-E3D9-4D1A-A1D4-7F677E11FBAC}"/>
              </a:ext>
            </a:extLst>
          </p:cNvPr>
          <p:cNvSpPr/>
          <p:nvPr userDrawn="1"/>
        </p:nvSpPr>
        <p:spPr>
          <a:xfrm>
            <a:off x="8017486" y="2637317"/>
            <a:ext cx="3846583" cy="3846583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20D1A14F-932F-4BEF-AF0D-4A0850EA5900}"/>
              </a:ext>
            </a:extLst>
          </p:cNvPr>
          <p:cNvSpPr/>
          <p:nvPr userDrawn="1"/>
        </p:nvSpPr>
        <p:spPr>
          <a:xfrm>
            <a:off x="4175247" y="2637317"/>
            <a:ext cx="3846583" cy="3846583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9" name="Connettore diritto 28">
            <a:extLst>
              <a:ext uri="{FF2B5EF4-FFF2-40B4-BE49-F238E27FC236}">
                <a16:creationId xmlns:a16="http://schemas.microsoft.com/office/drawing/2014/main" id="{175274AF-A160-4234-871A-D8C5B0DF011E}"/>
              </a:ext>
            </a:extLst>
          </p:cNvPr>
          <p:cNvCxnSpPr>
            <a:cxnSpLocks/>
          </p:cNvCxnSpPr>
          <p:nvPr userDrawn="1"/>
        </p:nvCxnSpPr>
        <p:spPr>
          <a:xfrm>
            <a:off x="8027765" y="0"/>
            <a:ext cx="0" cy="6858000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egnaposto testo 6">
            <a:extLst>
              <a:ext uri="{FF2B5EF4-FFF2-40B4-BE49-F238E27FC236}">
                <a16:creationId xmlns:a16="http://schemas.microsoft.com/office/drawing/2014/main" id="{0C5DB749-C07B-4557-8B31-C5C44DDA99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51535" y="2887039"/>
            <a:ext cx="3100906" cy="360266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/>
          </a:p>
        </p:txBody>
      </p:sp>
      <p:sp>
        <p:nvSpPr>
          <p:cNvPr id="31" name="Segnaposto testo 9">
            <a:extLst>
              <a:ext uri="{FF2B5EF4-FFF2-40B4-BE49-F238E27FC236}">
                <a16:creationId xmlns:a16="http://schemas.microsoft.com/office/drawing/2014/main" id="{642D4EEC-FAC4-4C46-BB9F-3BA54588E4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51558" y="2239963"/>
            <a:ext cx="3100906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  <p:sp>
        <p:nvSpPr>
          <p:cNvPr id="32" name="Segnaposto testo 6">
            <a:extLst>
              <a:ext uri="{FF2B5EF4-FFF2-40B4-BE49-F238E27FC236}">
                <a16:creationId xmlns:a16="http://schemas.microsoft.com/office/drawing/2014/main" id="{8310C023-87FF-43B4-9428-3E2652BDB8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76189" y="2887039"/>
            <a:ext cx="3100906" cy="360266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/>
          </a:p>
        </p:txBody>
      </p:sp>
      <p:sp>
        <p:nvSpPr>
          <p:cNvPr id="33" name="Segnaposto testo 9">
            <a:extLst>
              <a:ext uri="{FF2B5EF4-FFF2-40B4-BE49-F238E27FC236}">
                <a16:creationId xmlns:a16="http://schemas.microsoft.com/office/drawing/2014/main" id="{0FB8C8B8-D4F7-4669-8F3B-F456A7ECFC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76212" y="2239963"/>
            <a:ext cx="3100906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6309948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grafica _ 4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3955-E76F-453B-8A0B-AA62538D186B}" type="datetime1">
              <a:rPr lang="it-IT" smtClean="0"/>
              <a:t>27/06/2026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MA2 - Introduzione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8620" y="2887039"/>
            <a:ext cx="2503621" cy="360266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2E32AEAB-53EF-4B9D-AE36-D26FBF01B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8643" y="2239963"/>
            <a:ext cx="2503514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BAA8E8E9-CF16-408F-8D84-BC8F1DE0AE3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24549"/>
            <a:ext cx="0" cy="6882549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e 12">
            <a:extLst>
              <a:ext uri="{FF2B5EF4-FFF2-40B4-BE49-F238E27FC236}">
                <a16:creationId xmlns:a16="http://schemas.microsoft.com/office/drawing/2014/main" id="{769E06E2-5F0D-4920-A3E9-64AE757EB613}"/>
              </a:ext>
            </a:extLst>
          </p:cNvPr>
          <p:cNvSpPr/>
          <p:nvPr userDrawn="1"/>
        </p:nvSpPr>
        <p:spPr>
          <a:xfrm>
            <a:off x="339511" y="3544304"/>
            <a:ext cx="2869255" cy="2945397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066F22CF-5ACC-4388-97EC-12C4EE01108C}"/>
              </a:ext>
            </a:extLst>
          </p:cNvPr>
          <p:cNvCxnSpPr>
            <a:cxnSpLocks/>
          </p:cNvCxnSpPr>
          <p:nvPr userDrawn="1"/>
        </p:nvCxnSpPr>
        <p:spPr>
          <a:xfrm>
            <a:off x="3216275" y="-24549"/>
            <a:ext cx="0" cy="6882549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9EF945E3-FEE2-40A3-82CD-7811BFD88746}"/>
              </a:ext>
            </a:extLst>
          </p:cNvPr>
          <p:cNvCxnSpPr>
            <a:cxnSpLocks/>
          </p:cNvCxnSpPr>
          <p:nvPr userDrawn="1"/>
        </p:nvCxnSpPr>
        <p:spPr>
          <a:xfrm>
            <a:off x="8969803" y="-24549"/>
            <a:ext cx="0" cy="6882549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egnaposto testo 6">
            <a:extLst>
              <a:ext uri="{FF2B5EF4-FFF2-40B4-BE49-F238E27FC236}">
                <a16:creationId xmlns:a16="http://schemas.microsoft.com/office/drawing/2014/main" id="{4DA14660-E3DE-4786-8628-2BDB623B542F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3414561" y="2887039"/>
            <a:ext cx="2503621" cy="360266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/>
          </a:p>
        </p:txBody>
      </p:sp>
      <p:sp>
        <p:nvSpPr>
          <p:cNvPr id="22" name="Segnaposto testo 9">
            <a:extLst>
              <a:ext uri="{FF2B5EF4-FFF2-40B4-BE49-F238E27FC236}">
                <a16:creationId xmlns:a16="http://schemas.microsoft.com/office/drawing/2014/main" id="{38062A0A-3D00-4F2E-A78C-520C7A8814B0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414584" y="2239963"/>
            <a:ext cx="2503514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  <p:sp>
        <p:nvSpPr>
          <p:cNvPr id="23" name="Segnaposto testo 6">
            <a:extLst>
              <a:ext uri="{FF2B5EF4-FFF2-40B4-BE49-F238E27FC236}">
                <a16:creationId xmlns:a16="http://schemas.microsoft.com/office/drawing/2014/main" id="{3FA3924C-C133-43D4-9617-6E7333D996FB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6250229" y="2887039"/>
            <a:ext cx="2503621" cy="360266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/>
          </a:p>
        </p:txBody>
      </p:sp>
      <p:sp>
        <p:nvSpPr>
          <p:cNvPr id="24" name="Segnaposto testo 9">
            <a:extLst>
              <a:ext uri="{FF2B5EF4-FFF2-40B4-BE49-F238E27FC236}">
                <a16:creationId xmlns:a16="http://schemas.microsoft.com/office/drawing/2014/main" id="{4F293ED1-7D64-49B8-81A0-5F5FB11E3592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250252" y="2239963"/>
            <a:ext cx="2503514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34980872-E501-48A5-8B13-B7016BEEE029}"/>
              </a:ext>
            </a:extLst>
          </p:cNvPr>
          <p:cNvSpPr>
            <a:spLocks noGrp="1"/>
          </p:cNvSpPr>
          <p:nvPr userDrawn="1">
            <p:ph type="body" sz="quarter" idx="20"/>
          </p:nvPr>
        </p:nvSpPr>
        <p:spPr>
          <a:xfrm>
            <a:off x="9157816" y="2887039"/>
            <a:ext cx="2503621" cy="360266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/>
          </a:p>
        </p:txBody>
      </p:sp>
      <p:sp>
        <p:nvSpPr>
          <p:cNvPr id="26" name="Segnaposto testo 9">
            <a:extLst>
              <a:ext uri="{FF2B5EF4-FFF2-40B4-BE49-F238E27FC236}">
                <a16:creationId xmlns:a16="http://schemas.microsoft.com/office/drawing/2014/main" id="{7359F283-E0AA-4871-A428-A58C8F3F0AAC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9157839" y="2239963"/>
            <a:ext cx="2503514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101D1BE9-9067-430D-A318-4BC1405F006A}"/>
              </a:ext>
            </a:extLst>
          </p:cNvPr>
          <p:cNvSpPr/>
          <p:nvPr userDrawn="1"/>
        </p:nvSpPr>
        <p:spPr>
          <a:xfrm>
            <a:off x="3223388" y="3544304"/>
            <a:ext cx="2869255" cy="2945397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F88114C5-1930-4807-8B76-4565A5FFB9B5}"/>
              </a:ext>
            </a:extLst>
          </p:cNvPr>
          <p:cNvSpPr/>
          <p:nvPr userDrawn="1"/>
        </p:nvSpPr>
        <p:spPr>
          <a:xfrm>
            <a:off x="6089680" y="3544304"/>
            <a:ext cx="2869255" cy="2945397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E2D6333A-9B81-4325-A926-22F5E403D75F}"/>
              </a:ext>
            </a:extLst>
          </p:cNvPr>
          <p:cNvSpPr/>
          <p:nvPr userDrawn="1"/>
        </p:nvSpPr>
        <p:spPr>
          <a:xfrm>
            <a:off x="8964764" y="3544304"/>
            <a:ext cx="2869255" cy="2945397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10402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Evidenza _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325365"/>
            <a:ext cx="11522075" cy="4222679"/>
          </a:xfrm>
        </p:spPr>
        <p:txBody>
          <a:bodyPr anchor="ctr"/>
          <a:lstStyle>
            <a:lvl1pPr>
              <a:defRPr sz="4000" b="0"/>
            </a:lvl1pPr>
          </a:lstStyle>
          <a:p>
            <a:r>
              <a:rPr lang="it-IT"/>
              <a:t>Inserire testo in evidenza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24ECF-94D3-4650-9402-DBED8AE103A9}" type="datetime1">
              <a:rPr lang="it-IT" smtClean="0"/>
              <a:t>27/06/2026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MA2 - Introduzione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6FCB4558-5B0B-4E68-99C0-73044CD4F7EE}"/>
              </a:ext>
            </a:extLst>
          </p:cNvPr>
          <p:cNvSpPr/>
          <p:nvPr userDrawn="1"/>
        </p:nvSpPr>
        <p:spPr>
          <a:xfrm>
            <a:off x="-1366766" y="1325366"/>
            <a:ext cx="4222679" cy="4222679"/>
          </a:xfrm>
          <a:prstGeom prst="ellipse">
            <a:avLst/>
          </a:prstGeom>
          <a:noFill/>
          <a:ln w="9525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5CD3E5C6-1FD7-4A9E-A65F-282056577FB3}"/>
              </a:ext>
            </a:extLst>
          </p:cNvPr>
          <p:cNvCxnSpPr>
            <a:cxnSpLocks/>
          </p:cNvCxnSpPr>
          <p:nvPr userDrawn="1"/>
        </p:nvCxnSpPr>
        <p:spPr>
          <a:xfrm>
            <a:off x="0" y="1325366"/>
            <a:ext cx="12192000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D9DB920E-F5AB-4AF8-BFFC-D380A2D7FEAE}"/>
              </a:ext>
            </a:extLst>
          </p:cNvPr>
          <p:cNvCxnSpPr>
            <a:cxnSpLocks/>
          </p:cNvCxnSpPr>
          <p:nvPr userDrawn="1"/>
        </p:nvCxnSpPr>
        <p:spPr>
          <a:xfrm>
            <a:off x="0" y="5548045"/>
            <a:ext cx="12192000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028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Evidenza _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771" y="1775639"/>
            <a:ext cx="10664455" cy="2317896"/>
          </a:xfrm>
          <a:ln>
            <a:noFill/>
          </a:ln>
        </p:spPr>
        <p:txBody>
          <a:bodyPr anchor="b"/>
          <a:lstStyle>
            <a:lvl1pPr algn="ctr"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it-IT"/>
              <a:t>Inserire testo in evidenza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F2CD2E0-0FEA-4DC0-9020-F33C7B3AC2B2}" type="datetime1">
              <a:rPr lang="it-IT" smtClean="0"/>
              <a:t>27/06/2026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MA2 - Introduzione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6FCB4558-5B0B-4E68-99C0-73044CD4F7EE}"/>
              </a:ext>
            </a:extLst>
          </p:cNvPr>
          <p:cNvSpPr/>
          <p:nvPr userDrawn="1"/>
        </p:nvSpPr>
        <p:spPr>
          <a:xfrm>
            <a:off x="3233122" y="757946"/>
            <a:ext cx="5725755" cy="5725755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5CD3E5C6-1FD7-4A9E-A65F-282056577FB3}"/>
              </a:ext>
            </a:extLst>
          </p:cNvPr>
          <p:cNvCxnSpPr>
            <a:cxnSpLocks/>
          </p:cNvCxnSpPr>
          <p:nvPr userDrawn="1"/>
        </p:nvCxnSpPr>
        <p:spPr>
          <a:xfrm>
            <a:off x="0" y="729943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D9DB920E-F5AB-4AF8-BFFC-D380A2D7FEAE}"/>
              </a:ext>
            </a:extLst>
          </p:cNvPr>
          <p:cNvCxnSpPr>
            <a:cxnSpLocks/>
          </p:cNvCxnSpPr>
          <p:nvPr userDrawn="1"/>
        </p:nvCxnSpPr>
        <p:spPr>
          <a:xfrm>
            <a:off x="0" y="6483710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5FA801A9-B23D-4656-8AFA-3E413EDFA6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3588" y="4536830"/>
            <a:ext cx="10664825" cy="6019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61244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Pr>
        <a:gradFill>
          <a:gsLst>
            <a:gs pos="0">
              <a:schemeClr val="tx1"/>
            </a:gs>
            <a:gs pos="100000">
              <a:srgbClr val="102C5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 / Titolo / Docente  |  00. 00. 0000">
            <a:extLst>
              <a:ext uri="{FF2B5EF4-FFF2-40B4-BE49-F238E27FC236}">
                <a16:creationId xmlns:a16="http://schemas.microsoft.com/office/drawing/2014/main" id="{99FF4CA3-BA67-0511-3FE3-11769597A30E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>
              <a:lnSpc>
                <a:spcPct val="100000"/>
              </a:lnSpc>
              <a:defRPr sz="1200">
                <a:solidFill>
                  <a:srgbClr val="FFFFFF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sp>
        <p:nvSpPr>
          <p:cNvPr id="3" name="Titolo 5">
            <a:extLst>
              <a:ext uri="{FF2B5EF4-FFF2-40B4-BE49-F238E27FC236}">
                <a16:creationId xmlns:a16="http://schemas.microsoft.com/office/drawing/2014/main" id="{5660309B-4011-4FF9-71E9-5BC51EF56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287" y="2853390"/>
            <a:ext cx="10966701" cy="2324100"/>
          </a:xfrm>
        </p:spPr>
        <p:txBody>
          <a:bodyPr lIns="0" tIns="360000" rIns="0" bIns="0" anchor="t"/>
          <a:lstStyle>
            <a:lvl1pPr>
              <a:defRPr lang="it-IT" dirty="0">
                <a:solidFill>
                  <a:schemeClr val="bg1"/>
                </a:solidFill>
              </a:defRPr>
            </a:lvl1pPr>
          </a:lstStyle>
          <a:p>
            <a:r>
              <a:rPr lang="it-IT"/>
              <a:t>Inserire titolo</a:t>
            </a:r>
          </a:p>
        </p:txBody>
      </p:sp>
      <p:sp>
        <p:nvSpPr>
          <p:cNvPr id="5" name="Cerchio">
            <a:extLst>
              <a:ext uri="{FF2B5EF4-FFF2-40B4-BE49-F238E27FC236}">
                <a16:creationId xmlns:a16="http://schemas.microsoft.com/office/drawing/2014/main" id="{5F9D2376-F92C-70CC-7E4A-0F195E3EA543}"/>
              </a:ext>
            </a:extLst>
          </p:cNvPr>
          <p:cNvSpPr/>
          <p:nvPr userDrawn="1"/>
        </p:nvSpPr>
        <p:spPr>
          <a:xfrm rot="10800000">
            <a:off x="7559558" y="-1156784"/>
            <a:ext cx="4010434" cy="4010172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368"/>
                </a:srgbClr>
              </a:gs>
              <a:gs pos="13661">
                <a:srgbClr val="8896A9">
                  <a:alpha val="15184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6" name="Cerchio">
            <a:extLst>
              <a:ext uri="{FF2B5EF4-FFF2-40B4-BE49-F238E27FC236}">
                <a16:creationId xmlns:a16="http://schemas.microsoft.com/office/drawing/2014/main" id="{A0BCD1D3-187F-0F81-48F7-30E4CB14B416}"/>
              </a:ext>
            </a:extLst>
          </p:cNvPr>
          <p:cNvSpPr/>
          <p:nvPr userDrawn="1"/>
        </p:nvSpPr>
        <p:spPr>
          <a:xfrm>
            <a:off x="7559559" y="2853390"/>
            <a:ext cx="4010432" cy="4010171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000"/>
                </a:srgbClr>
              </a:gs>
              <a:gs pos="13661">
                <a:srgbClr val="8896A9">
                  <a:alpha val="14846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>
                    <a:alpha val="20092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>
              <a:latin typeface="Manrope" pitchFamily="2" charset="0"/>
              <a:cs typeface="Arial" panose="020B0604020202020204" pitchFamily="34" charset="0"/>
            </a:endParaRP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2B7B3A0A-3A1B-42DE-B9AE-23655BAD3745}"/>
              </a:ext>
            </a:extLst>
          </p:cNvPr>
          <p:cNvCxnSpPr>
            <a:cxnSpLocks/>
          </p:cNvCxnSpPr>
          <p:nvPr userDrawn="1"/>
        </p:nvCxnSpPr>
        <p:spPr>
          <a:xfrm>
            <a:off x="11569992" y="0"/>
            <a:ext cx="0" cy="6858000"/>
          </a:xfrm>
          <a:prstGeom prst="line">
            <a:avLst/>
          </a:prstGeom>
          <a:ln w="3175">
            <a:solidFill>
              <a:schemeClr val="bg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FD11F552-5459-4905-94FE-760C82166453}"/>
              </a:ext>
            </a:extLst>
          </p:cNvPr>
          <p:cNvCxnSpPr>
            <a:cxnSpLocks/>
          </p:cNvCxnSpPr>
          <p:nvPr userDrawn="1"/>
        </p:nvCxnSpPr>
        <p:spPr>
          <a:xfrm>
            <a:off x="7534019" y="0"/>
            <a:ext cx="0" cy="6858000"/>
          </a:xfrm>
          <a:prstGeom prst="line">
            <a:avLst/>
          </a:prstGeom>
          <a:ln w="3175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FFD66269-DBF7-485E-8F18-092A9E8BABC4}"/>
              </a:ext>
            </a:extLst>
          </p:cNvPr>
          <p:cNvCxnSpPr>
            <a:cxnSpLocks/>
          </p:cNvCxnSpPr>
          <p:nvPr userDrawn="1"/>
        </p:nvCxnSpPr>
        <p:spPr>
          <a:xfrm>
            <a:off x="0" y="2853390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magine 11">
            <a:extLst>
              <a:ext uri="{FF2B5EF4-FFF2-40B4-BE49-F238E27FC236}">
                <a16:creationId xmlns:a16="http://schemas.microsoft.com/office/drawing/2014/main" id="{17ADE777-6F12-4FCD-980D-1255A25F2D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15" y="340536"/>
            <a:ext cx="2520000" cy="1099885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CAE92DB-93C2-C9C7-3AA3-DAD933ABA91D}"/>
              </a:ext>
            </a:extLst>
          </p:cNvPr>
          <p:cNvGrpSpPr/>
          <p:nvPr userDrawn="1"/>
        </p:nvGrpSpPr>
        <p:grpSpPr>
          <a:xfrm>
            <a:off x="2776559" y="618497"/>
            <a:ext cx="4105880" cy="584775"/>
            <a:chOff x="2776559" y="618497"/>
            <a:chExt cx="4105880" cy="58477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758F9A-5FBD-292B-7478-59D890468BF4}"/>
                </a:ext>
              </a:extLst>
            </p:cNvPr>
            <p:cNvSpPr txBox="1"/>
            <p:nvPr/>
          </p:nvSpPr>
          <p:spPr>
            <a:xfrm>
              <a:off x="2796705" y="618497"/>
              <a:ext cx="40857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solidFill>
                    <a:schemeClr val="bg1"/>
                  </a:solidFill>
                  <a:latin typeface="Manrope Light" pitchFamily="2" charset="0"/>
                </a:rPr>
                <a:t>DEPARTMENT </a:t>
              </a:r>
            </a:p>
            <a:p>
              <a:r>
                <a:rPr lang="en-US" sz="1600">
                  <a:solidFill>
                    <a:schemeClr val="bg1"/>
                  </a:solidFill>
                  <a:latin typeface="Manrope Light" pitchFamily="2" charset="0"/>
                </a:rPr>
                <a:t>OF MECHANICAL ENGINEERING</a:t>
              </a:r>
              <a:endParaRPr lang="it-IT" sz="1600">
                <a:solidFill>
                  <a:schemeClr val="bg1"/>
                </a:solidFill>
                <a:latin typeface="Manrope Light" pitchFamily="2" charset="0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14D11D1-F460-5802-1BF1-D99D83D4370D}"/>
                </a:ext>
              </a:extLst>
            </p:cNvPr>
            <p:cNvCxnSpPr/>
            <p:nvPr/>
          </p:nvCxnSpPr>
          <p:spPr>
            <a:xfrm flipV="1">
              <a:off x="2776559" y="701277"/>
              <a:ext cx="0" cy="39600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905856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">
    <p:bg>
      <p:bgPr>
        <a:gradFill>
          <a:gsLst>
            <a:gs pos="0">
              <a:schemeClr val="tx1"/>
            </a:gs>
            <a:gs pos="100000">
              <a:srgbClr val="102C5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e 35">
            <a:extLst>
              <a:ext uri="{FF2B5EF4-FFF2-40B4-BE49-F238E27FC236}">
                <a16:creationId xmlns:a16="http://schemas.microsoft.com/office/drawing/2014/main" id="{51B3AA80-97EC-50CB-4FE0-29FF43A159AF}"/>
              </a:ext>
            </a:extLst>
          </p:cNvPr>
          <p:cNvSpPr/>
          <p:nvPr userDrawn="1"/>
        </p:nvSpPr>
        <p:spPr>
          <a:xfrm>
            <a:off x="2609" y="-5443635"/>
            <a:ext cx="10887979" cy="10887270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1100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0F01AAD3-5366-6929-C4BA-2E51CD3F31D4}"/>
              </a:ext>
            </a:extLst>
          </p:cNvPr>
          <p:cNvSpPr/>
          <p:nvPr userDrawn="1"/>
        </p:nvSpPr>
        <p:spPr>
          <a:xfrm rot="19314398">
            <a:off x="2609" y="5468773"/>
            <a:ext cx="10887979" cy="10887270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10301"/>
                </a:schemeClr>
              </a:gs>
              <a:gs pos="82000">
                <a:schemeClr val="accent3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Linea">
            <a:extLst>
              <a:ext uri="{FF2B5EF4-FFF2-40B4-BE49-F238E27FC236}">
                <a16:creationId xmlns:a16="http://schemas.microsoft.com/office/drawing/2014/main" id="{2889EA06-D03D-AD37-B610-762B18DC9D96}"/>
              </a:ext>
            </a:extLst>
          </p:cNvPr>
          <p:cNvSpPr/>
          <p:nvPr userDrawn="1"/>
        </p:nvSpPr>
        <p:spPr>
          <a:xfrm rot="10800000" flipH="1">
            <a:off x="10895557" y="1057"/>
            <a:ext cx="1" cy="6855889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399" tIns="25399" rIns="25399" bIns="25399" anchor="ctr"/>
          <a:lstStyle/>
          <a:p>
            <a:endParaRPr sz="1200">
              <a:latin typeface="Manrope" pitchFamily="2" charset="0"/>
            </a:endParaRPr>
          </a:p>
        </p:txBody>
      </p:sp>
      <p:sp>
        <p:nvSpPr>
          <p:cNvPr id="11" name="Linea">
            <a:extLst>
              <a:ext uri="{FF2B5EF4-FFF2-40B4-BE49-F238E27FC236}">
                <a16:creationId xmlns:a16="http://schemas.microsoft.com/office/drawing/2014/main" id="{1C01A8D5-245E-26D8-2ECA-82D4764647AF}"/>
              </a:ext>
            </a:extLst>
          </p:cNvPr>
          <p:cNvSpPr/>
          <p:nvPr userDrawn="1"/>
        </p:nvSpPr>
        <p:spPr>
          <a:xfrm rot="10800000">
            <a:off x="-3064" y="5436688"/>
            <a:ext cx="12198128" cy="1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399" tIns="25399" rIns="25399" bIns="25399" anchor="ctr"/>
          <a:lstStyle/>
          <a:p>
            <a:endParaRPr sz="1200">
              <a:latin typeface="Manrope" pitchFamily="2" charset="0"/>
            </a:endParaRPr>
          </a:p>
        </p:txBody>
      </p:sp>
      <p:sp>
        <p:nvSpPr>
          <p:cNvPr id="24" name="Titolo 5">
            <a:extLst>
              <a:ext uri="{FF2B5EF4-FFF2-40B4-BE49-F238E27FC236}">
                <a16:creationId xmlns:a16="http://schemas.microsoft.com/office/drawing/2014/main" id="{7A3C36CA-9D5D-490C-3E31-571AF7EC5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376" y="2970949"/>
            <a:ext cx="10297220" cy="1979441"/>
          </a:xfrm>
          <a:prstGeom prst="rect">
            <a:avLst/>
          </a:prstGeom>
        </p:spPr>
        <p:txBody>
          <a:bodyPr lIns="0" tIns="360000" rIns="0" bIns="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Inserire titolo</a:t>
            </a:r>
            <a:br>
              <a:rPr lang="it-IT"/>
            </a:br>
            <a:r>
              <a:rPr lang="it-IT"/>
              <a:t>Presentazione</a:t>
            </a:r>
          </a:p>
        </p:txBody>
      </p:sp>
      <p:sp>
        <p:nvSpPr>
          <p:cNvPr id="25" name="Tema / Titolo / Docente  |  00. 00. 0000">
            <a:extLst>
              <a:ext uri="{FF2B5EF4-FFF2-40B4-BE49-F238E27FC236}">
                <a16:creationId xmlns:a16="http://schemas.microsoft.com/office/drawing/2014/main" id="{A4A528BE-7AD2-13B5-15DC-484153FDCFB1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E13B68B-5E70-4386-A49F-885614E5E9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15" y="340536"/>
            <a:ext cx="2520000" cy="109988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618E9F8-59DE-4E53-70F2-AC5364E2229F}"/>
              </a:ext>
            </a:extLst>
          </p:cNvPr>
          <p:cNvGrpSpPr/>
          <p:nvPr userDrawn="1"/>
        </p:nvGrpSpPr>
        <p:grpSpPr>
          <a:xfrm>
            <a:off x="2776559" y="618497"/>
            <a:ext cx="4105880" cy="584775"/>
            <a:chOff x="2776559" y="618497"/>
            <a:chExt cx="4105880" cy="58477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AE67B2B-5ED9-3FA5-571E-3D14B201A4D2}"/>
                </a:ext>
              </a:extLst>
            </p:cNvPr>
            <p:cNvSpPr txBox="1"/>
            <p:nvPr/>
          </p:nvSpPr>
          <p:spPr>
            <a:xfrm>
              <a:off x="2796705" y="618497"/>
              <a:ext cx="40857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solidFill>
                    <a:schemeClr val="bg1"/>
                  </a:solidFill>
                  <a:latin typeface="Manrope Light" pitchFamily="2" charset="0"/>
                </a:rPr>
                <a:t>DEPARTMENT </a:t>
              </a:r>
            </a:p>
            <a:p>
              <a:r>
                <a:rPr lang="en-US" sz="1600">
                  <a:solidFill>
                    <a:schemeClr val="bg1"/>
                  </a:solidFill>
                  <a:latin typeface="Manrope Light" pitchFamily="2" charset="0"/>
                </a:rPr>
                <a:t>OF MECHANICAL ENGINEERING</a:t>
              </a:r>
              <a:endParaRPr lang="it-IT" sz="1600">
                <a:solidFill>
                  <a:schemeClr val="bg1"/>
                </a:solidFill>
                <a:latin typeface="Manrope Light" pitchFamily="2" charset="0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6B3A77D-89BE-3B03-E745-E432824423C6}"/>
                </a:ext>
              </a:extLst>
            </p:cNvPr>
            <p:cNvCxnSpPr/>
            <p:nvPr/>
          </p:nvCxnSpPr>
          <p:spPr>
            <a:xfrm flipV="1">
              <a:off x="2776559" y="701277"/>
              <a:ext cx="0" cy="39600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355012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gradFill>
          <a:gsLst>
            <a:gs pos="68000">
              <a:schemeClr val="accent3"/>
            </a:gs>
            <a:gs pos="100000">
              <a:schemeClr val="bg1"/>
            </a:gs>
            <a:gs pos="27000">
              <a:schemeClr val="accen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">
            <a:extLst>
              <a:ext uri="{FF2B5EF4-FFF2-40B4-BE49-F238E27FC236}">
                <a16:creationId xmlns:a16="http://schemas.microsoft.com/office/drawing/2014/main" id="{5904BB58-3F14-9C88-2C51-FC53AD74ECDB}"/>
              </a:ext>
            </a:extLst>
          </p:cNvPr>
          <p:cNvSpPr/>
          <p:nvPr userDrawn="1"/>
        </p:nvSpPr>
        <p:spPr>
          <a:xfrm>
            <a:off x="-13900" y="5890078"/>
            <a:ext cx="12220596" cy="97807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algn="ctr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60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grpSp>
        <p:nvGrpSpPr>
          <p:cNvPr id="35" name="Raggruppa">
            <a:extLst>
              <a:ext uri="{FF2B5EF4-FFF2-40B4-BE49-F238E27FC236}">
                <a16:creationId xmlns:a16="http://schemas.microsoft.com/office/drawing/2014/main" id="{10E0AFDC-3F66-1CFB-E987-27D87A91FC3E}"/>
              </a:ext>
            </a:extLst>
          </p:cNvPr>
          <p:cNvGrpSpPr/>
          <p:nvPr userDrawn="1"/>
        </p:nvGrpSpPr>
        <p:grpSpPr>
          <a:xfrm>
            <a:off x="2454737" y="6112429"/>
            <a:ext cx="774301" cy="512711"/>
            <a:chOff x="55030" y="-1"/>
            <a:chExt cx="1548497" cy="1025419"/>
          </a:xfrm>
        </p:grpSpPr>
        <p:sp>
          <p:nvSpPr>
            <p:cNvPr id="36" name="Dicitura 01">
              <a:extLst>
                <a:ext uri="{FF2B5EF4-FFF2-40B4-BE49-F238E27FC236}">
                  <a16:creationId xmlns:a16="http://schemas.microsoft.com/office/drawing/2014/main" id="{10073F5C-DD0F-6D06-4F37-6385373A1AB7}"/>
                </a:ext>
              </a:extLst>
            </p:cNvPr>
            <p:cNvSpPr txBox="1"/>
            <p:nvPr/>
          </p:nvSpPr>
          <p:spPr>
            <a:xfrm>
              <a:off x="55030" y="102541"/>
              <a:ext cx="1391313" cy="4821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r">
                <a:defRPr sz="2200">
                  <a:solidFill>
                    <a:srgbClr val="102C53"/>
                  </a:solidFill>
                </a:defRPr>
              </a:lvl1pPr>
            </a:lstStyle>
            <a:p>
              <a:r>
                <a:rPr sz="900" b="1" err="1">
                  <a:latin typeface="Manrope" pitchFamily="2" charset="0"/>
                </a:rPr>
                <a:t>Dicitura</a:t>
              </a:r>
              <a:r>
                <a:rPr sz="900" b="1">
                  <a:latin typeface="Manrope" pitchFamily="2" charset="0"/>
                </a:rPr>
                <a:t> 01</a:t>
              </a:r>
            </a:p>
          </p:txBody>
        </p:sp>
        <p:sp>
          <p:nvSpPr>
            <p:cNvPr id="37" name="Linea">
              <a:extLst>
                <a:ext uri="{FF2B5EF4-FFF2-40B4-BE49-F238E27FC236}">
                  <a16:creationId xmlns:a16="http://schemas.microsoft.com/office/drawing/2014/main" id="{A2D93BEA-CDAB-B761-4314-7A4D96C6DDEB}"/>
                </a:ext>
              </a:extLst>
            </p:cNvPr>
            <p:cNvSpPr/>
            <p:nvPr/>
          </p:nvSpPr>
          <p:spPr>
            <a:xfrm flipV="1">
              <a:off x="1603526" y="-1"/>
              <a:ext cx="1" cy="1025419"/>
            </a:xfrm>
            <a:prstGeom prst="line">
              <a:avLst/>
            </a:prstGeom>
            <a:noFill/>
            <a:ln w="9525" cap="flat">
              <a:solidFill>
                <a:srgbClr val="102C53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sz="338">
                <a:latin typeface="Manrope" pitchFamily="2" charset="0"/>
              </a:endParaRPr>
            </a:p>
          </p:txBody>
        </p:sp>
      </p:grpSp>
      <p:grpSp>
        <p:nvGrpSpPr>
          <p:cNvPr id="38" name="Raggruppa">
            <a:extLst>
              <a:ext uri="{FF2B5EF4-FFF2-40B4-BE49-F238E27FC236}">
                <a16:creationId xmlns:a16="http://schemas.microsoft.com/office/drawing/2014/main" id="{56DCEED6-6F0E-CCBB-2279-C15A32771039}"/>
              </a:ext>
            </a:extLst>
          </p:cNvPr>
          <p:cNvGrpSpPr/>
          <p:nvPr userDrawn="1"/>
        </p:nvGrpSpPr>
        <p:grpSpPr>
          <a:xfrm>
            <a:off x="6067169" y="6112429"/>
            <a:ext cx="790072" cy="512711"/>
            <a:chOff x="70058" y="-1"/>
            <a:chExt cx="1580036" cy="1025419"/>
          </a:xfrm>
        </p:grpSpPr>
        <p:sp>
          <p:nvSpPr>
            <p:cNvPr id="39" name="Dicitura 02">
              <a:extLst>
                <a:ext uri="{FF2B5EF4-FFF2-40B4-BE49-F238E27FC236}">
                  <a16:creationId xmlns:a16="http://schemas.microsoft.com/office/drawing/2014/main" id="{65F304E2-7E9C-B774-6D16-605FDABF18A3}"/>
                </a:ext>
              </a:extLst>
            </p:cNvPr>
            <p:cNvSpPr txBox="1"/>
            <p:nvPr/>
          </p:nvSpPr>
          <p:spPr>
            <a:xfrm>
              <a:off x="70058" y="102541"/>
              <a:ext cx="1426577" cy="4821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r">
                <a:defRPr sz="2200">
                  <a:solidFill>
                    <a:srgbClr val="102C53"/>
                  </a:solidFill>
                </a:defRPr>
              </a:lvl1pPr>
            </a:lstStyle>
            <a:p>
              <a:r>
                <a:rPr sz="900" b="1" err="1">
                  <a:latin typeface="Manrope" pitchFamily="2" charset="0"/>
                </a:rPr>
                <a:t>Dicitura</a:t>
              </a:r>
              <a:r>
                <a:rPr sz="900" b="1">
                  <a:latin typeface="Manrope" pitchFamily="2" charset="0"/>
                </a:rPr>
                <a:t> 02</a:t>
              </a:r>
            </a:p>
          </p:txBody>
        </p:sp>
        <p:sp>
          <p:nvSpPr>
            <p:cNvPr id="40" name="Linea">
              <a:extLst>
                <a:ext uri="{FF2B5EF4-FFF2-40B4-BE49-F238E27FC236}">
                  <a16:creationId xmlns:a16="http://schemas.microsoft.com/office/drawing/2014/main" id="{0D3513D8-03DF-07FB-C95C-75AB43EA944A}"/>
                </a:ext>
              </a:extLst>
            </p:cNvPr>
            <p:cNvSpPr/>
            <p:nvPr/>
          </p:nvSpPr>
          <p:spPr>
            <a:xfrm flipV="1">
              <a:off x="1650093" y="-1"/>
              <a:ext cx="1" cy="1025419"/>
            </a:xfrm>
            <a:prstGeom prst="line">
              <a:avLst/>
            </a:prstGeom>
            <a:noFill/>
            <a:ln w="9525" cap="flat">
              <a:solidFill>
                <a:srgbClr val="102C53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sz="338">
                <a:latin typeface="Manrope" pitchFamily="2" charset="0"/>
              </a:endParaRPr>
            </a:p>
          </p:txBody>
        </p:sp>
      </p:grpSp>
      <p:grpSp>
        <p:nvGrpSpPr>
          <p:cNvPr id="41" name="Raggruppa">
            <a:extLst>
              <a:ext uri="{FF2B5EF4-FFF2-40B4-BE49-F238E27FC236}">
                <a16:creationId xmlns:a16="http://schemas.microsoft.com/office/drawing/2014/main" id="{EE4E4B32-B5F8-3F30-EE38-C91ECC226870}"/>
              </a:ext>
            </a:extLst>
          </p:cNvPr>
          <p:cNvGrpSpPr/>
          <p:nvPr userDrawn="1"/>
        </p:nvGrpSpPr>
        <p:grpSpPr>
          <a:xfrm>
            <a:off x="7104925" y="6152538"/>
            <a:ext cx="979517" cy="453158"/>
            <a:chOff x="60711" y="0"/>
            <a:chExt cx="1958904" cy="906313"/>
          </a:xfrm>
        </p:grpSpPr>
        <p:sp>
          <p:nvSpPr>
            <p:cNvPr id="42" name="Logo">
              <a:extLst>
                <a:ext uri="{FF2B5EF4-FFF2-40B4-BE49-F238E27FC236}">
                  <a16:creationId xmlns:a16="http://schemas.microsoft.com/office/drawing/2014/main" id="{01F912F9-4CA7-0309-4362-4AE504D449B0}"/>
                </a:ext>
              </a:extLst>
            </p:cNvPr>
            <p:cNvSpPr txBox="1"/>
            <p:nvPr/>
          </p:nvSpPr>
          <p:spPr>
            <a:xfrm>
              <a:off x="996967" y="135122"/>
              <a:ext cx="1022648" cy="636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>
                  <a:solidFill>
                    <a:srgbClr val="D5D5D5"/>
                  </a:solidFill>
                </a:defRPr>
              </a:lvl1pPr>
            </a:lstStyle>
            <a:p>
              <a:r>
                <a:rPr sz="1400">
                  <a:latin typeface="Manrope" pitchFamily="2" charset="0"/>
                </a:rPr>
                <a:t>Logo</a:t>
              </a:r>
            </a:p>
          </p:txBody>
        </p:sp>
        <p:sp>
          <p:nvSpPr>
            <p:cNvPr id="43" name="Poligono">
              <a:extLst>
                <a:ext uri="{FF2B5EF4-FFF2-40B4-BE49-F238E27FC236}">
                  <a16:creationId xmlns:a16="http://schemas.microsoft.com/office/drawing/2014/main" id="{1A2CDB77-2460-9096-7611-C3E31F3AB038}"/>
                </a:ext>
              </a:extLst>
            </p:cNvPr>
            <p:cNvSpPr/>
            <p:nvPr/>
          </p:nvSpPr>
          <p:spPr>
            <a:xfrm>
              <a:off x="60711" y="0"/>
              <a:ext cx="784891" cy="906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D5D5D5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412756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" name="Raggruppa">
            <a:extLst>
              <a:ext uri="{FF2B5EF4-FFF2-40B4-BE49-F238E27FC236}">
                <a16:creationId xmlns:a16="http://schemas.microsoft.com/office/drawing/2014/main" id="{E9DC9E88-ED5E-A322-CEF0-BA8C7730DD17}"/>
              </a:ext>
            </a:extLst>
          </p:cNvPr>
          <p:cNvGrpSpPr/>
          <p:nvPr userDrawn="1"/>
        </p:nvGrpSpPr>
        <p:grpSpPr>
          <a:xfrm>
            <a:off x="3478116" y="6125021"/>
            <a:ext cx="2345580" cy="508191"/>
            <a:chOff x="-1" y="0"/>
            <a:chExt cx="4690853" cy="1016381"/>
          </a:xfrm>
        </p:grpSpPr>
        <p:grpSp>
          <p:nvGrpSpPr>
            <p:cNvPr id="45" name="Raggruppa">
              <a:extLst>
                <a:ext uri="{FF2B5EF4-FFF2-40B4-BE49-F238E27FC236}">
                  <a16:creationId xmlns:a16="http://schemas.microsoft.com/office/drawing/2014/main" id="{0AAB06EA-BD72-204E-2331-5ADA684865D6}"/>
                </a:ext>
              </a:extLst>
            </p:cNvPr>
            <p:cNvGrpSpPr/>
            <p:nvPr/>
          </p:nvGrpSpPr>
          <p:grpSpPr>
            <a:xfrm>
              <a:off x="-1" y="0"/>
              <a:ext cx="2032314" cy="1016381"/>
              <a:chOff x="0" y="0"/>
              <a:chExt cx="2032313" cy="1016380"/>
            </a:xfrm>
          </p:grpSpPr>
          <p:sp>
            <p:nvSpPr>
              <p:cNvPr id="49" name="Logo">
                <a:extLst>
                  <a:ext uri="{FF2B5EF4-FFF2-40B4-BE49-F238E27FC236}">
                    <a16:creationId xmlns:a16="http://schemas.microsoft.com/office/drawing/2014/main" id="{E2A46CB7-6126-FAF4-587A-DD55008E4667}"/>
                  </a:ext>
                </a:extLst>
              </p:cNvPr>
              <p:cNvSpPr txBox="1"/>
              <p:nvPr/>
            </p:nvSpPr>
            <p:spPr>
              <a:xfrm>
                <a:off x="1009665" y="190150"/>
                <a:ext cx="1022648" cy="6360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800">
                    <a:solidFill>
                      <a:srgbClr val="D5D5D5"/>
                    </a:solidFill>
                  </a:defRPr>
                </a:lvl1pPr>
              </a:lstStyle>
              <a:p>
                <a:r>
                  <a:rPr sz="1400">
                    <a:latin typeface="Manrope" pitchFamily="2" charset="0"/>
                  </a:rPr>
                  <a:t>Logo</a:t>
                </a:r>
              </a:p>
            </p:txBody>
          </p:sp>
          <p:sp>
            <p:nvSpPr>
              <p:cNvPr id="50" name="Triangolo">
                <a:extLst>
                  <a:ext uri="{FF2B5EF4-FFF2-40B4-BE49-F238E27FC236}">
                    <a16:creationId xmlns:a16="http://schemas.microsoft.com/office/drawing/2014/main" id="{49414913-DF6E-3124-0037-4413F4E9DBA5}"/>
                  </a:ext>
                </a:extLst>
              </p:cNvPr>
              <p:cNvSpPr/>
              <p:nvPr/>
            </p:nvSpPr>
            <p:spPr>
              <a:xfrm>
                <a:off x="0" y="0"/>
                <a:ext cx="1016380" cy="10163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5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412756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6" name="Raggruppa">
              <a:extLst>
                <a:ext uri="{FF2B5EF4-FFF2-40B4-BE49-F238E27FC236}">
                  <a16:creationId xmlns:a16="http://schemas.microsoft.com/office/drawing/2014/main" id="{2E1D7F5F-ABE7-5DE5-9E9B-5271458A6691}"/>
                </a:ext>
              </a:extLst>
            </p:cNvPr>
            <p:cNvGrpSpPr/>
            <p:nvPr/>
          </p:nvGrpSpPr>
          <p:grpSpPr>
            <a:xfrm>
              <a:off x="2519023" y="0"/>
              <a:ext cx="2171829" cy="1016381"/>
              <a:chOff x="0" y="0"/>
              <a:chExt cx="2171826" cy="1016380"/>
            </a:xfrm>
          </p:grpSpPr>
          <p:sp>
            <p:nvSpPr>
              <p:cNvPr id="47" name="Logo">
                <a:extLst>
                  <a:ext uri="{FF2B5EF4-FFF2-40B4-BE49-F238E27FC236}">
                    <a16:creationId xmlns:a16="http://schemas.microsoft.com/office/drawing/2014/main" id="{FB792114-1E03-A8B8-F9F6-0BD1E522B30C}"/>
                  </a:ext>
                </a:extLst>
              </p:cNvPr>
              <p:cNvSpPr txBox="1"/>
              <p:nvPr/>
            </p:nvSpPr>
            <p:spPr>
              <a:xfrm>
                <a:off x="1149178" y="190150"/>
                <a:ext cx="1022648" cy="6360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800">
                    <a:solidFill>
                      <a:srgbClr val="D5D5D5"/>
                    </a:solidFill>
                  </a:defRPr>
                </a:lvl1pPr>
              </a:lstStyle>
              <a:p>
                <a:r>
                  <a:rPr sz="1400">
                    <a:latin typeface="Manrope" pitchFamily="2" charset="0"/>
                  </a:rPr>
                  <a:t>Logo</a:t>
                </a:r>
              </a:p>
            </p:txBody>
          </p:sp>
          <p:sp>
            <p:nvSpPr>
              <p:cNvPr id="48" name="Rettangolo arrotondato">
                <a:extLst>
                  <a:ext uri="{FF2B5EF4-FFF2-40B4-BE49-F238E27FC236}">
                    <a16:creationId xmlns:a16="http://schemas.microsoft.com/office/drawing/2014/main" id="{51D7D47B-E4A9-117B-C867-618C7B14273D}"/>
                  </a:ext>
                </a:extLst>
              </p:cNvPr>
              <p:cNvSpPr/>
              <p:nvPr/>
            </p:nvSpPr>
            <p:spPr>
              <a:xfrm>
                <a:off x="0" y="0"/>
                <a:ext cx="1016380" cy="1016380"/>
              </a:xfrm>
              <a:prstGeom prst="roundRect">
                <a:avLst>
                  <a:gd name="adj" fmla="val 9826"/>
                </a:avLst>
              </a:prstGeom>
              <a:solidFill>
                <a:srgbClr val="D5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412756">
                  <a:defRPr sz="3200">
                    <a:solidFill>
                      <a:srgbClr val="D5D5D5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51" name="Immagine 50">
            <a:extLst>
              <a:ext uri="{FF2B5EF4-FFF2-40B4-BE49-F238E27FC236}">
                <a16:creationId xmlns:a16="http://schemas.microsoft.com/office/drawing/2014/main" id="{181E7BAF-676D-D668-15AC-6903A8FCDE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34" y="6123318"/>
            <a:ext cx="1548101" cy="499859"/>
          </a:xfrm>
          <a:prstGeom prst="rect">
            <a:avLst/>
          </a:prstGeom>
        </p:spPr>
      </p:pic>
      <p:sp>
        <p:nvSpPr>
          <p:cNvPr id="52" name="Titolo 5">
            <a:extLst>
              <a:ext uri="{FF2B5EF4-FFF2-40B4-BE49-F238E27FC236}">
                <a16:creationId xmlns:a16="http://schemas.microsoft.com/office/drawing/2014/main" id="{FAD942FF-4AE3-BA4F-0D20-F8F6CDA75D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287" y="1873912"/>
            <a:ext cx="10986218" cy="2324100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Inserire titolo</a:t>
            </a:r>
          </a:p>
        </p:txBody>
      </p:sp>
      <p:sp>
        <p:nvSpPr>
          <p:cNvPr id="53" name="Tema / Titolo / Docente  |  00. 00. 0000">
            <a:extLst>
              <a:ext uri="{FF2B5EF4-FFF2-40B4-BE49-F238E27FC236}">
                <a16:creationId xmlns:a16="http://schemas.microsoft.com/office/drawing/2014/main" id="{21E39AD4-D17D-DA18-8557-753A1598EDBB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494701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sp>
        <p:nvSpPr>
          <p:cNvPr id="31" name="Cerchio">
            <a:extLst>
              <a:ext uri="{FF2B5EF4-FFF2-40B4-BE49-F238E27FC236}">
                <a16:creationId xmlns:a16="http://schemas.microsoft.com/office/drawing/2014/main" id="{A9903704-CFC7-476C-9852-F48766C69614}"/>
              </a:ext>
            </a:extLst>
          </p:cNvPr>
          <p:cNvSpPr/>
          <p:nvPr userDrawn="1"/>
        </p:nvSpPr>
        <p:spPr>
          <a:xfrm rot="10800000">
            <a:off x="7559558" y="-2130267"/>
            <a:ext cx="4010434" cy="4010172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368"/>
                </a:srgbClr>
              </a:gs>
              <a:gs pos="13661">
                <a:srgbClr val="8896A9">
                  <a:alpha val="15184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32" name="Cerchio">
            <a:extLst>
              <a:ext uri="{FF2B5EF4-FFF2-40B4-BE49-F238E27FC236}">
                <a16:creationId xmlns:a16="http://schemas.microsoft.com/office/drawing/2014/main" id="{A6756836-4360-4832-91E9-DC1FED362D89}"/>
              </a:ext>
            </a:extLst>
          </p:cNvPr>
          <p:cNvSpPr/>
          <p:nvPr userDrawn="1"/>
        </p:nvSpPr>
        <p:spPr>
          <a:xfrm>
            <a:off x="7559559" y="1879907"/>
            <a:ext cx="4010432" cy="4010171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000"/>
                </a:srgbClr>
              </a:gs>
              <a:gs pos="13661">
                <a:srgbClr val="8896A9">
                  <a:alpha val="14846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>
                    <a:alpha val="20092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>
              <a:latin typeface="Manrope" pitchFamily="2" charset="0"/>
              <a:cs typeface="Arial" panose="020B0604020202020204" pitchFamily="34" charset="0"/>
            </a:endParaRPr>
          </a:p>
        </p:txBody>
      </p: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21D738D7-7E88-4675-A0EF-E3BAD613F5D5}"/>
              </a:ext>
            </a:extLst>
          </p:cNvPr>
          <p:cNvCxnSpPr>
            <a:cxnSpLocks/>
          </p:cNvCxnSpPr>
          <p:nvPr userDrawn="1"/>
        </p:nvCxnSpPr>
        <p:spPr>
          <a:xfrm>
            <a:off x="11569992" y="-973483"/>
            <a:ext cx="0" cy="685800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diritto 53">
            <a:extLst>
              <a:ext uri="{FF2B5EF4-FFF2-40B4-BE49-F238E27FC236}">
                <a16:creationId xmlns:a16="http://schemas.microsoft.com/office/drawing/2014/main" id="{F9039971-82D3-47A9-A22B-57F88091170C}"/>
              </a:ext>
            </a:extLst>
          </p:cNvPr>
          <p:cNvCxnSpPr>
            <a:cxnSpLocks/>
          </p:cNvCxnSpPr>
          <p:nvPr userDrawn="1"/>
        </p:nvCxnSpPr>
        <p:spPr>
          <a:xfrm>
            <a:off x="7534019" y="-973483"/>
            <a:ext cx="0" cy="685800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diritto 54">
            <a:extLst>
              <a:ext uri="{FF2B5EF4-FFF2-40B4-BE49-F238E27FC236}">
                <a16:creationId xmlns:a16="http://schemas.microsoft.com/office/drawing/2014/main" id="{646E7D75-6D87-4823-9E66-BDAA6D07313A}"/>
              </a:ext>
            </a:extLst>
          </p:cNvPr>
          <p:cNvCxnSpPr>
            <a:cxnSpLocks/>
          </p:cNvCxnSpPr>
          <p:nvPr userDrawn="1"/>
        </p:nvCxnSpPr>
        <p:spPr>
          <a:xfrm>
            <a:off x="0" y="1879907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5006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">
    <p:bg>
      <p:bgPr>
        <a:gradFill>
          <a:gsLst>
            <a:gs pos="100000">
              <a:srgbClr val="8795A8"/>
            </a:gs>
            <a:gs pos="27000">
              <a:srgbClr val="102C5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>
            <a:extLst>
              <a:ext uri="{FF2B5EF4-FFF2-40B4-BE49-F238E27FC236}">
                <a16:creationId xmlns:a16="http://schemas.microsoft.com/office/drawing/2014/main" id="{0F18E289-8097-CB41-B2E0-E50D794D361D}"/>
              </a:ext>
            </a:extLst>
          </p:cNvPr>
          <p:cNvSpPr/>
          <p:nvPr userDrawn="1"/>
        </p:nvSpPr>
        <p:spPr>
          <a:xfrm>
            <a:off x="2609" y="1424519"/>
            <a:ext cx="10887979" cy="10887270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15412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  <p:sp>
        <p:nvSpPr>
          <p:cNvPr id="34" name="t">
            <a:extLst>
              <a:ext uri="{FF2B5EF4-FFF2-40B4-BE49-F238E27FC236}">
                <a16:creationId xmlns:a16="http://schemas.microsoft.com/office/drawing/2014/main" id="{5904BB58-3F14-9C88-2C51-FC53AD74ECDB}"/>
              </a:ext>
            </a:extLst>
          </p:cNvPr>
          <p:cNvSpPr/>
          <p:nvPr userDrawn="1"/>
        </p:nvSpPr>
        <p:spPr>
          <a:xfrm>
            <a:off x="-13900" y="5890078"/>
            <a:ext cx="12220596" cy="97807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 anchor="ctr"/>
          <a:lstStyle>
            <a:lvl1pPr algn="ctr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60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grpSp>
        <p:nvGrpSpPr>
          <p:cNvPr id="35" name="Raggruppa">
            <a:extLst>
              <a:ext uri="{FF2B5EF4-FFF2-40B4-BE49-F238E27FC236}">
                <a16:creationId xmlns:a16="http://schemas.microsoft.com/office/drawing/2014/main" id="{10E0AFDC-3F66-1CFB-E987-27D87A91FC3E}"/>
              </a:ext>
            </a:extLst>
          </p:cNvPr>
          <p:cNvGrpSpPr/>
          <p:nvPr userDrawn="1"/>
        </p:nvGrpSpPr>
        <p:grpSpPr>
          <a:xfrm>
            <a:off x="2454737" y="6112429"/>
            <a:ext cx="774301" cy="512711"/>
            <a:chOff x="55030" y="-1"/>
            <a:chExt cx="1548497" cy="1025419"/>
          </a:xfrm>
        </p:grpSpPr>
        <p:sp>
          <p:nvSpPr>
            <p:cNvPr id="36" name="Dicitura 01">
              <a:extLst>
                <a:ext uri="{FF2B5EF4-FFF2-40B4-BE49-F238E27FC236}">
                  <a16:creationId xmlns:a16="http://schemas.microsoft.com/office/drawing/2014/main" id="{10073F5C-DD0F-6D06-4F37-6385373A1AB7}"/>
                </a:ext>
              </a:extLst>
            </p:cNvPr>
            <p:cNvSpPr txBox="1"/>
            <p:nvPr/>
          </p:nvSpPr>
          <p:spPr>
            <a:xfrm>
              <a:off x="55030" y="102541"/>
              <a:ext cx="1391313" cy="4821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r">
                <a:defRPr sz="2200">
                  <a:solidFill>
                    <a:srgbClr val="102C53"/>
                  </a:solidFill>
                </a:defRPr>
              </a:lvl1pPr>
            </a:lstStyle>
            <a:p>
              <a:r>
                <a:rPr sz="900" b="1" err="1">
                  <a:latin typeface="Manrope" pitchFamily="2" charset="0"/>
                </a:rPr>
                <a:t>Dicitura</a:t>
              </a:r>
              <a:r>
                <a:rPr sz="900" b="1">
                  <a:latin typeface="Manrope" pitchFamily="2" charset="0"/>
                </a:rPr>
                <a:t> 01</a:t>
              </a:r>
            </a:p>
          </p:txBody>
        </p:sp>
        <p:sp>
          <p:nvSpPr>
            <p:cNvPr id="37" name="Linea">
              <a:extLst>
                <a:ext uri="{FF2B5EF4-FFF2-40B4-BE49-F238E27FC236}">
                  <a16:creationId xmlns:a16="http://schemas.microsoft.com/office/drawing/2014/main" id="{A2D93BEA-CDAB-B761-4314-7A4D96C6DDEB}"/>
                </a:ext>
              </a:extLst>
            </p:cNvPr>
            <p:cNvSpPr/>
            <p:nvPr/>
          </p:nvSpPr>
          <p:spPr>
            <a:xfrm flipV="1">
              <a:off x="1603526" y="-1"/>
              <a:ext cx="1" cy="1025419"/>
            </a:xfrm>
            <a:prstGeom prst="line">
              <a:avLst/>
            </a:prstGeom>
            <a:noFill/>
            <a:ln w="9525" cap="flat">
              <a:solidFill>
                <a:srgbClr val="102C53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sz="338">
                <a:latin typeface="Manrope" pitchFamily="2" charset="0"/>
              </a:endParaRPr>
            </a:p>
          </p:txBody>
        </p:sp>
      </p:grpSp>
      <p:grpSp>
        <p:nvGrpSpPr>
          <p:cNvPr id="38" name="Raggruppa">
            <a:extLst>
              <a:ext uri="{FF2B5EF4-FFF2-40B4-BE49-F238E27FC236}">
                <a16:creationId xmlns:a16="http://schemas.microsoft.com/office/drawing/2014/main" id="{56DCEED6-6F0E-CCBB-2279-C15A32771039}"/>
              </a:ext>
            </a:extLst>
          </p:cNvPr>
          <p:cNvGrpSpPr/>
          <p:nvPr userDrawn="1"/>
        </p:nvGrpSpPr>
        <p:grpSpPr>
          <a:xfrm>
            <a:off x="6067169" y="6112429"/>
            <a:ext cx="790072" cy="512711"/>
            <a:chOff x="70058" y="-1"/>
            <a:chExt cx="1580036" cy="1025419"/>
          </a:xfrm>
        </p:grpSpPr>
        <p:sp>
          <p:nvSpPr>
            <p:cNvPr id="39" name="Dicitura 02">
              <a:extLst>
                <a:ext uri="{FF2B5EF4-FFF2-40B4-BE49-F238E27FC236}">
                  <a16:creationId xmlns:a16="http://schemas.microsoft.com/office/drawing/2014/main" id="{65F304E2-7E9C-B774-6D16-605FDABF18A3}"/>
                </a:ext>
              </a:extLst>
            </p:cNvPr>
            <p:cNvSpPr txBox="1"/>
            <p:nvPr/>
          </p:nvSpPr>
          <p:spPr>
            <a:xfrm>
              <a:off x="70058" y="102541"/>
              <a:ext cx="1426577" cy="4821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r">
                <a:defRPr sz="2200">
                  <a:solidFill>
                    <a:srgbClr val="102C53"/>
                  </a:solidFill>
                </a:defRPr>
              </a:lvl1pPr>
            </a:lstStyle>
            <a:p>
              <a:r>
                <a:rPr sz="900" b="1" err="1">
                  <a:latin typeface="Manrope" pitchFamily="2" charset="0"/>
                </a:rPr>
                <a:t>Dicitura</a:t>
              </a:r>
              <a:r>
                <a:rPr sz="900" b="1">
                  <a:latin typeface="Manrope" pitchFamily="2" charset="0"/>
                </a:rPr>
                <a:t> 02</a:t>
              </a:r>
            </a:p>
          </p:txBody>
        </p:sp>
        <p:sp>
          <p:nvSpPr>
            <p:cNvPr id="40" name="Linea">
              <a:extLst>
                <a:ext uri="{FF2B5EF4-FFF2-40B4-BE49-F238E27FC236}">
                  <a16:creationId xmlns:a16="http://schemas.microsoft.com/office/drawing/2014/main" id="{0D3513D8-03DF-07FB-C95C-75AB43EA944A}"/>
                </a:ext>
              </a:extLst>
            </p:cNvPr>
            <p:cNvSpPr/>
            <p:nvPr/>
          </p:nvSpPr>
          <p:spPr>
            <a:xfrm flipV="1">
              <a:off x="1650093" y="-1"/>
              <a:ext cx="1" cy="1025419"/>
            </a:xfrm>
            <a:prstGeom prst="line">
              <a:avLst/>
            </a:prstGeom>
            <a:noFill/>
            <a:ln w="9525" cap="flat">
              <a:solidFill>
                <a:srgbClr val="102C53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sz="338">
                <a:latin typeface="Manrope" pitchFamily="2" charset="0"/>
              </a:endParaRPr>
            </a:p>
          </p:txBody>
        </p:sp>
      </p:grpSp>
      <p:grpSp>
        <p:nvGrpSpPr>
          <p:cNvPr id="41" name="Raggruppa">
            <a:extLst>
              <a:ext uri="{FF2B5EF4-FFF2-40B4-BE49-F238E27FC236}">
                <a16:creationId xmlns:a16="http://schemas.microsoft.com/office/drawing/2014/main" id="{EE4E4B32-B5F8-3F30-EE38-C91ECC226870}"/>
              </a:ext>
            </a:extLst>
          </p:cNvPr>
          <p:cNvGrpSpPr/>
          <p:nvPr userDrawn="1"/>
        </p:nvGrpSpPr>
        <p:grpSpPr>
          <a:xfrm>
            <a:off x="7104925" y="6152538"/>
            <a:ext cx="979517" cy="453158"/>
            <a:chOff x="60711" y="0"/>
            <a:chExt cx="1958904" cy="906313"/>
          </a:xfrm>
        </p:grpSpPr>
        <p:sp>
          <p:nvSpPr>
            <p:cNvPr id="42" name="Logo">
              <a:extLst>
                <a:ext uri="{FF2B5EF4-FFF2-40B4-BE49-F238E27FC236}">
                  <a16:creationId xmlns:a16="http://schemas.microsoft.com/office/drawing/2014/main" id="{01F912F9-4CA7-0309-4362-4AE504D449B0}"/>
                </a:ext>
              </a:extLst>
            </p:cNvPr>
            <p:cNvSpPr txBox="1"/>
            <p:nvPr/>
          </p:nvSpPr>
          <p:spPr>
            <a:xfrm>
              <a:off x="996967" y="135122"/>
              <a:ext cx="1022648" cy="636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>
                  <a:solidFill>
                    <a:srgbClr val="D5D5D5"/>
                  </a:solidFill>
                </a:defRPr>
              </a:lvl1pPr>
            </a:lstStyle>
            <a:p>
              <a:r>
                <a:rPr sz="1400">
                  <a:latin typeface="Manrope" pitchFamily="2" charset="0"/>
                </a:rPr>
                <a:t>Logo</a:t>
              </a:r>
            </a:p>
          </p:txBody>
        </p:sp>
        <p:sp>
          <p:nvSpPr>
            <p:cNvPr id="43" name="Poligono">
              <a:extLst>
                <a:ext uri="{FF2B5EF4-FFF2-40B4-BE49-F238E27FC236}">
                  <a16:creationId xmlns:a16="http://schemas.microsoft.com/office/drawing/2014/main" id="{1A2CDB77-2460-9096-7611-C3E31F3AB038}"/>
                </a:ext>
              </a:extLst>
            </p:cNvPr>
            <p:cNvSpPr/>
            <p:nvPr/>
          </p:nvSpPr>
          <p:spPr>
            <a:xfrm>
              <a:off x="60711" y="0"/>
              <a:ext cx="784891" cy="906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D5D5D5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412756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" name="Raggruppa">
            <a:extLst>
              <a:ext uri="{FF2B5EF4-FFF2-40B4-BE49-F238E27FC236}">
                <a16:creationId xmlns:a16="http://schemas.microsoft.com/office/drawing/2014/main" id="{E9DC9E88-ED5E-A322-CEF0-BA8C7730DD17}"/>
              </a:ext>
            </a:extLst>
          </p:cNvPr>
          <p:cNvGrpSpPr/>
          <p:nvPr userDrawn="1"/>
        </p:nvGrpSpPr>
        <p:grpSpPr>
          <a:xfrm>
            <a:off x="3478116" y="6125021"/>
            <a:ext cx="2345580" cy="508191"/>
            <a:chOff x="-1" y="0"/>
            <a:chExt cx="4690853" cy="1016381"/>
          </a:xfrm>
        </p:grpSpPr>
        <p:grpSp>
          <p:nvGrpSpPr>
            <p:cNvPr id="45" name="Raggruppa">
              <a:extLst>
                <a:ext uri="{FF2B5EF4-FFF2-40B4-BE49-F238E27FC236}">
                  <a16:creationId xmlns:a16="http://schemas.microsoft.com/office/drawing/2014/main" id="{0AAB06EA-BD72-204E-2331-5ADA684865D6}"/>
                </a:ext>
              </a:extLst>
            </p:cNvPr>
            <p:cNvGrpSpPr/>
            <p:nvPr/>
          </p:nvGrpSpPr>
          <p:grpSpPr>
            <a:xfrm>
              <a:off x="-1" y="0"/>
              <a:ext cx="2032314" cy="1016381"/>
              <a:chOff x="0" y="0"/>
              <a:chExt cx="2032313" cy="1016380"/>
            </a:xfrm>
          </p:grpSpPr>
          <p:sp>
            <p:nvSpPr>
              <p:cNvPr id="49" name="Logo">
                <a:extLst>
                  <a:ext uri="{FF2B5EF4-FFF2-40B4-BE49-F238E27FC236}">
                    <a16:creationId xmlns:a16="http://schemas.microsoft.com/office/drawing/2014/main" id="{E2A46CB7-6126-FAF4-587A-DD55008E4667}"/>
                  </a:ext>
                </a:extLst>
              </p:cNvPr>
              <p:cNvSpPr txBox="1"/>
              <p:nvPr/>
            </p:nvSpPr>
            <p:spPr>
              <a:xfrm>
                <a:off x="1009665" y="190150"/>
                <a:ext cx="1022648" cy="6360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800">
                    <a:solidFill>
                      <a:srgbClr val="D5D5D5"/>
                    </a:solidFill>
                  </a:defRPr>
                </a:lvl1pPr>
              </a:lstStyle>
              <a:p>
                <a:r>
                  <a:rPr sz="1400">
                    <a:latin typeface="Manrope" pitchFamily="2" charset="0"/>
                  </a:rPr>
                  <a:t>Logo</a:t>
                </a:r>
              </a:p>
            </p:txBody>
          </p:sp>
          <p:sp>
            <p:nvSpPr>
              <p:cNvPr id="50" name="Triangolo">
                <a:extLst>
                  <a:ext uri="{FF2B5EF4-FFF2-40B4-BE49-F238E27FC236}">
                    <a16:creationId xmlns:a16="http://schemas.microsoft.com/office/drawing/2014/main" id="{49414913-DF6E-3124-0037-4413F4E9DBA5}"/>
                  </a:ext>
                </a:extLst>
              </p:cNvPr>
              <p:cNvSpPr/>
              <p:nvPr/>
            </p:nvSpPr>
            <p:spPr>
              <a:xfrm>
                <a:off x="0" y="0"/>
                <a:ext cx="1016380" cy="10163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5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412756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6" name="Raggruppa">
              <a:extLst>
                <a:ext uri="{FF2B5EF4-FFF2-40B4-BE49-F238E27FC236}">
                  <a16:creationId xmlns:a16="http://schemas.microsoft.com/office/drawing/2014/main" id="{2E1D7F5F-ABE7-5DE5-9E9B-5271458A6691}"/>
                </a:ext>
              </a:extLst>
            </p:cNvPr>
            <p:cNvGrpSpPr/>
            <p:nvPr/>
          </p:nvGrpSpPr>
          <p:grpSpPr>
            <a:xfrm>
              <a:off x="2519023" y="0"/>
              <a:ext cx="2171829" cy="1016381"/>
              <a:chOff x="0" y="0"/>
              <a:chExt cx="2171826" cy="1016380"/>
            </a:xfrm>
          </p:grpSpPr>
          <p:sp>
            <p:nvSpPr>
              <p:cNvPr id="47" name="Logo">
                <a:extLst>
                  <a:ext uri="{FF2B5EF4-FFF2-40B4-BE49-F238E27FC236}">
                    <a16:creationId xmlns:a16="http://schemas.microsoft.com/office/drawing/2014/main" id="{FB792114-1E03-A8B8-F9F6-0BD1E522B30C}"/>
                  </a:ext>
                </a:extLst>
              </p:cNvPr>
              <p:cNvSpPr txBox="1"/>
              <p:nvPr/>
            </p:nvSpPr>
            <p:spPr>
              <a:xfrm>
                <a:off x="1149178" y="190150"/>
                <a:ext cx="1022648" cy="6360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800">
                    <a:solidFill>
                      <a:srgbClr val="D5D5D5"/>
                    </a:solidFill>
                  </a:defRPr>
                </a:lvl1pPr>
              </a:lstStyle>
              <a:p>
                <a:r>
                  <a:rPr sz="1400">
                    <a:latin typeface="Manrope" pitchFamily="2" charset="0"/>
                  </a:rPr>
                  <a:t>Logo</a:t>
                </a:r>
              </a:p>
            </p:txBody>
          </p:sp>
          <p:sp>
            <p:nvSpPr>
              <p:cNvPr id="48" name="Rettangolo arrotondato">
                <a:extLst>
                  <a:ext uri="{FF2B5EF4-FFF2-40B4-BE49-F238E27FC236}">
                    <a16:creationId xmlns:a16="http://schemas.microsoft.com/office/drawing/2014/main" id="{51D7D47B-E4A9-117B-C867-618C7B14273D}"/>
                  </a:ext>
                </a:extLst>
              </p:cNvPr>
              <p:cNvSpPr/>
              <p:nvPr/>
            </p:nvSpPr>
            <p:spPr>
              <a:xfrm>
                <a:off x="0" y="0"/>
                <a:ext cx="1016380" cy="1016380"/>
              </a:xfrm>
              <a:prstGeom prst="roundRect">
                <a:avLst>
                  <a:gd name="adj" fmla="val 9826"/>
                </a:avLst>
              </a:prstGeom>
              <a:solidFill>
                <a:srgbClr val="D5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412756">
                  <a:defRPr sz="3200">
                    <a:solidFill>
                      <a:srgbClr val="D5D5D5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51" name="Immagine 50">
            <a:extLst>
              <a:ext uri="{FF2B5EF4-FFF2-40B4-BE49-F238E27FC236}">
                <a16:creationId xmlns:a16="http://schemas.microsoft.com/office/drawing/2014/main" id="{181E7BAF-676D-D668-15AC-6903A8FCDE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34" y="6123318"/>
            <a:ext cx="1548101" cy="499859"/>
          </a:xfrm>
          <a:prstGeom prst="rect">
            <a:avLst/>
          </a:prstGeom>
        </p:spPr>
      </p:pic>
      <p:sp>
        <p:nvSpPr>
          <p:cNvPr id="52" name="Titolo 5">
            <a:extLst>
              <a:ext uri="{FF2B5EF4-FFF2-40B4-BE49-F238E27FC236}">
                <a16:creationId xmlns:a16="http://schemas.microsoft.com/office/drawing/2014/main" id="{FAD942FF-4AE3-BA4F-0D20-F8F6CDA75D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287" y="1873912"/>
            <a:ext cx="10986218" cy="2324100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Inserire titolo</a:t>
            </a:r>
          </a:p>
        </p:txBody>
      </p:sp>
      <p:sp>
        <p:nvSpPr>
          <p:cNvPr id="53" name="Tema / Titolo / Docente  |  00. 00. 0000">
            <a:extLst>
              <a:ext uri="{FF2B5EF4-FFF2-40B4-BE49-F238E27FC236}">
                <a16:creationId xmlns:a16="http://schemas.microsoft.com/office/drawing/2014/main" id="{21E39AD4-D17D-DA18-8557-753A1598EDBB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494701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sp>
        <p:nvSpPr>
          <p:cNvPr id="62" name="Linea">
            <a:extLst>
              <a:ext uri="{FF2B5EF4-FFF2-40B4-BE49-F238E27FC236}">
                <a16:creationId xmlns:a16="http://schemas.microsoft.com/office/drawing/2014/main" id="{54CC51DA-C723-F8DB-C158-F298D04F09C3}"/>
              </a:ext>
            </a:extLst>
          </p:cNvPr>
          <p:cNvSpPr/>
          <p:nvPr userDrawn="1"/>
        </p:nvSpPr>
        <p:spPr>
          <a:xfrm>
            <a:off x="0" y="1416971"/>
            <a:ext cx="12192795" cy="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sp>
        <p:nvSpPr>
          <p:cNvPr id="3" name="Linea">
            <a:extLst>
              <a:ext uri="{FF2B5EF4-FFF2-40B4-BE49-F238E27FC236}">
                <a16:creationId xmlns:a16="http://schemas.microsoft.com/office/drawing/2014/main" id="{212AA810-2E06-6DB2-CF2D-E8B825DA18E6}"/>
              </a:ext>
            </a:extLst>
          </p:cNvPr>
          <p:cNvSpPr/>
          <p:nvPr userDrawn="1"/>
        </p:nvSpPr>
        <p:spPr>
          <a:xfrm rot="10800000" flipH="1">
            <a:off x="10895557" y="-1590"/>
            <a:ext cx="1" cy="6855889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399" tIns="25399" rIns="25399" bIns="25399" anchor="ctr"/>
          <a:lstStyle/>
          <a:p>
            <a:endParaRPr sz="1200">
              <a:latin typeface="Manrope" pitchFamily="2" charset="0"/>
            </a:endParaRP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1526C403-D8EF-49F4-AE98-8D0CC36DA1EF}"/>
              </a:ext>
            </a:extLst>
          </p:cNvPr>
          <p:cNvSpPr/>
          <p:nvPr userDrawn="1"/>
        </p:nvSpPr>
        <p:spPr>
          <a:xfrm>
            <a:off x="2609" y="-9484154"/>
            <a:ext cx="10887979" cy="10887270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15412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2675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ea">
            <a:extLst>
              <a:ext uri="{FF2B5EF4-FFF2-40B4-BE49-F238E27FC236}">
                <a16:creationId xmlns:a16="http://schemas.microsoft.com/office/drawing/2014/main" id="{06A5565B-3792-761F-D5E8-89E83049F337}"/>
              </a:ext>
            </a:extLst>
          </p:cNvPr>
          <p:cNvSpPr/>
          <p:nvPr userDrawn="1"/>
        </p:nvSpPr>
        <p:spPr>
          <a:xfrm>
            <a:off x="0" y="3429000"/>
            <a:ext cx="12192795" cy="0"/>
          </a:xfrm>
          <a:prstGeom prst="line">
            <a:avLst/>
          </a:prstGeom>
          <a:ln w="3175">
            <a:solidFill>
              <a:srgbClr val="102C53"/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sp>
        <p:nvSpPr>
          <p:cNvPr id="12" name="Linea">
            <a:extLst>
              <a:ext uri="{FF2B5EF4-FFF2-40B4-BE49-F238E27FC236}">
                <a16:creationId xmlns:a16="http://schemas.microsoft.com/office/drawing/2014/main" id="{39CEE595-3918-20DF-0A93-E1BE36E4BCF4}"/>
              </a:ext>
            </a:extLst>
          </p:cNvPr>
          <p:cNvSpPr/>
          <p:nvPr userDrawn="1"/>
        </p:nvSpPr>
        <p:spPr>
          <a:xfrm flipV="1">
            <a:off x="11566815" y="15448"/>
            <a:ext cx="0" cy="6827108"/>
          </a:xfrm>
          <a:prstGeom prst="line">
            <a:avLst/>
          </a:prstGeom>
          <a:ln w="3175">
            <a:solidFill>
              <a:srgbClr val="102C53"/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sp>
        <p:nvSpPr>
          <p:cNvPr id="13" name="Linea">
            <a:extLst>
              <a:ext uri="{FF2B5EF4-FFF2-40B4-BE49-F238E27FC236}">
                <a16:creationId xmlns:a16="http://schemas.microsoft.com/office/drawing/2014/main" id="{1FF15F9B-EC12-8E00-194B-C92BF9532474}"/>
              </a:ext>
            </a:extLst>
          </p:cNvPr>
          <p:cNvSpPr/>
          <p:nvPr userDrawn="1"/>
        </p:nvSpPr>
        <p:spPr>
          <a:xfrm flipV="1">
            <a:off x="7562733" y="15448"/>
            <a:ext cx="0" cy="6827108"/>
          </a:xfrm>
          <a:prstGeom prst="line">
            <a:avLst/>
          </a:prstGeom>
          <a:ln w="3175">
            <a:solidFill>
              <a:srgbClr val="102C53"/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sp>
        <p:nvSpPr>
          <p:cNvPr id="14" name="Tema / Titolo / Docente  |  00. 00. 0000">
            <a:extLst>
              <a:ext uri="{FF2B5EF4-FFF2-40B4-BE49-F238E27FC236}">
                <a16:creationId xmlns:a16="http://schemas.microsoft.com/office/drawing/2014/main" id="{1DCB0E58-CB34-9BB0-27A9-F358FEB81E9A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2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sp>
        <p:nvSpPr>
          <p:cNvPr id="17" name="Titolo 5">
            <a:extLst>
              <a:ext uri="{FF2B5EF4-FFF2-40B4-BE49-F238E27FC236}">
                <a16:creationId xmlns:a16="http://schemas.microsoft.com/office/drawing/2014/main" id="{4DAF60AC-FCFA-4F79-8AA6-85AC61BFA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287" y="3429000"/>
            <a:ext cx="6953096" cy="2324100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Inserire titolo</a:t>
            </a:r>
            <a:br>
              <a:rPr lang="it-IT"/>
            </a:br>
            <a:r>
              <a:rPr lang="it-IT"/>
              <a:t>Presentazione</a:t>
            </a:r>
          </a:p>
        </p:txBody>
      </p:sp>
      <p:sp>
        <p:nvSpPr>
          <p:cNvPr id="21" name="Cerchio">
            <a:extLst>
              <a:ext uri="{FF2B5EF4-FFF2-40B4-BE49-F238E27FC236}">
                <a16:creationId xmlns:a16="http://schemas.microsoft.com/office/drawing/2014/main" id="{6E7576C8-25DA-044B-E1DD-8104EE1A54CF}"/>
              </a:ext>
            </a:extLst>
          </p:cNvPr>
          <p:cNvSpPr/>
          <p:nvPr userDrawn="1"/>
        </p:nvSpPr>
        <p:spPr>
          <a:xfrm rot="5400000">
            <a:off x="7572787" y="-581302"/>
            <a:ext cx="4010172" cy="4010432"/>
          </a:xfrm>
          <a:prstGeom prst="ellipse">
            <a:avLst/>
          </a:prstGeom>
          <a:gradFill flip="none" rotWithShape="1">
            <a:gsLst>
              <a:gs pos="85000">
                <a:srgbClr val="FFFFFF">
                  <a:alpha val="0"/>
                </a:srgbClr>
              </a:gs>
              <a:gs pos="0">
                <a:srgbClr val="8795A8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22" name="Cerchio">
            <a:extLst>
              <a:ext uri="{FF2B5EF4-FFF2-40B4-BE49-F238E27FC236}">
                <a16:creationId xmlns:a16="http://schemas.microsoft.com/office/drawing/2014/main" id="{30211EF7-C505-8055-D080-3F3D88BB6BE8}"/>
              </a:ext>
            </a:extLst>
          </p:cNvPr>
          <p:cNvSpPr/>
          <p:nvPr userDrawn="1"/>
        </p:nvSpPr>
        <p:spPr>
          <a:xfrm rot="16200000">
            <a:off x="7572787" y="3428871"/>
            <a:ext cx="4010172" cy="4010432"/>
          </a:xfrm>
          <a:prstGeom prst="ellipse">
            <a:avLst/>
          </a:prstGeom>
          <a:gradFill flip="none" rotWithShape="1">
            <a:gsLst>
              <a:gs pos="85000">
                <a:srgbClr val="FFFFFF">
                  <a:alpha val="0"/>
                </a:srgbClr>
              </a:gs>
              <a:gs pos="0">
                <a:srgbClr val="8795A8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Manrope" pitchFamily="2" charset="0"/>
              <a:cs typeface="Arial" panose="020B0604020202020204" pitchFamily="34" charset="0"/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737DCA1-8034-4460-9A29-E445D90EE9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59" y="558879"/>
            <a:ext cx="2124000" cy="68580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E70675F-1C29-D405-E7B1-AF145CD2F55C}"/>
              </a:ext>
            </a:extLst>
          </p:cNvPr>
          <p:cNvGrpSpPr/>
          <p:nvPr userDrawn="1"/>
        </p:nvGrpSpPr>
        <p:grpSpPr>
          <a:xfrm>
            <a:off x="2776559" y="618497"/>
            <a:ext cx="4105880" cy="584775"/>
            <a:chOff x="2776559" y="618497"/>
            <a:chExt cx="4105880" cy="58477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A73319A-75D1-88DC-43EF-EF9D6F5A9E3B}"/>
                </a:ext>
              </a:extLst>
            </p:cNvPr>
            <p:cNvSpPr txBox="1"/>
            <p:nvPr/>
          </p:nvSpPr>
          <p:spPr>
            <a:xfrm>
              <a:off x="2796705" y="618497"/>
              <a:ext cx="40857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solidFill>
                    <a:srgbClr val="002043"/>
                  </a:solidFill>
                  <a:latin typeface="Manrope Light" pitchFamily="2" charset="0"/>
                </a:rPr>
                <a:t>DEPARTMENT </a:t>
              </a:r>
            </a:p>
            <a:p>
              <a:r>
                <a:rPr lang="en-US" sz="1600">
                  <a:solidFill>
                    <a:srgbClr val="002043"/>
                  </a:solidFill>
                  <a:latin typeface="Manrope Light" pitchFamily="2" charset="0"/>
                </a:rPr>
                <a:t>OF MECHANICAL ENGINEERING</a:t>
              </a:r>
              <a:endParaRPr lang="it-IT" sz="1600">
                <a:solidFill>
                  <a:srgbClr val="002043"/>
                </a:solidFill>
                <a:latin typeface="Manrope Light" pitchFamily="2" charset="0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0DDF325-6976-E187-24AC-81B7305F3E75}"/>
                </a:ext>
              </a:extLst>
            </p:cNvPr>
            <p:cNvCxnSpPr/>
            <p:nvPr/>
          </p:nvCxnSpPr>
          <p:spPr>
            <a:xfrm flipV="1">
              <a:off x="2776559" y="701277"/>
              <a:ext cx="0" cy="396000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97884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tudente-6.jpg">
            <a:extLst>
              <a:ext uri="{FF2B5EF4-FFF2-40B4-BE49-F238E27FC236}">
                <a16:creationId xmlns:a16="http://schemas.microsoft.com/office/drawing/2014/main" id="{DA0DDB76-F351-4164-94AE-C6D2D1E45F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8" b="7868"/>
          <a:stretch/>
        </p:blipFill>
        <p:spPr>
          <a:xfrm>
            <a:off x="1" y="-15446"/>
            <a:ext cx="12202569" cy="6873447"/>
          </a:xfrm>
          <a:prstGeom prst="rect">
            <a:avLst/>
          </a:prstGeom>
        </p:spPr>
      </p:pic>
      <p:sp>
        <p:nvSpPr>
          <p:cNvPr id="12" name="Rettangolo">
            <a:extLst>
              <a:ext uri="{FF2B5EF4-FFF2-40B4-BE49-F238E27FC236}">
                <a16:creationId xmlns:a16="http://schemas.microsoft.com/office/drawing/2014/main" id="{A66CE9DD-F14C-4A96-8D86-1FA07F6449E0}"/>
              </a:ext>
            </a:extLst>
          </p:cNvPr>
          <p:cNvSpPr/>
          <p:nvPr userDrawn="1"/>
        </p:nvSpPr>
        <p:spPr>
          <a:xfrm>
            <a:off x="0" y="0"/>
            <a:ext cx="1221234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72000">
                <a:srgbClr val="FFFFFF"/>
              </a:gs>
            </a:gsLst>
            <a:lin ang="5400000" scaled="0"/>
            <a:tileRect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Linea">
            <a:extLst>
              <a:ext uri="{FF2B5EF4-FFF2-40B4-BE49-F238E27FC236}">
                <a16:creationId xmlns:a16="http://schemas.microsoft.com/office/drawing/2014/main" id="{B39406AE-79B6-49A1-923B-123760D8505F}"/>
              </a:ext>
            </a:extLst>
          </p:cNvPr>
          <p:cNvSpPr/>
          <p:nvPr userDrawn="1"/>
        </p:nvSpPr>
        <p:spPr>
          <a:xfrm>
            <a:off x="0" y="1980994"/>
            <a:ext cx="12192795" cy="0"/>
          </a:xfrm>
          <a:prstGeom prst="line">
            <a:avLst/>
          </a:prstGeom>
          <a:ln w="6350">
            <a:solidFill>
              <a:schemeClr val="accent1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sp>
        <p:nvSpPr>
          <p:cNvPr id="17" name="Linea">
            <a:extLst>
              <a:ext uri="{FF2B5EF4-FFF2-40B4-BE49-F238E27FC236}">
                <a16:creationId xmlns:a16="http://schemas.microsoft.com/office/drawing/2014/main" id="{DCC9F3C9-7921-43F1-BB63-5744C63E565E}"/>
              </a:ext>
            </a:extLst>
          </p:cNvPr>
          <p:cNvSpPr/>
          <p:nvPr userDrawn="1"/>
        </p:nvSpPr>
        <p:spPr>
          <a:xfrm flipV="1">
            <a:off x="10715224" y="15448"/>
            <a:ext cx="0" cy="6827108"/>
          </a:xfrm>
          <a:prstGeom prst="line">
            <a:avLst/>
          </a:prstGeom>
          <a:ln w="6350">
            <a:solidFill>
              <a:schemeClr val="tx2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37EF6FA-9E02-465C-BF2C-F79206AB58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15" y="340536"/>
            <a:ext cx="2520000" cy="1099885"/>
          </a:xfrm>
          <a:prstGeom prst="rect">
            <a:avLst/>
          </a:prstGeom>
        </p:spPr>
      </p:pic>
      <p:sp>
        <p:nvSpPr>
          <p:cNvPr id="10" name="Ovale 9">
            <a:extLst>
              <a:ext uri="{FF2B5EF4-FFF2-40B4-BE49-F238E27FC236}">
                <a16:creationId xmlns:a16="http://schemas.microsoft.com/office/drawing/2014/main" id="{1CCADD42-EE9E-4858-B6FB-01BA6E38FAD3}"/>
              </a:ext>
            </a:extLst>
          </p:cNvPr>
          <p:cNvSpPr/>
          <p:nvPr userDrawn="1"/>
        </p:nvSpPr>
        <p:spPr>
          <a:xfrm rot="18900000">
            <a:off x="-172754" y="1980994"/>
            <a:ext cx="10887979" cy="10887270"/>
          </a:xfrm>
          <a:prstGeom prst="ellipse">
            <a:avLst/>
          </a:prstGeom>
          <a:gradFill flip="none" rotWithShape="1">
            <a:gsLst>
              <a:gs pos="85000">
                <a:srgbClr val="FFFFFF">
                  <a:alpha val="0"/>
                </a:srgbClr>
              </a:gs>
              <a:gs pos="0">
                <a:schemeClr val="accent3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lvl="0" algn="ctr" defTabSz="412756"/>
            <a:endParaRPr lang="it-IT" sz="1600">
              <a:solidFill>
                <a:srgbClr val="FFFFFF"/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5" name="Tema / Titolo / Docente  |  00. 00. 0000">
            <a:extLst>
              <a:ext uri="{FF2B5EF4-FFF2-40B4-BE49-F238E27FC236}">
                <a16:creationId xmlns:a16="http://schemas.microsoft.com/office/drawing/2014/main" id="{43EB2AAE-2F64-43C5-B8E8-F199350D7390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>
              <a:lnSpc>
                <a:spcPct val="100000"/>
              </a:lnSpc>
              <a:defRPr sz="1200">
                <a:solidFill>
                  <a:schemeClr val="tx2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sp>
        <p:nvSpPr>
          <p:cNvPr id="16" name="Titolo 5">
            <a:extLst>
              <a:ext uri="{FF2B5EF4-FFF2-40B4-BE49-F238E27FC236}">
                <a16:creationId xmlns:a16="http://schemas.microsoft.com/office/drawing/2014/main" id="{E8F7923B-B8EC-4C6A-A6CA-70D16747D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376" y="3448466"/>
            <a:ext cx="6953096" cy="2108271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Inserire titolo</a:t>
            </a:r>
            <a:br>
              <a:rPr lang="it-IT"/>
            </a:br>
            <a:r>
              <a:rPr lang="it-IT"/>
              <a:t>Presentazione</a:t>
            </a:r>
          </a:p>
        </p:txBody>
      </p:sp>
      <p:sp>
        <p:nvSpPr>
          <p:cNvPr id="18" name="Segnaposto testo 11">
            <a:extLst>
              <a:ext uri="{FF2B5EF4-FFF2-40B4-BE49-F238E27FC236}">
                <a16:creationId xmlns:a16="http://schemas.microsoft.com/office/drawing/2014/main" id="{7B2691BB-C18A-4BDF-B8C5-3FE9669646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0710" y="2898987"/>
            <a:ext cx="4833938" cy="392112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Sottotitolo</a:t>
            </a:r>
          </a:p>
        </p:txBody>
      </p:sp>
    </p:spTree>
    <p:extLst>
      <p:ext uri="{BB962C8B-B14F-4D97-AF65-F5344CB8AC3E}">
        <p14:creationId xmlns:p14="http://schemas.microsoft.com/office/powerpoint/2010/main" val="15475574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udente-6.jpg">
            <a:extLst>
              <a:ext uri="{FF2B5EF4-FFF2-40B4-BE49-F238E27FC236}">
                <a16:creationId xmlns:a16="http://schemas.microsoft.com/office/drawing/2014/main" id="{9A8088A1-BE02-A45C-F2B7-D9182C7D25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" t="901" r="14721" b="26146"/>
          <a:stretch/>
        </p:blipFill>
        <p:spPr>
          <a:xfrm>
            <a:off x="1" y="-15446"/>
            <a:ext cx="12202569" cy="6873447"/>
          </a:xfrm>
          <a:prstGeom prst="rect">
            <a:avLst/>
          </a:prstGeom>
        </p:spPr>
      </p:pic>
      <p:sp>
        <p:nvSpPr>
          <p:cNvPr id="13" name="Rettangolo">
            <a:extLst>
              <a:ext uri="{FF2B5EF4-FFF2-40B4-BE49-F238E27FC236}">
                <a16:creationId xmlns:a16="http://schemas.microsoft.com/office/drawing/2014/main" id="{C0958222-67A2-407E-B29D-7EAE366C03C4}"/>
              </a:ext>
            </a:extLst>
          </p:cNvPr>
          <p:cNvSpPr/>
          <p:nvPr userDrawn="1"/>
        </p:nvSpPr>
        <p:spPr>
          <a:xfrm>
            <a:off x="-9775" y="0"/>
            <a:ext cx="1221234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46000">
                <a:schemeClr val="accent1">
                  <a:alpha val="40000"/>
                </a:schemeClr>
              </a:gs>
              <a:gs pos="72000">
                <a:schemeClr val="accent1"/>
              </a:gs>
            </a:gsLst>
            <a:lin ang="5400000" scaled="0"/>
            <a:tileRect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Linea">
            <a:extLst>
              <a:ext uri="{FF2B5EF4-FFF2-40B4-BE49-F238E27FC236}">
                <a16:creationId xmlns:a16="http://schemas.microsoft.com/office/drawing/2014/main" id="{B39406AE-79B6-49A1-923B-123760D8505F}"/>
              </a:ext>
            </a:extLst>
          </p:cNvPr>
          <p:cNvSpPr/>
          <p:nvPr userDrawn="1"/>
        </p:nvSpPr>
        <p:spPr>
          <a:xfrm>
            <a:off x="0" y="1980994"/>
            <a:ext cx="12192795" cy="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sp>
        <p:nvSpPr>
          <p:cNvPr id="17" name="Linea">
            <a:extLst>
              <a:ext uri="{FF2B5EF4-FFF2-40B4-BE49-F238E27FC236}">
                <a16:creationId xmlns:a16="http://schemas.microsoft.com/office/drawing/2014/main" id="{DCC9F3C9-7921-43F1-BB63-5744C63E565E}"/>
              </a:ext>
            </a:extLst>
          </p:cNvPr>
          <p:cNvSpPr/>
          <p:nvPr userDrawn="1"/>
        </p:nvSpPr>
        <p:spPr>
          <a:xfrm flipV="1">
            <a:off x="10715224" y="15448"/>
            <a:ext cx="0" cy="6827108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37EF6FA-9E02-465C-BF2C-F79206AB58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15" y="340536"/>
            <a:ext cx="2520000" cy="1099885"/>
          </a:xfrm>
          <a:prstGeom prst="rect">
            <a:avLst/>
          </a:prstGeom>
        </p:spPr>
      </p:pic>
      <p:sp>
        <p:nvSpPr>
          <p:cNvPr id="10" name="Ovale 9">
            <a:extLst>
              <a:ext uri="{FF2B5EF4-FFF2-40B4-BE49-F238E27FC236}">
                <a16:creationId xmlns:a16="http://schemas.microsoft.com/office/drawing/2014/main" id="{1CCADD42-EE9E-4858-B6FB-01BA6E38FAD3}"/>
              </a:ext>
            </a:extLst>
          </p:cNvPr>
          <p:cNvSpPr/>
          <p:nvPr userDrawn="1"/>
        </p:nvSpPr>
        <p:spPr>
          <a:xfrm rot="20927104">
            <a:off x="-172754" y="1980994"/>
            <a:ext cx="10887979" cy="10887270"/>
          </a:xfrm>
          <a:prstGeom prst="ellipse">
            <a:avLst/>
          </a:prstGeom>
          <a:gradFill flip="none" rotWithShape="1">
            <a:gsLst>
              <a:gs pos="9000">
                <a:schemeClr val="bg1">
                  <a:alpha val="40000"/>
                </a:scheme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  <p:sp>
        <p:nvSpPr>
          <p:cNvPr id="15" name="Tema / Titolo / Docente  |  00. 00. 0000">
            <a:extLst>
              <a:ext uri="{FF2B5EF4-FFF2-40B4-BE49-F238E27FC236}">
                <a16:creationId xmlns:a16="http://schemas.microsoft.com/office/drawing/2014/main" id="{43EB2AAE-2F64-43C5-B8E8-F199350D7390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>
              <a:lnSpc>
                <a:spcPct val="100000"/>
              </a:lnSpc>
              <a:defRPr sz="120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sp>
        <p:nvSpPr>
          <p:cNvPr id="16" name="Titolo 5">
            <a:extLst>
              <a:ext uri="{FF2B5EF4-FFF2-40B4-BE49-F238E27FC236}">
                <a16:creationId xmlns:a16="http://schemas.microsoft.com/office/drawing/2014/main" id="{E8F7923B-B8EC-4C6A-A6CA-70D16747D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376" y="3448466"/>
            <a:ext cx="6953096" cy="2108271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Inserire titolo</a:t>
            </a:r>
            <a:br>
              <a:rPr lang="it-IT"/>
            </a:br>
            <a:r>
              <a:rPr lang="it-IT"/>
              <a:t>Presentazione</a:t>
            </a:r>
          </a:p>
        </p:txBody>
      </p:sp>
      <p:sp>
        <p:nvSpPr>
          <p:cNvPr id="18" name="Segnaposto testo 11">
            <a:extLst>
              <a:ext uri="{FF2B5EF4-FFF2-40B4-BE49-F238E27FC236}">
                <a16:creationId xmlns:a16="http://schemas.microsoft.com/office/drawing/2014/main" id="{7B2691BB-C18A-4BDF-B8C5-3FE9669646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0710" y="2898987"/>
            <a:ext cx="4833938" cy="392112"/>
          </a:xfrm>
        </p:spPr>
        <p:txBody>
          <a:bodyPr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Sottotitolo</a:t>
            </a:r>
          </a:p>
        </p:txBody>
      </p:sp>
    </p:spTree>
    <p:extLst>
      <p:ext uri="{BB962C8B-B14F-4D97-AF65-F5344CB8AC3E}">
        <p14:creationId xmlns:p14="http://schemas.microsoft.com/office/powerpoint/2010/main" val="41968423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Finale">
    <p:bg>
      <p:bgPr>
        <a:gradFill>
          <a:gsLst>
            <a:gs pos="0">
              <a:schemeClr val="tx1"/>
            </a:gs>
            <a:gs pos="100000">
              <a:srgbClr val="102C5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92CDFEA-FF7C-9DA5-4228-4AE0B1E8FB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164" y="274034"/>
            <a:ext cx="3114203" cy="1359232"/>
          </a:xfrm>
          <a:prstGeom prst="rect">
            <a:avLst/>
          </a:prstGeom>
        </p:spPr>
      </p:pic>
      <p:sp>
        <p:nvSpPr>
          <p:cNvPr id="5" name="Cerchio">
            <a:extLst>
              <a:ext uri="{FF2B5EF4-FFF2-40B4-BE49-F238E27FC236}">
                <a16:creationId xmlns:a16="http://schemas.microsoft.com/office/drawing/2014/main" id="{5F9D2376-F92C-70CC-7E4A-0F195E3EA543}"/>
              </a:ext>
            </a:extLst>
          </p:cNvPr>
          <p:cNvSpPr/>
          <p:nvPr userDrawn="1"/>
        </p:nvSpPr>
        <p:spPr>
          <a:xfrm rot="10800000">
            <a:off x="7559558" y="-1156784"/>
            <a:ext cx="4010434" cy="4010172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368"/>
                </a:srgbClr>
              </a:gs>
              <a:gs pos="13661">
                <a:srgbClr val="8896A9">
                  <a:alpha val="15184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6" name="Cerchio">
            <a:extLst>
              <a:ext uri="{FF2B5EF4-FFF2-40B4-BE49-F238E27FC236}">
                <a16:creationId xmlns:a16="http://schemas.microsoft.com/office/drawing/2014/main" id="{A0BCD1D3-187F-0F81-48F7-30E4CB14B416}"/>
              </a:ext>
            </a:extLst>
          </p:cNvPr>
          <p:cNvSpPr/>
          <p:nvPr userDrawn="1"/>
        </p:nvSpPr>
        <p:spPr>
          <a:xfrm>
            <a:off x="7559559" y="2853390"/>
            <a:ext cx="4010432" cy="4010171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000"/>
                </a:srgbClr>
              </a:gs>
              <a:gs pos="13661">
                <a:srgbClr val="8896A9">
                  <a:alpha val="14846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>
                    <a:alpha val="20092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>
              <a:latin typeface="Manrope" pitchFamily="2" charset="0"/>
              <a:cs typeface="Arial" panose="020B0604020202020204" pitchFamily="34" charset="0"/>
            </a:endParaRP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2B7B3A0A-3A1B-42DE-B9AE-23655BAD3745}"/>
              </a:ext>
            </a:extLst>
          </p:cNvPr>
          <p:cNvCxnSpPr>
            <a:cxnSpLocks/>
          </p:cNvCxnSpPr>
          <p:nvPr userDrawn="1"/>
        </p:nvCxnSpPr>
        <p:spPr>
          <a:xfrm>
            <a:off x="11569992" y="0"/>
            <a:ext cx="0" cy="685800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FD11F552-5459-4905-94FE-760C82166453}"/>
              </a:ext>
            </a:extLst>
          </p:cNvPr>
          <p:cNvCxnSpPr>
            <a:cxnSpLocks/>
          </p:cNvCxnSpPr>
          <p:nvPr userDrawn="1"/>
        </p:nvCxnSpPr>
        <p:spPr>
          <a:xfrm>
            <a:off x="7534019" y="0"/>
            <a:ext cx="0" cy="685800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FFD66269-DBF7-485E-8F18-092A9E8BABC4}"/>
              </a:ext>
            </a:extLst>
          </p:cNvPr>
          <p:cNvCxnSpPr>
            <a:cxnSpLocks/>
          </p:cNvCxnSpPr>
          <p:nvPr userDrawn="1"/>
        </p:nvCxnSpPr>
        <p:spPr>
          <a:xfrm>
            <a:off x="0" y="2853390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1109DBD9-E7E8-4D94-8FA4-DE3F5B0CDE0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5" y="5600723"/>
            <a:ext cx="3866418" cy="647700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B687397-6A15-4CE0-9CC3-0FF15282E829}"/>
              </a:ext>
            </a:extLst>
          </p:cNvPr>
          <p:cNvSpPr txBox="1"/>
          <p:nvPr userDrawn="1"/>
        </p:nvSpPr>
        <p:spPr>
          <a:xfrm>
            <a:off x="534085" y="5022987"/>
            <a:ext cx="3932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1">
                <a:solidFill>
                  <a:schemeClr val="bg1"/>
                </a:solidFill>
              </a:rPr>
              <a:t>Contatti</a:t>
            </a:r>
          </a:p>
        </p:txBody>
      </p:sp>
    </p:spTree>
    <p:extLst>
      <p:ext uri="{BB962C8B-B14F-4D97-AF65-F5344CB8AC3E}">
        <p14:creationId xmlns:p14="http://schemas.microsoft.com/office/powerpoint/2010/main" val="4114000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93F0EDA-05BE-4DD7-962F-394BE0791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11522075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0C82C2-529C-45CC-B0FD-8E1A68BA4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2060575"/>
            <a:ext cx="11522075" cy="4429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0"/>
            <a:r>
              <a:rPr lang="it-IT"/>
              <a:t>Secondo livello</a:t>
            </a:r>
          </a:p>
          <a:p>
            <a:pPr lvl="0"/>
            <a:r>
              <a:rPr lang="it-IT"/>
              <a:t>Terzo livello</a:t>
            </a:r>
          </a:p>
          <a:p>
            <a:pPr lvl="0"/>
            <a:r>
              <a:rPr lang="it-IT"/>
              <a:t>Quarto livello</a:t>
            </a:r>
          </a:p>
          <a:p>
            <a:pPr lvl="0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0DE2DC-DBA6-437E-BB4E-13D6007AE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A0A9B15-986F-4FFC-A0DB-4B3D896BA983}" type="datetime1">
              <a:rPr lang="it-IT" smtClean="0"/>
              <a:t>27/06/2026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2393C94-ABEE-455B-B13B-0EB6402D37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16275" y="39688"/>
            <a:ext cx="411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it-IT"/>
              <a:t>MA2 - Introduzione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A960919-4893-43E8-BAF3-C8C59F419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4538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21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0" r:id="rId3"/>
    <p:sldLayoutId id="2147483717" r:id="rId4"/>
    <p:sldLayoutId id="2147483681" r:id="rId5"/>
    <p:sldLayoutId id="2147483682" r:id="rId6"/>
    <p:sldLayoutId id="2147483719" r:id="rId7"/>
    <p:sldLayoutId id="2147483671" r:id="rId8"/>
    <p:sldLayoutId id="2147483726" r:id="rId9"/>
    <p:sldLayoutId id="2147483727" r:id="rId10"/>
    <p:sldLayoutId id="2147483662" r:id="rId11"/>
    <p:sldLayoutId id="2147483670" r:id="rId12"/>
    <p:sldLayoutId id="2147483720" r:id="rId13"/>
    <p:sldLayoutId id="2147483672" r:id="rId14"/>
    <p:sldLayoutId id="2147483677" r:id="rId15"/>
    <p:sldLayoutId id="2147483678" r:id="rId16"/>
    <p:sldLayoutId id="2147483721" r:id="rId17"/>
    <p:sldLayoutId id="2147483723" r:id="rId18"/>
    <p:sldLayoutId id="2147483724" r:id="rId19"/>
    <p:sldLayoutId id="2147483673" r:id="rId20"/>
    <p:sldLayoutId id="2147483674" r:id="rId21"/>
    <p:sldLayoutId id="2147483725" r:id="rId22"/>
    <p:sldLayoutId id="2147483675" r:id="rId23"/>
    <p:sldLayoutId id="2147483676" r:id="rId24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69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pos="2026" userDrawn="1">
          <p15:clr>
            <a:srgbClr val="F26B43"/>
          </p15:clr>
        </p15:guide>
        <p15:guide id="4" pos="1799" userDrawn="1">
          <p15:clr>
            <a:srgbClr val="F26B43"/>
          </p15:clr>
        </p15:guide>
        <p15:guide id="5" orient="horz" pos="1298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  <p15:guide id="7" orient="horz" pos="255" userDrawn="1">
          <p15:clr>
            <a:srgbClr val="F26B43"/>
          </p15:clr>
        </p15:guide>
        <p15:guide id="8" orient="horz" pos="981" userDrawn="1">
          <p15:clr>
            <a:srgbClr val="F26B43"/>
          </p15:clr>
        </p15:guide>
        <p15:guide id="9" orient="horz" pos="504" userDrawn="1">
          <p15:clr>
            <a:srgbClr val="F26B43"/>
          </p15:clr>
        </p15:guide>
        <p15:guide id="10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93F0EDA-05BE-4DD7-962F-394BE0791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11522075" cy="84008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endParaRPr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0C82C2-529C-45CC-B0FD-8E1A68BA4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2060575"/>
            <a:ext cx="11522075" cy="4429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066552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12" r:id="rId2"/>
    <p:sldLayoutId id="2147483705" r:id="rId3"/>
    <p:sldLayoutId id="2147483706" r:id="rId4"/>
    <p:sldLayoutId id="2147483709" r:id="rId5"/>
    <p:sldLayoutId id="2147483714" r:id="rId6"/>
    <p:sldLayoutId id="2147483729" r:id="rId7"/>
    <p:sldLayoutId id="2147483715" r:id="rId8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69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pos="2026" userDrawn="1">
          <p15:clr>
            <a:srgbClr val="F26B43"/>
          </p15:clr>
        </p15:guide>
        <p15:guide id="4" pos="1799" userDrawn="1">
          <p15:clr>
            <a:srgbClr val="F26B43"/>
          </p15:clr>
        </p15:guide>
        <p15:guide id="5" orient="horz" pos="1298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  <p15:guide id="7" orient="horz" pos="255" userDrawn="1">
          <p15:clr>
            <a:srgbClr val="F26B43"/>
          </p15:clr>
        </p15:guide>
        <p15:guide id="8" orient="horz" pos="981" userDrawn="1">
          <p15:clr>
            <a:srgbClr val="F26B43"/>
          </p15:clr>
        </p15:guide>
        <p15:guide id="9" orient="horz" pos="504" userDrawn="1">
          <p15:clr>
            <a:srgbClr val="F26B43"/>
          </p15:clr>
        </p15:guide>
        <p15:guide id="10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10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1810.png"/><Relationship Id="rId18" Type="http://schemas.openxmlformats.org/officeDocument/2006/relationships/image" Target="../media/image35.png"/><Relationship Id="rId3" Type="http://schemas.openxmlformats.org/officeDocument/2006/relationships/image" Target="../media/image13.png"/><Relationship Id="rId7" Type="http://schemas.openxmlformats.org/officeDocument/2006/relationships/image" Target="../media/image25.png"/><Relationship Id="rId12" Type="http://schemas.openxmlformats.org/officeDocument/2006/relationships/image" Target="../media/image17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18.png"/><Relationship Id="rId15" Type="http://schemas.openxmlformats.org/officeDocument/2006/relationships/image" Target="../media/image32.png"/><Relationship Id="rId10" Type="http://schemas.openxmlformats.org/officeDocument/2006/relationships/image" Target="../media/image28.png"/><Relationship Id="rId4" Type="http://schemas.openxmlformats.org/officeDocument/2006/relationships/image" Target="../media/image14.png"/><Relationship Id="rId9" Type="http://schemas.openxmlformats.org/officeDocument/2006/relationships/image" Target="../media/image27.png"/><Relationship Id="rId1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4.png"/><Relationship Id="rId3" Type="http://schemas.openxmlformats.org/officeDocument/2006/relationships/image" Target="../media/image30.png"/><Relationship Id="rId7" Type="http://schemas.openxmlformats.org/officeDocument/2006/relationships/image" Target="../media/image39.png"/><Relationship Id="rId12" Type="http://schemas.openxmlformats.org/officeDocument/2006/relationships/image" Target="../media/image4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11" Type="http://schemas.openxmlformats.org/officeDocument/2006/relationships/image" Target="../media/image42.png"/><Relationship Id="rId5" Type="http://schemas.openxmlformats.org/officeDocument/2006/relationships/image" Target="../media/image1810.png"/><Relationship Id="rId10" Type="http://schemas.openxmlformats.org/officeDocument/2006/relationships/image" Target="../media/image41.png"/><Relationship Id="rId4" Type="http://schemas.openxmlformats.org/officeDocument/2006/relationships/image" Target="../media/image37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0.jpeg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3.png"/><Relationship Id="rId5" Type="http://schemas.openxmlformats.org/officeDocument/2006/relationships/image" Target="../media/image50.jpeg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55.png"/><Relationship Id="rId7" Type="http://schemas.openxmlformats.org/officeDocument/2006/relationships/image" Target="../media/image6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8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2.png"/><Relationship Id="rId4" Type="http://schemas.openxmlformats.org/officeDocument/2006/relationships/image" Target="../media/image7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e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7" Type="http://schemas.openxmlformats.org/officeDocument/2006/relationships/image" Target="../media/image103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0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1.png"/><Relationship Id="rId5" Type="http://schemas.openxmlformats.org/officeDocument/2006/relationships/image" Target="../media/image60.png"/><Relationship Id="rId4" Type="http://schemas.openxmlformats.org/officeDocument/2006/relationships/image" Target="../media/image1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124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3.png"/><Relationship Id="rId5" Type="http://schemas.openxmlformats.org/officeDocument/2006/relationships/image" Target="../media/image129.png"/><Relationship Id="rId4" Type="http://schemas.openxmlformats.org/officeDocument/2006/relationships/image" Target="../media/image6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0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6.png"/><Relationship Id="rId4" Type="http://schemas.openxmlformats.org/officeDocument/2006/relationships/image" Target="../media/image14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1.png"/><Relationship Id="rId4" Type="http://schemas.openxmlformats.org/officeDocument/2006/relationships/image" Target="../media/image15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7" Type="http://schemas.openxmlformats.org/officeDocument/2006/relationships/image" Target="../media/image15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6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3.png"/><Relationship Id="rId5" Type="http://schemas.openxmlformats.org/officeDocument/2006/relationships/image" Target="../media/image162.png"/><Relationship Id="rId4" Type="http://schemas.openxmlformats.org/officeDocument/2006/relationships/image" Target="../media/image159.png"/></Relationships>
</file>

<file path=ppt/slides/_rels/slide5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6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7.png"/></Relationships>
</file>

<file path=ppt/slides/_rels/slide5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7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5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7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172.png"/></Relationships>
</file>

<file path=ppt/slides/_rels/slide5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7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65.png"/><Relationship Id="rId5" Type="http://schemas.openxmlformats.org/officeDocument/2006/relationships/image" Target="../media/image175.png"/><Relationship Id="rId4" Type="http://schemas.openxmlformats.org/officeDocument/2006/relationships/image" Target="../media/image167.png"/></Relationships>
</file>

<file path=ppt/slides/_rels/slide5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8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0.png"/><Relationship Id="rId5" Type="http://schemas.openxmlformats.org/officeDocument/2006/relationships/image" Target="../media/image179.png"/><Relationship Id="rId4" Type="http://schemas.openxmlformats.org/officeDocument/2006/relationships/image" Target="../media/image177.png"/></Relationships>
</file>

<file path=ppt/slides/_rels/slide6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8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4.png"/><Relationship Id="rId5" Type="http://schemas.openxmlformats.org/officeDocument/2006/relationships/image" Target="../media/image183.png"/><Relationship Id="rId4" Type="http://schemas.openxmlformats.org/officeDocument/2006/relationships/image" Target="../media/image182.png"/></Relationships>
</file>

<file path=ppt/slides/_rels/slide6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9.png"/><Relationship Id="rId5" Type="http://schemas.openxmlformats.org/officeDocument/2006/relationships/image" Target="../media/image187.png"/><Relationship Id="rId4" Type="http://schemas.openxmlformats.org/officeDocument/2006/relationships/image" Target="../media/image18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1.png"/><Relationship Id="rId4" Type="http://schemas.openxmlformats.org/officeDocument/2006/relationships/image" Target="../media/image19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4.png"/><Relationship Id="rId4" Type="http://schemas.openxmlformats.org/officeDocument/2006/relationships/image" Target="../media/image19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5.png"/><Relationship Id="rId4" Type="http://schemas.openxmlformats.org/officeDocument/2006/relationships/image" Target="../media/image19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6.jpeg"/><Relationship Id="rId4" Type="http://schemas.openxmlformats.org/officeDocument/2006/relationships/image" Target="../media/image19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7.jpeg"/><Relationship Id="rId4" Type="http://schemas.openxmlformats.org/officeDocument/2006/relationships/image" Target="../media/image19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7" Type="http://schemas.openxmlformats.org/officeDocument/2006/relationships/image" Target="../media/image2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9.png"/><Relationship Id="rId5" Type="http://schemas.openxmlformats.org/officeDocument/2006/relationships/image" Target="../media/image198.png"/><Relationship Id="rId4" Type="http://schemas.openxmlformats.org/officeDocument/2006/relationships/image" Target="../media/image20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7" Type="http://schemas.microsoft.com/office/2007/relationships/hdphoto" Target="../media/hdphoto2.wd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1.png"/><Relationship Id="rId5" Type="http://schemas.openxmlformats.org/officeDocument/2006/relationships/image" Target="../media/image211.png"/><Relationship Id="rId4" Type="http://schemas.openxmlformats.org/officeDocument/2006/relationships/image" Target="../media/image19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3.png"/><Relationship Id="rId4" Type="http://schemas.openxmlformats.org/officeDocument/2006/relationships/image" Target="../media/image19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7" Type="http://schemas.openxmlformats.org/officeDocument/2006/relationships/image" Target="../media/image2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8.png"/><Relationship Id="rId5" Type="http://schemas.openxmlformats.org/officeDocument/2006/relationships/image" Target="../media/image198.png"/><Relationship Id="rId4" Type="http://schemas.openxmlformats.org/officeDocument/2006/relationships/image" Target="../media/image215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7" Type="http://schemas.openxmlformats.org/officeDocument/2006/relationships/image" Target="../media/image2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9.png"/><Relationship Id="rId5" Type="http://schemas.openxmlformats.org/officeDocument/2006/relationships/image" Target="../media/image208.png"/><Relationship Id="rId4" Type="http://schemas.openxmlformats.org/officeDocument/2006/relationships/image" Target="../media/image198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215.png"/><Relationship Id="rId7" Type="http://schemas.openxmlformats.org/officeDocument/2006/relationships/image" Target="../media/image2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7.png"/><Relationship Id="rId5" Type="http://schemas.openxmlformats.org/officeDocument/2006/relationships/image" Target="../media/image208.png"/><Relationship Id="rId4" Type="http://schemas.openxmlformats.org/officeDocument/2006/relationships/image" Target="../media/image198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7" Type="http://schemas.openxmlformats.org/officeDocument/2006/relationships/image" Target="../media/image2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4.png"/><Relationship Id="rId5" Type="http://schemas.openxmlformats.org/officeDocument/2006/relationships/image" Target="../media/image213.png"/><Relationship Id="rId4" Type="http://schemas.openxmlformats.org/officeDocument/2006/relationships/image" Target="../media/image222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png"/><Relationship Id="rId3" Type="http://schemas.openxmlformats.org/officeDocument/2006/relationships/image" Target="../media/image221.png"/><Relationship Id="rId7" Type="http://schemas.openxmlformats.org/officeDocument/2006/relationships/image" Target="../media/image2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4.png"/><Relationship Id="rId5" Type="http://schemas.openxmlformats.org/officeDocument/2006/relationships/image" Target="../media/image213.png"/><Relationship Id="rId4" Type="http://schemas.openxmlformats.org/officeDocument/2006/relationships/image" Target="../media/image222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png"/><Relationship Id="rId3" Type="http://schemas.openxmlformats.org/officeDocument/2006/relationships/image" Target="../media/image221.png"/><Relationship Id="rId7" Type="http://schemas.openxmlformats.org/officeDocument/2006/relationships/image" Target="../media/image2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4.png"/><Relationship Id="rId5" Type="http://schemas.openxmlformats.org/officeDocument/2006/relationships/image" Target="../media/image213.png"/><Relationship Id="rId4" Type="http://schemas.openxmlformats.org/officeDocument/2006/relationships/image" Target="../media/image222.png"/><Relationship Id="rId9" Type="http://schemas.openxmlformats.org/officeDocument/2006/relationships/image" Target="../media/image216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png"/><Relationship Id="rId3" Type="http://schemas.openxmlformats.org/officeDocument/2006/relationships/image" Target="../media/image221.png"/><Relationship Id="rId7" Type="http://schemas.openxmlformats.org/officeDocument/2006/relationships/image" Target="../media/image2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4.png"/><Relationship Id="rId5" Type="http://schemas.openxmlformats.org/officeDocument/2006/relationships/image" Target="../media/image213.png"/><Relationship Id="rId10" Type="http://schemas.openxmlformats.org/officeDocument/2006/relationships/image" Target="../media/image216.png"/><Relationship Id="rId4" Type="http://schemas.openxmlformats.org/officeDocument/2006/relationships/image" Target="../media/image222.png"/><Relationship Id="rId9" Type="http://schemas.openxmlformats.org/officeDocument/2006/relationships/image" Target="../media/image225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4.png"/><Relationship Id="rId4" Type="http://schemas.openxmlformats.org/officeDocument/2006/relationships/image" Target="../media/image22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7.png"/><Relationship Id="rId5" Type="http://schemas.openxmlformats.org/officeDocument/2006/relationships/image" Target="../media/image226.png"/><Relationship Id="rId4" Type="http://schemas.openxmlformats.org/officeDocument/2006/relationships/image" Target="../media/image233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8.png"/><Relationship Id="rId4" Type="http://schemas.openxmlformats.org/officeDocument/2006/relationships/image" Target="../media/image237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7" Type="http://schemas.openxmlformats.org/officeDocument/2006/relationships/image" Target="../media/image185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3.png"/><Relationship Id="rId5" Type="http://schemas.openxmlformats.org/officeDocument/2006/relationships/image" Target="../media/image214.png"/><Relationship Id="rId4" Type="http://schemas.openxmlformats.org/officeDocument/2006/relationships/image" Target="../media/image208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1.png"/><Relationship Id="rId5" Type="http://schemas.openxmlformats.org/officeDocument/2006/relationships/image" Target="../media/image226.png"/><Relationship Id="rId4" Type="http://schemas.openxmlformats.org/officeDocument/2006/relationships/image" Target="../media/image23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5.png"/><Relationship Id="rId4" Type="http://schemas.openxmlformats.org/officeDocument/2006/relationships/image" Target="../media/image234.png"/></Relationships>
</file>

<file path=ppt/slides/_rels/slide8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16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3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4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2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image" Target="../media/image25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4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14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9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png"/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67.png"/><Relationship Id="rId5" Type="http://schemas.openxmlformats.org/officeDocument/2006/relationships/image" Target="../media/image259.png"/><Relationship Id="rId4" Type="http://schemas.openxmlformats.org/officeDocument/2006/relationships/image" Target="../media/image265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9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6.png"/><Relationship Id="rId5" Type="http://schemas.openxmlformats.org/officeDocument/2006/relationships/image" Target="../media/image271.png"/><Relationship Id="rId4" Type="http://schemas.openxmlformats.org/officeDocument/2006/relationships/image" Target="../media/image269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0.png"/><Relationship Id="rId4" Type="http://schemas.openxmlformats.org/officeDocument/2006/relationships/image" Target="../media/image269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png"/><Relationship Id="rId3" Type="http://schemas.openxmlformats.org/officeDocument/2006/relationships/image" Target="../media/image274.png"/><Relationship Id="rId7" Type="http://schemas.openxmlformats.org/officeDocument/2006/relationships/image" Target="../media/image27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7.png"/><Relationship Id="rId5" Type="http://schemas.openxmlformats.org/officeDocument/2006/relationships/image" Target="../media/image262.png"/><Relationship Id="rId4" Type="http://schemas.openxmlformats.org/officeDocument/2006/relationships/image" Target="../media/image275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3.png"/><Relationship Id="rId5" Type="http://schemas.openxmlformats.org/officeDocument/2006/relationships/image" Target="../media/image282.png"/><Relationship Id="rId4" Type="http://schemas.openxmlformats.org/officeDocument/2006/relationships/image" Target="../media/image28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7" Type="http://schemas.openxmlformats.org/officeDocument/2006/relationships/image" Target="../media/image26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5.png"/><Relationship Id="rId5" Type="http://schemas.openxmlformats.org/officeDocument/2006/relationships/image" Target="../media/image284.png"/><Relationship Id="rId4" Type="http://schemas.openxmlformats.org/officeDocument/2006/relationships/image" Target="../media/image28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3.png"/><Relationship Id="rId5" Type="http://schemas.openxmlformats.org/officeDocument/2006/relationships/image" Target="../media/image286.png"/><Relationship Id="rId4" Type="http://schemas.openxmlformats.org/officeDocument/2006/relationships/image" Target="../media/image28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3.png"/><Relationship Id="rId5" Type="http://schemas.openxmlformats.org/officeDocument/2006/relationships/image" Target="../media/image287.png"/><Relationship Id="rId4" Type="http://schemas.openxmlformats.org/officeDocument/2006/relationships/image" Target="../media/image28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8.png"/><Relationship Id="rId4" Type="http://schemas.openxmlformats.org/officeDocument/2006/relationships/image" Target="../media/image281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4.png"/><Relationship Id="rId5" Type="http://schemas.openxmlformats.org/officeDocument/2006/relationships/image" Target="../media/image290.png"/><Relationship Id="rId4" Type="http://schemas.openxmlformats.org/officeDocument/2006/relationships/image" Target="../media/image28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6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6.png"/><Relationship Id="rId5" Type="http://schemas.openxmlformats.org/officeDocument/2006/relationships/image" Target="../media/image294.png"/><Relationship Id="rId4" Type="http://schemas.openxmlformats.org/officeDocument/2006/relationships/image" Target="../media/image273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6.png"/><Relationship Id="rId7" Type="http://schemas.openxmlformats.org/officeDocument/2006/relationships/image" Target="../media/image29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1.png"/><Relationship Id="rId5" Type="http://schemas.openxmlformats.org/officeDocument/2006/relationships/image" Target="../media/image283.png"/><Relationship Id="rId4" Type="http://schemas.openxmlformats.org/officeDocument/2006/relationships/image" Target="../media/image281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5.png"/><Relationship Id="rId4" Type="http://schemas.openxmlformats.org/officeDocument/2006/relationships/image" Target="../media/image293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8.png"/><Relationship Id="rId5" Type="http://schemas.openxmlformats.org/officeDocument/2006/relationships/image" Target="../media/image296.png"/><Relationship Id="rId4" Type="http://schemas.openxmlformats.org/officeDocument/2006/relationships/image" Target="../media/image297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7.png"/><Relationship Id="rId5" Type="http://schemas.openxmlformats.org/officeDocument/2006/relationships/image" Target="../media/image298.png"/><Relationship Id="rId4" Type="http://schemas.openxmlformats.org/officeDocument/2006/relationships/image" Target="../media/image296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9.png"/><Relationship Id="rId5" Type="http://schemas.openxmlformats.org/officeDocument/2006/relationships/image" Target="../media/image308.png"/><Relationship Id="rId4" Type="http://schemas.openxmlformats.org/officeDocument/2006/relationships/image" Target="../media/image299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9.png"/><Relationship Id="rId4" Type="http://schemas.openxmlformats.org/officeDocument/2006/relationships/image" Target="../media/image300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9.png"/><Relationship Id="rId5" Type="http://schemas.openxmlformats.org/officeDocument/2006/relationships/image" Target="../media/image303.png"/><Relationship Id="rId4" Type="http://schemas.openxmlformats.org/officeDocument/2006/relationships/image" Target="../media/image312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4.png"/><Relationship Id="rId4" Type="http://schemas.openxmlformats.org/officeDocument/2006/relationships/image" Target="../media/image309.png"/></Relationships>
</file>

<file path=ppt/slides/_rels/slide1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png"/><Relationship Id="rId3" Type="http://schemas.openxmlformats.org/officeDocument/2006/relationships/image" Target="../media/image316.png"/><Relationship Id="rId7" Type="http://schemas.openxmlformats.org/officeDocument/2006/relationships/image" Target="../media/image32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9.png"/><Relationship Id="rId5" Type="http://schemas.openxmlformats.org/officeDocument/2006/relationships/image" Target="../media/image318.png"/><Relationship Id="rId4" Type="http://schemas.openxmlformats.org/officeDocument/2006/relationships/image" Target="../media/image305.jpeg"/><Relationship Id="rId9" Type="http://schemas.openxmlformats.org/officeDocument/2006/relationships/image" Target="../media/image322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5.png"/><Relationship Id="rId4" Type="http://schemas.openxmlformats.org/officeDocument/2006/relationships/image" Target="../media/image310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3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9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3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4.png"/><Relationship Id="rId4" Type="http://schemas.openxmlformats.org/officeDocument/2006/relationships/image" Target="../media/image333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7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3.png"/><Relationship Id="rId4" Type="http://schemas.openxmlformats.org/officeDocument/2006/relationships/image" Target="../media/image342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6.png"/><Relationship Id="rId4" Type="http://schemas.openxmlformats.org/officeDocument/2006/relationships/image" Target="../media/image345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6.png"/><Relationship Id="rId4" Type="http://schemas.openxmlformats.org/officeDocument/2006/relationships/image" Target="../media/image33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0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9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1.png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4.png"/><Relationship Id="rId3" Type="http://schemas.openxmlformats.org/officeDocument/2006/relationships/image" Target="../media/image359.png"/><Relationship Id="rId7" Type="http://schemas.openxmlformats.org/officeDocument/2006/relationships/image" Target="../media/image36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2.png"/><Relationship Id="rId5" Type="http://schemas.openxmlformats.org/officeDocument/2006/relationships/image" Target="../media/image361.png"/><Relationship Id="rId10" Type="http://schemas.openxmlformats.org/officeDocument/2006/relationships/image" Target="../media/image346.png"/><Relationship Id="rId4" Type="http://schemas.openxmlformats.org/officeDocument/2006/relationships/image" Target="../media/image360.png"/><Relationship Id="rId9" Type="http://schemas.openxmlformats.org/officeDocument/2006/relationships/image" Target="../media/image353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6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6.png"/><Relationship Id="rId4" Type="http://schemas.openxmlformats.org/officeDocument/2006/relationships/image" Target="../media/image100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7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2.png"/><Relationship Id="rId5" Type="http://schemas.openxmlformats.org/officeDocument/2006/relationships/image" Target="../media/image100.png"/><Relationship Id="rId4" Type="http://schemas.openxmlformats.org/officeDocument/2006/relationships/image" Target="../media/image346.png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14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hyperlink" Target="https://it.mathworks.com/help/robust/index.html" TargetMode="Externa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3.svg"/><Relationship Id="rId5" Type="http://schemas.openxmlformats.org/officeDocument/2006/relationships/image" Target="../media/image352.png"/><Relationship Id="rId4" Type="http://schemas.openxmlformats.org/officeDocument/2006/relationships/hyperlink" Target="https://antx.it/educational-products-antx/dronelab-v2-antx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026BBB7E-2B72-48A5-B8AC-092CE1F3CB5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0709" y="5929933"/>
            <a:ext cx="5859726" cy="318490"/>
          </a:xfrm>
        </p:spPr>
        <p:txBody>
          <a:bodyPr vert="horz" lIns="45719" tIns="45719" rIns="45719" bIns="45719" rtlCol="0" anchor="t">
            <a:noAutofit/>
          </a:bodyPr>
          <a:lstStyle/>
          <a:p>
            <a:r>
              <a:rPr lang="en-US" noProof="0">
                <a:latin typeface="Manrope"/>
              </a:rPr>
              <a:t>26/05/26 </a:t>
            </a:r>
            <a:r>
              <a:rPr lang="en-US">
                <a:latin typeface="Manrope"/>
              </a:rPr>
              <a:t>– Giorgio Vedovi, </a:t>
            </a:r>
            <a:r>
              <a:rPr lang="en-US" noProof="0">
                <a:latin typeface="Manrope"/>
              </a:rPr>
              <a:t>Miguel Maria Barros Santos, Domenico Raffaele Acierno</a:t>
            </a:r>
            <a:endParaRPr lang="en-US"/>
          </a:p>
          <a:p>
            <a:endParaRPr lang="en-US" noProof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139C8332-124C-4AAA-8F96-961CED6E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709" y="2484593"/>
            <a:ext cx="8393162" cy="2990062"/>
          </a:xfrm>
        </p:spPr>
        <p:txBody>
          <a:bodyPr/>
          <a:lstStyle/>
          <a:p>
            <a:r>
              <a:rPr lang="en-US" sz="4000" b="0" noProof="0">
                <a:latin typeface="Manrope"/>
              </a:rPr>
              <a:t>Aerospace Control Systems</a:t>
            </a:r>
            <a:r>
              <a:rPr lang="en-US" sz="4800" b="0" noProof="0">
                <a:latin typeface="Manrope"/>
              </a:rPr>
              <a:t> </a:t>
            </a:r>
            <a:br>
              <a:rPr lang="en-US" sz="4800" b="0" noProof="0"/>
            </a:br>
            <a:r>
              <a:rPr lang="en-US" sz="4400" b="0" noProof="0">
                <a:latin typeface="Manrope"/>
              </a:rPr>
              <a:t>Exam project AA 25/2</a:t>
            </a:r>
            <a:r>
              <a:rPr lang="en-US" sz="4400" b="0" noProof="0"/>
              <a:t>6</a:t>
            </a:r>
            <a:br>
              <a:rPr lang="en-US" b="0" noProof="0"/>
            </a:br>
            <a:r>
              <a:rPr lang="en-US" sz="2800" noProof="0"/>
              <a:t>Robust multivariable control of the lateral/longitudinal dynamics of a multirotor UAV</a:t>
            </a:r>
            <a:br>
              <a:rPr lang="en-US" sz="2800" noProof="0"/>
            </a:br>
            <a:br>
              <a:rPr lang="en-US" sz="2800" noProof="0"/>
            </a:br>
            <a:endParaRPr lang="en-US" sz="2800" noProof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E7B1F04-891A-6E41-B243-D443FC1AE3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905" y="303349"/>
            <a:ext cx="3184798" cy="81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170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B24F56-3595-D4E6-341B-F3A4B5D67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Index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FE0C85E-3C31-B812-1698-AA0587620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77977-51FF-41AA-81B6-7EEC85327F95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0594D8B-7D4B-F9F6-D25B-A3853ACBD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t>2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7A02C0AD-2EE2-C119-91EC-CC37F9BB24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3054988"/>
            <a:ext cx="1574564" cy="344091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Problem definition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CCFB0039-04DD-DE4F-B3D4-A1ADBC1984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11630" y="3054988"/>
            <a:ext cx="1348787" cy="332803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TASK 1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908AD871-CE25-07DB-B94C-FCAA56FD4E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78609" y="3021120"/>
            <a:ext cx="1506831" cy="327159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TASK 2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5529CDD6-0DFB-484F-2560-14C15EF64B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86699" y="3004188"/>
            <a:ext cx="1489898" cy="338447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TASK 3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F21D541-B4DF-0489-34FF-1EE6DD391C4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60923" y="3021121"/>
            <a:ext cx="1388298" cy="332803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TASK 4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18A305AF-D118-B1A3-5F5A-857AE15275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3731136"/>
            <a:ext cx="1416519" cy="1882576"/>
          </a:xfrm>
        </p:spPr>
        <p:txBody>
          <a:bodyPr/>
          <a:lstStyle/>
          <a:p>
            <a:r>
              <a:rPr lang="en-US"/>
              <a:t>Quadrotor dynamics and coupling</a:t>
            </a:r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5313E066-ED97-CA1F-EF5F-51B97158B67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911630" y="3719848"/>
            <a:ext cx="1314920" cy="1888220"/>
          </a:xfrm>
        </p:spPr>
        <p:txBody>
          <a:bodyPr/>
          <a:lstStyle/>
          <a:p>
            <a:r>
              <a:rPr lang="en-US"/>
              <a:t>Nominal plant modeling and control design</a:t>
            </a:r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C24E3D8C-8CF8-2936-7DC6-B2DC111C449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78609" y="3685980"/>
            <a:ext cx="1489898" cy="1876932"/>
          </a:xfrm>
        </p:spPr>
        <p:txBody>
          <a:bodyPr/>
          <a:lstStyle/>
          <a:p>
            <a:r>
              <a:rPr lang="en-US"/>
              <a:t>Modeling of uncertain plant</a:t>
            </a:r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97D2EC25-1578-BA93-F6F8-57B68F84B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86699" y="3680336"/>
            <a:ext cx="1495542" cy="1882576"/>
          </a:xfrm>
        </p:spPr>
        <p:txBody>
          <a:bodyPr/>
          <a:lstStyle/>
          <a:p>
            <a:r>
              <a:rPr lang="en-US"/>
              <a:t>RS verification for the nominal controller designed</a:t>
            </a:r>
          </a:p>
        </p:txBody>
      </p:sp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E77EAAD0-2CB0-A220-8900-C7E6975201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60923" y="3685979"/>
            <a:ext cx="1377009" cy="1871288"/>
          </a:xfrm>
        </p:spPr>
        <p:txBody>
          <a:bodyPr/>
          <a:lstStyle/>
          <a:p>
            <a:r>
              <a:rPr lang="en-US"/>
              <a:t>Robustness to lateral-longitudinal coupling</a:t>
            </a:r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56530964-52F7-F207-EAE5-BCACA7686DB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 rot="16200000">
            <a:off x="1697500" y="2115912"/>
            <a:ext cx="776376" cy="665702"/>
          </a:xfrm>
        </p:spPr>
        <p:txBody>
          <a:bodyPr/>
          <a:lstStyle/>
          <a:p>
            <a:r>
              <a:rPr lang="en-US"/>
              <a:t>01</a:t>
            </a:r>
          </a:p>
        </p:txBody>
      </p:sp>
      <p:sp>
        <p:nvSpPr>
          <p:cNvPr id="18" name="Segnaposto testo 17">
            <a:extLst>
              <a:ext uri="{FF2B5EF4-FFF2-40B4-BE49-F238E27FC236}">
                <a16:creationId xmlns:a16="http://schemas.microsoft.com/office/drawing/2014/main" id="{D5CF9363-B914-32F7-6F38-E776784A61A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 rot="16200000">
            <a:off x="3403072" y="2070756"/>
            <a:ext cx="776376" cy="665702"/>
          </a:xfrm>
        </p:spPr>
        <p:txBody>
          <a:bodyPr/>
          <a:lstStyle/>
          <a:p>
            <a:r>
              <a:rPr lang="en-US"/>
              <a:t>02</a:t>
            </a:r>
          </a:p>
        </p:txBody>
      </p:sp>
      <p:sp>
        <p:nvSpPr>
          <p:cNvPr id="19" name="Segnaposto testo 18">
            <a:extLst>
              <a:ext uri="{FF2B5EF4-FFF2-40B4-BE49-F238E27FC236}">
                <a16:creationId xmlns:a16="http://schemas.microsoft.com/office/drawing/2014/main" id="{CBECDE12-1EE1-01F1-A02F-ACFE609EA64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 rot="16200000">
            <a:off x="5178985" y="2070756"/>
            <a:ext cx="776376" cy="665702"/>
          </a:xfrm>
        </p:spPr>
        <p:txBody>
          <a:bodyPr/>
          <a:lstStyle/>
          <a:p>
            <a:r>
              <a:rPr lang="en-US"/>
              <a:t>03</a:t>
            </a:r>
          </a:p>
        </p:txBody>
      </p:sp>
      <p:sp>
        <p:nvSpPr>
          <p:cNvPr id="20" name="Segnaposto testo 19">
            <a:extLst>
              <a:ext uri="{FF2B5EF4-FFF2-40B4-BE49-F238E27FC236}">
                <a16:creationId xmlns:a16="http://schemas.microsoft.com/office/drawing/2014/main" id="{466E0832-0227-94AB-A4F7-BFD9E9B7A60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 rot="16200000">
            <a:off x="6989440" y="2070756"/>
            <a:ext cx="776376" cy="665702"/>
          </a:xfrm>
        </p:spPr>
        <p:txBody>
          <a:bodyPr/>
          <a:lstStyle/>
          <a:p>
            <a:r>
              <a:rPr lang="en-US"/>
              <a:t>04</a:t>
            </a:r>
          </a:p>
        </p:txBody>
      </p:sp>
      <p:sp>
        <p:nvSpPr>
          <p:cNvPr id="24" name="Segnaposto testo 19">
            <a:extLst>
              <a:ext uri="{FF2B5EF4-FFF2-40B4-BE49-F238E27FC236}">
                <a16:creationId xmlns:a16="http://schemas.microsoft.com/office/drawing/2014/main" id="{FC2BCCC1-488F-D4E9-6396-7CB41957B6D2}"/>
              </a:ext>
            </a:extLst>
          </p:cNvPr>
          <p:cNvSpPr txBox="1">
            <a:spLocks/>
          </p:cNvSpPr>
          <p:nvPr/>
        </p:nvSpPr>
        <p:spPr>
          <a:xfrm rot="16200000">
            <a:off x="8885973" y="2070756"/>
            <a:ext cx="776376" cy="66570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4400" b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05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738267BF-278B-7B32-A0DA-977E7AC7B5DD}"/>
              </a:ext>
            </a:extLst>
          </p:cNvPr>
          <p:cNvSpPr txBox="1"/>
          <p:nvPr/>
        </p:nvSpPr>
        <p:spPr>
          <a:xfrm>
            <a:off x="8824072" y="3009391"/>
            <a:ext cx="1219200" cy="276999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TASK 5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2FDB83BE-7412-1892-2028-43A9137084D7}"/>
              </a:ext>
            </a:extLst>
          </p:cNvPr>
          <p:cNvSpPr txBox="1"/>
          <p:nvPr/>
        </p:nvSpPr>
        <p:spPr>
          <a:xfrm>
            <a:off x="8838072" y="3732558"/>
            <a:ext cx="1225972" cy="646331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Monte Carlo Campaign and Conclusions</a:t>
            </a:r>
          </a:p>
        </p:txBody>
      </p:sp>
      <p:sp>
        <p:nvSpPr>
          <p:cNvPr id="28" name="Segnaposto testo 19">
            <a:extLst>
              <a:ext uri="{FF2B5EF4-FFF2-40B4-BE49-F238E27FC236}">
                <a16:creationId xmlns:a16="http://schemas.microsoft.com/office/drawing/2014/main" id="{39C6E128-697C-FAE2-F592-CD800E27EB13}"/>
              </a:ext>
            </a:extLst>
          </p:cNvPr>
          <p:cNvSpPr txBox="1">
            <a:spLocks/>
          </p:cNvSpPr>
          <p:nvPr/>
        </p:nvSpPr>
        <p:spPr>
          <a:xfrm rot="16200000">
            <a:off x="10325306" y="2070756"/>
            <a:ext cx="776376" cy="66570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4400" b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t>06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B59151FB-F92F-0A1C-FAFB-C773328CAFF0}"/>
              </a:ext>
            </a:extLst>
          </p:cNvPr>
          <p:cNvSpPr txBox="1"/>
          <p:nvPr/>
        </p:nvSpPr>
        <p:spPr>
          <a:xfrm>
            <a:off x="10438383" y="3020680"/>
            <a:ext cx="1219200" cy="276999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Project </a:t>
            </a:r>
            <a:r>
              <a:rPr lang="en-US" sz="1200" b="1" err="1"/>
              <a:t>Infos</a:t>
            </a:r>
            <a:endParaRPr lang="en-US" sz="1200" b="1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9E80947D-6661-D821-5060-7DF2FFB7F6ED}"/>
              </a:ext>
            </a:extLst>
          </p:cNvPr>
          <p:cNvSpPr txBox="1"/>
          <p:nvPr/>
        </p:nvSpPr>
        <p:spPr>
          <a:xfrm>
            <a:off x="10441094" y="3726913"/>
            <a:ext cx="1400949" cy="461665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References</a:t>
            </a:r>
            <a:endParaRPr lang="en-US"/>
          </a:p>
          <a:p>
            <a:r>
              <a:rPr lang="en-US" sz="1200"/>
              <a:t>​</a:t>
            </a:r>
            <a:endParaRPr lang="en-US"/>
          </a:p>
        </p:txBody>
      </p:sp>
      <p:sp>
        <p:nvSpPr>
          <p:cNvPr id="32" name="Segnaposto testo 16">
            <a:extLst>
              <a:ext uri="{FF2B5EF4-FFF2-40B4-BE49-F238E27FC236}">
                <a16:creationId xmlns:a16="http://schemas.microsoft.com/office/drawing/2014/main" id="{1698A287-9FB4-992F-330B-575B38E95465}"/>
              </a:ext>
            </a:extLst>
          </p:cNvPr>
          <p:cNvSpPr txBox="1">
            <a:spLocks/>
          </p:cNvSpPr>
          <p:nvPr/>
        </p:nvSpPr>
        <p:spPr>
          <a:xfrm rot="16200000">
            <a:off x="280744" y="2115912"/>
            <a:ext cx="776376" cy="66570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4400" b="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00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72506974-62F3-56E7-59AA-5A4C5EEC6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5" y="39688"/>
            <a:ext cx="6645481" cy="365125"/>
          </a:xfrm>
        </p:spPr>
        <p:txBody>
          <a:bodyPr/>
          <a:lstStyle/>
          <a:p>
            <a:pPr lvl="0"/>
            <a:r>
              <a:rPr lang="en-US" noProof="0"/>
              <a:t>Aerospace Control Systems - Exam project AA 25/26 - </a:t>
            </a:r>
            <a:r>
              <a:rPr lang="en-US" b="1" noProof="0"/>
              <a:t>Robust multivariable control of the lateral/longitudinal dynamics of a multirotor UAV</a:t>
            </a:r>
            <a:endParaRPr kumimoji="0" lang="en-US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965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CF299B-7269-2F21-532F-FB62F5A73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/>
              <a:t>Problem Definition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A8BE94C-050D-F614-79BE-F32453E63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26D3B-03D2-4B47-B87E-FB37B34FF9BC}" type="datetime1">
              <a:rPr lang="en-US" smtClean="0"/>
              <a:t>6/27/2026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DE1884E-F447-C722-EBAB-F73FB4903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598264" cy="365125"/>
          </a:xfrm>
        </p:spPr>
        <p:txBody>
          <a:bodyPr/>
          <a:lstStyle/>
          <a:p>
            <a:pPr lvl="0"/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D3F326D-2853-B69D-9B4A-F610AB014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2969914-524B-E791-74C3-8A20A7662D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-5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68458" y="2596443"/>
            <a:ext cx="6545986" cy="4809068"/>
          </a:xfrm>
          <a:prstGeom prst="rect">
            <a:avLst/>
          </a:prstGeom>
        </p:spPr>
      </p:pic>
      <p:sp>
        <p:nvSpPr>
          <p:cNvPr id="9" name="Segnaposto testo 5">
            <a:extLst>
              <a:ext uri="{FF2B5EF4-FFF2-40B4-BE49-F238E27FC236}">
                <a16:creationId xmlns:a16="http://schemas.microsoft.com/office/drawing/2014/main" id="{34D85CC3-7A8C-5AED-0208-D455797EB2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5931" y="3961597"/>
            <a:ext cx="3091107" cy="2359025"/>
          </a:xfrm>
        </p:spPr>
        <p:txBody>
          <a:bodyPr>
            <a:normAutofit/>
          </a:bodyPr>
          <a:lstStyle/>
          <a:p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834895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B45A7-B36B-3281-6F38-A97B486F5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6C6E77B-4573-934E-A4B0-D6C2DB229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Definition</a:t>
            </a:r>
            <a:br>
              <a:rPr lang="en-US" noProof="0"/>
            </a:b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A3E58E-443A-66A9-E8CF-A602DE3696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369682"/>
            <a:ext cx="2383298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1FB1EF-D7FA-4AB3-A499-83F9AF562A32}" type="datetime1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6/27/2026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94C56E-A5EC-EB48-C880-B69C6129E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5" y="39688"/>
            <a:ext cx="6867177" cy="365125"/>
          </a:xfrm>
        </p:spPr>
        <p:txBody>
          <a:bodyPr/>
          <a:lstStyle/>
          <a:p>
            <a:pPr lvl="0"/>
            <a:r>
              <a:rPr lang="en-US" noProof="0"/>
              <a:t>Aerospace Control Systems - Exam project AA 25/26 - </a:t>
            </a:r>
            <a:r>
              <a:rPr lang="en-US" b="1" noProof="0"/>
              <a:t>Robust multivariable control of the lateral/longitudinal dynamics of a multirotor UAV</a:t>
            </a:r>
            <a:endParaRPr kumimoji="0" lang="en-US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CEA864-A556-5DDC-46C3-899B40A0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35EEA2-8D42-4D46-95A6-66E65FDC5EB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76E2C0-3B5F-3164-3CA2-61D66D1431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214562" cy="1370965"/>
          </a:xfrm>
        </p:spPr>
        <p:txBody>
          <a:bodyPr>
            <a:normAutofit/>
          </a:bodyPr>
          <a:lstStyle/>
          <a:p>
            <a:r>
              <a:rPr lang="en-US" sz="1800" b="1" noProof="0">
                <a:solidFill>
                  <a:srgbClr val="102C53"/>
                </a:solidFill>
              </a:rPr>
              <a:t>1. The problem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FFFFD-EE26-2E43-27F1-22C27A1C73D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1555" y="1430655"/>
            <a:ext cx="8640762" cy="3997325"/>
          </a:xfrm>
        </p:spPr>
        <p:txBody>
          <a:bodyPr vert="horz" lIns="0" tIns="0" rIns="0" bIns="0" rtlCol="0" anchor="t">
            <a:normAutofit/>
          </a:bodyPr>
          <a:lstStyle/>
          <a:p>
            <a:pPr marL="2286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  <a:latin typeface="Manrope"/>
                <a:cs typeface="Arial"/>
              </a:rPr>
              <a:t>The ANT-X quadrotor is a small quadrotor drone designed for research and education.</a:t>
            </a:r>
          </a:p>
          <a:p>
            <a:pPr marL="2286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Grey-box models of ANT-X have been identified from flight test data are are available for control law design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>
                    <a:lumMod val="76000"/>
                    <a:lumOff val="24000"/>
                  </a:schemeClr>
                </a:solidFill>
              </a:rPr>
              <a:t>The project task is to design and verify a robust multivariable attitude control system for the ANT-X quadrotor</a:t>
            </a:r>
          </a:p>
          <a:p>
            <a:pPr>
              <a:lnSpc>
                <a:spcPct val="150000"/>
              </a:lnSpc>
            </a:pPr>
            <a:endParaRPr lang="en-US" sz="1800" noProof="0">
              <a:solidFill>
                <a:srgbClr val="102C53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>
              <a:solidFill>
                <a:srgbClr val="102C53"/>
              </a:solidFill>
            </a:endParaRPr>
          </a:p>
          <a:p>
            <a:pPr marL="2286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6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B08F990-FD16-8BD0-4B03-0A2F10B605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endParaRPr lang="en-US" noProof="0"/>
          </a:p>
          <a:p>
            <a:endParaRPr lang="en-US" noProof="0"/>
          </a:p>
        </p:txBody>
      </p:sp>
      <p:pic>
        <p:nvPicPr>
          <p:cNvPr id="11" name="Immagine 10" descr="Immagine che contiene schermata, arte&#10;&#10;Il contenuto generato dall&amp;#39;IA potrebbe non essere corretto.">
            <a:extLst>
              <a:ext uri="{FF2B5EF4-FFF2-40B4-BE49-F238E27FC236}">
                <a16:creationId xmlns:a16="http://schemas.microsoft.com/office/drawing/2014/main" id="{83197E3E-E372-7A8A-B9B4-F4A681E4DE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728" r="6792" b="22350"/>
          <a:stretch>
            <a:fillRect/>
          </a:stretch>
        </p:blipFill>
        <p:spPr>
          <a:xfrm>
            <a:off x="-1365" y="4293487"/>
            <a:ext cx="5199056" cy="219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48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90B3D-4831-931D-A7B1-4F1720F9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257E594-4651-752F-FB08-2BAFE6205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Definition</a:t>
            </a:r>
            <a:br>
              <a:rPr lang="en-US" noProof="0"/>
            </a:b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91157C-8FA1-D3B0-B04B-130B1009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1FB1EF-D7FA-4AB3-A499-83F9AF562A32}" type="datetime1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6/27/2026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43B5D1-C659-D142-112C-F8357C369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5" y="21355"/>
            <a:ext cx="6954859" cy="365125"/>
          </a:xfrm>
        </p:spPr>
        <p:txBody>
          <a:bodyPr/>
          <a:lstStyle/>
          <a:p>
            <a:pPr lvl="0"/>
            <a:r>
              <a:rPr lang="en-US" noProof="0"/>
              <a:t>Aerospace Control Systems - Exam project AA 25/26 - </a:t>
            </a:r>
            <a:r>
              <a:rPr lang="en-US" b="1" noProof="0"/>
              <a:t>Robust multivariable control of the lateral/longitudinal dynamics of a multirotor UAV</a:t>
            </a:r>
            <a:endParaRPr kumimoji="0" lang="en-US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A1C2C-1528-E91A-7DAC-2D4E5D086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35EEA2-8D42-4D46-95A6-66E65FDC5EB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7EE4DF-BAF2-D581-2388-DE720645E5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1800" b="1">
                <a:solidFill>
                  <a:srgbClr val="102C53"/>
                </a:solidFill>
              </a:rPr>
              <a:t>2</a:t>
            </a:r>
            <a:r>
              <a:rPr lang="en-US" sz="1800" b="1" noProof="0">
                <a:solidFill>
                  <a:srgbClr val="102C53"/>
                </a:solidFill>
              </a:rPr>
              <a:t>. </a:t>
            </a:r>
            <a:r>
              <a:rPr lang="en-US" sz="1800" b="1">
                <a:solidFill>
                  <a:srgbClr val="102C53"/>
                </a:solidFill>
              </a:rPr>
              <a:t>Lateral </a:t>
            </a:r>
          </a:p>
          <a:p>
            <a:r>
              <a:rPr lang="en-US" sz="1800" b="1">
                <a:solidFill>
                  <a:srgbClr val="102C53"/>
                </a:solidFill>
              </a:rPr>
              <a:t>Dynamics</a:t>
            </a:r>
            <a:endParaRPr lang="en-US" sz="1800" b="1" noProof="0">
              <a:solidFill>
                <a:srgbClr val="102C53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7D5B62-2846-D63C-7D64-8A1596D771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16275" y="1082485"/>
            <a:ext cx="3261270" cy="346550"/>
          </a:xfrm>
        </p:spPr>
        <p:txBody>
          <a:bodyPr vert="horz" lIns="0" tIns="0" rIns="0" bIns="0" rtlCol="0" anchor="t">
            <a:normAutofit lnSpcReduction="10000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102C53"/>
                </a:solidFill>
              </a:rPr>
              <a:t>Linearized lateral Dynamics: </a:t>
            </a:r>
            <a:endParaRPr lang="en-US" sz="1800" noProof="0">
              <a:solidFill>
                <a:srgbClr val="102C53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19AC4BD-4D41-3254-8E06-EEBDFBF9AA9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endParaRPr lang="en-US" noProof="0"/>
          </a:p>
          <a:p>
            <a:endParaRPr lang="en-US" noProof="0"/>
          </a:p>
        </p:txBody>
      </p:sp>
      <p:pic>
        <p:nvPicPr>
          <p:cNvPr id="12" name="Imagem 11" descr="Uma imagem com Tipo de letra, texto, tipografia, branco&#10;&#10;Os conteúdos gerados por IA poderão estar incorretos.">
            <a:extLst>
              <a:ext uri="{FF2B5EF4-FFF2-40B4-BE49-F238E27FC236}">
                <a16:creationId xmlns:a16="http://schemas.microsoft.com/office/drawing/2014/main" id="{2B262791-15E8-5AF4-0469-957F67BC8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331" y="1496846"/>
            <a:ext cx="2631175" cy="765128"/>
          </a:xfrm>
          <a:prstGeom prst="rect">
            <a:avLst/>
          </a:prstGeom>
        </p:spPr>
      </p:pic>
      <p:grpSp>
        <p:nvGrpSpPr>
          <p:cNvPr id="8" name="Agrupar 7">
            <a:extLst>
              <a:ext uri="{FF2B5EF4-FFF2-40B4-BE49-F238E27FC236}">
                <a16:creationId xmlns:a16="http://schemas.microsoft.com/office/drawing/2014/main" id="{CE610D01-6634-ECDF-8E47-D79ABF45BA59}"/>
              </a:ext>
            </a:extLst>
          </p:cNvPr>
          <p:cNvGrpSpPr/>
          <p:nvPr/>
        </p:nvGrpSpPr>
        <p:grpSpPr>
          <a:xfrm>
            <a:off x="7023833" y="679535"/>
            <a:ext cx="5065131" cy="1149256"/>
            <a:chOff x="5899636" y="2444939"/>
            <a:chExt cx="5065131" cy="1149256"/>
          </a:xfrm>
        </p:grpSpPr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3291F131-4BEC-DDB9-FF33-488FBCABCCD3}"/>
                </a:ext>
              </a:extLst>
            </p:cNvPr>
            <p:cNvSpPr txBox="1"/>
            <p:nvPr/>
          </p:nvSpPr>
          <p:spPr>
            <a:xfrm>
              <a:off x="5899636" y="2784108"/>
              <a:ext cx="3894053" cy="7848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,Sans-Serif"/>
                <a:buChar char="•"/>
              </a:pPr>
              <a:r>
                <a:rPr lang="en-US">
                  <a:solidFill>
                    <a:srgbClr val="102C53"/>
                  </a:solidFill>
                  <a:latin typeface="Arial"/>
                  <a:cs typeface="Arial"/>
                </a:rPr>
                <a:t>State Vector:                  </a:t>
              </a:r>
              <a:endParaRPr lang="en-US">
                <a:latin typeface="Arial"/>
                <a:cs typeface="Arial"/>
              </a:endParaRPr>
            </a:p>
            <a:p>
              <a:pPr algn="l"/>
              <a:endParaRPr lang="en-US"/>
            </a:p>
          </p:txBody>
        </p:sp>
        <p:pic>
          <p:nvPicPr>
            <p:cNvPr id="16" name="Imagem 15" descr="Uma imagem com Tipo de letra, texto, Gráficos, símbolo&#10;&#10;Os conteúdos gerados por IA poderão estar incorretos.">
              <a:extLst>
                <a:ext uri="{FF2B5EF4-FFF2-40B4-BE49-F238E27FC236}">
                  <a16:creationId xmlns:a16="http://schemas.microsoft.com/office/drawing/2014/main" id="{977A7352-FE4D-9226-6D9E-D422E5F83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80821" y="2444939"/>
              <a:ext cx="1284880" cy="1149256"/>
            </a:xfrm>
            <a:prstGeom prst="rect">
              <a:avLst/>
            </a:prstGeom>
          </p:spPr>
        </p:pic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EDB5729A-27B4-8809-D666-35C8A163CE2C}"/>
                </a:ext>
              </a:extLst>
            </p:cNvPr>
            <p:cNvSpPr txBox="1"/>
            <p:nvPr/>
          </p:nvSpPr>
          <p:spPr>
            <a:xfrm>
              <a:off x="8743985" y="2558955"/>
              <a:ext cx="2220782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rgbClr val="102C53"/>
                  </a:solidFill>
                </a:rPr>
                <a:t>Lateral Velocity</a:t>
              </a:r>
            </a:p>
            <a:p>
              <a:r>
                <a:rPr lang="en-US">
                  <a:solidFill>
                    <a:srgbClr val="102C53"/>
                  </a:solidFill>
                </a:rPr>
                <a:t>Roll Rate</a:t>
              </a:r>
            </a:p>
            <a:p>
              <a:r>
                <a:rPr lang="en-US">
                  <a:solidFill>
                    <a:srgbClr val="102C53"/>
                  </a:solidFill>
                </a:rPr>
                <a:t>Roll angle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F74787DE-49BE-5248-2822-9CF41E980D39}"/>
              </a:ext>
            </a:extLst>
          </p:cNvPr>
          <p:cNvGrpSpPr/>
          <p:nvPr/>
        </p:nvGrpSpPr>
        <p:grpSpPr>
          <a:xfrm>
            <a:off x="7023101" y="1831605"/>
            <a:ext cx="4486323" cy="1011230"/>
            <a:chOff x="3668942" y="4805864"/>
            <a:chExt cx="4446507" cy="784830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88857DE5-D3BF-A197-AC4D-80C9FF38362D}"/>
                </a:ext>
              </a:extLst>
            </p:cNvPr>
            <p:cNvSpPr txBox="1"/>
            <p:nvPr/>
          </p:nvSpPr>
          <p:spPr>
            <a:xfrm>
              <a:off x="3668942" y="4805864"/>
              <a:ext cx="3894053" cy="7848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,Sans-Serif"/>
                <a:buChar char="•"/>
              </a:pPr>
              <a:r>
                <a:rPr lang="en-US">
                  <a:solidFill>
                    <a:srgbClr val="102C53"/>
                  </a:solidFill>
                  <a:latin typeface="Arial"/>
                  <a:cs typeface="Arial"/>
                </a:rPr>
                <a:t>Control Variable:                  </a:t>
              </a:r>
              <a:endParaRPr lang="en-US">
                <a:latin typeface="Arial"/>
                <a:cs typeface="Arial"/>
              </a:endParaRPr>
            </a:p>
            <a:p>
              <a:pPr algn="l"/>
              <a:endParaRPr lang="en-US"/>
            </a:p>
          </p:txBody>
        </p:sp>
        <p:pic>
          <p:nvPicPr>
            <p:cNvPr id="20" name="Imagem 19" descr="Uma imagem com Tipo de letra, tipografia, texto, caligrafia&#10;&#10;Os conteúdos gerados por IA poderão estar incorretos.">
              <a:extLst>
                <a:ext uri="{FF2B5EF4-FFF2-40B4-BE49-F238E27FC236}">
                  <a16:creationId xmlns:a16="http://schemas.microsoft.com/office/drawing/2014/main" id="{AA1714AA-F65C-DE2B-C244-AC71E76BD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78425" y="4847274"/>
              <a:ext cx="1492387" cy="362445"/>
            </a:xfrm>
            <a:prstGeom prst="rect">
              <a:avLst/>
            </a:prstGeom>
          </p:spPr>
        </p:pic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D69672DF-E9DC-C622-7BDD-C0A86880D877}"/>
                </a:ext>
              </a:extLst>
            </p:cNvPr>
            <p:cNvSpPr txBox="1"/>
            <p:nvPr/>
          </p:nvSpPr>
          <p:spPr>
            <a:xfrm>
              <a:off x="3979383" y="5153184"/>
              <a:ext cx="4136066" cy="286644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noProof="0" err="1">
                  <a:solidFill>
                    <a:srgbClr val="102C53"/>
                  </a:solidFill>
                </a:rPr>
                <a:t>Normalised</a:t>
              </a:r>
              <a:r>
                <a:rPr lang="en-US" noProof="0">
                  <a:solidFill>
                    <a:srgbClr val="102C53"/>
                  </a:solidFill>
                </a:rPr>
                <a:t> rolling moment  ([-1,1])</a:t>
              </a:r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4A083472-6BD4-3D90-E52C-3BC75D20D082}"/>
              </a:ext>
            </a:extLst>
          </p:cNvPr>
          <p:cNvGrpSpPr/>
          <p:nvPr/>
        </p:nvGrpSpPr>
        <p:grpSpPr>
          <a:xfrm>
            <a:off x="3453788" y="2801814"/>
            <a:ext cx="8055636" cy="1142683"/>
            <a:chOff x="2929706" y="2290302"/>
            <a:chExt cx="6690766" cy="1098881"/>
          </a:xfrm>
        </p:grpSpPr>
        <p:pic>
          <p:nvPicPr>
            <p:cNvPr id="24" name="Imagem 23" descr="Uma imagem com Tipo de letra, diagrama, número, file&#10;&#10;Os conteúdos gerados por IA poderão estar incorretos.">
              <a:extLst>
                <a:ext uri="{FF2B5EF4-FFF2-40B4-BE49-F238E27FC236}">
                  <a16:creationId xmlns:a16="http://schemas.microsoft.com/office/drawing/2014/main" id="{2A5C683B-07CB-7BD6-C593-F93D2E28D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29706" y="2290302"/>
              <a:ext cx="1973084" cy="1098881"/>
            </a:xfrm>
            <a:prstGeom prst="rect">
              <a:avLst/>
            </a:prstGeom>
          </p:spPr>
        </p:pic>
        <p:pic>
          <p:nvPicPr>
            <p:cNvPr id="25" name="Imagem 24" descr="Uma imagem com Tipo de letra, texto, número, Gráficos&#10;&#10;Os conteúdos gerados por IA poderão estar incorretos.">
              <a:extLst>
                <a:ext uri="{FF2B5EF4-FFF2-40B4-BE49-F238E27FC236}">
                  <a16:creationId xmlns:a16="http://schemas.microsoft.com/office/drawing/2014/main" id="{434BF1F5-FEEA-9CFE-06F3-C26E7818B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204432" y="2360607"/>
              <a:ext cx="1247695" cy="931608"/>
            </a:xfrm>
            <a:prstGeom prst="rect">
              <a:avLst/>
            </a:prstGeom>
          </p:spPr>
        </p:pic>
        <p:pic>
          <p:nvPicPr>
            <p:cNvPr id="26" name="Imagem 25" descr="Uma imagem com Tipo de letra, número, diagrama, design&#10;&#10;Os conteúdos gerados por IA poderão estar incorretos.">
              <a:extLst>
                <a:ext uri="{FF2B5EF4-FFF2-40B4-BE49-F238E27FC236}">
                  <a16:creationId xmlns:a16="http://schemas.microsoft.com/office/drawing/2014/main" id="{13F6EE66-D93E-6439-B776-6B6FA52541A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37229" y="2419018"/>
              <a:ext cx="1692304" cy="834513"/>
            </a:xfrm>
            <a:prstGeom prst="rect">
              <a:avLst/>
            </a:prstGeom>
          </p:spPr>
        </p:pic>
        <p:pic>
          <p:nvPicPr>
            <p:cNvPr id="27" name="Imagem 26" descr="Uma imagem com símbolo, design, tipografia&#10;&#10;Os conteúdos gerados por IA poderão estar incorretos.">
              <a:extLst>
                <a:ext uri="{FF2B5EF4-FFF2-40B4-BE49-F238E27FC236}">
                  <a16:creationId xmlns:a16="http://schemas.microsoft.com/office/drawing/2014/main" id="{E7A37343-869A-2467-D9C2-16E7ADADE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685350" y="2646390"/>
              <a:ext cx="935122" cy="388188"/>
            </a:xfrm>
            <a:prstGeom prst="rect">
              <a:avLst/>
            </a:prstGeom>
          </p:spPr>
        </p:pic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4B2BBF51-B871-EEF0-CC07-DA3045F8DE3E}"/>
              </a:ext>
            </a:extLst>
          </p:cNvPr>
          <p:cNvGrpSpPr/>
          <p:nvPr/>
        </p:nvGrpSpPr>
        <p:grpSpPr>
          <a:xfrm>
            <a:off x="4147015" y="3945414"/>
            <a:ext cx="3897099" cy="1456970"/>
            <a:chOff x="7536118" y="3034830"/>
            <a:chExt cx="3897099" cy="1456970"/>
          </a:xfrm>
        </p:grpSpPr>
        <p:pic>
          <p:nvPicPr>
            <p:cNvPr id="30" name="Imagem 29" descr="Uma imagem com texto, Tipo de letra, escrita à mão, caligrafia&#10;&#10;Os conteúdos gerados por IA poderão estar incorretos.">
              <a:extLst>
                <a:ext uri="{FF2B5EF4-FFF2-40B4-BE49-F238E27FC236}">
                  <a16:creationId xmlns:a16="http://schemas.microsoft.com/office/drawing/2014/main" id="{EFC05B92-B7BA-5629-18B1-38E556D20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536118" y="3498193"/>
              <a:ext cx="2871634" cy="993607"/>
            </a:xfrm>
            <a:prstGeom prst="rect">
              <a:avLst/>
            </a:prstGeom>
          </p:spPr>
        </p:pic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478CE318-AEAA-F9DC-93A9-14FC40630BCD}"/>
                </a:ext>
              </a:extLst>
            </p:cNvPr>
            <p:cNvSpPr txBox="1"/>
            <p:nvPr/>
          </p:nvSpPr>
          <p:spPr>
            <a:xfrm>
              <a:off x="7539164" y="3034830"/>
              <a:ext cx="3894053" cy="7848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,Sans-Serif"/>
                <a:buChar char="•"/>
              </a:pPr>
              <a:r>
                <a:rPr lang="en-US">
                  <a:solidFill>
                    <a:srgbClr val="102C53"/>
                  </a:solidFill>
                  <a:latin typeface="Arial"/>
                  <a:cs typeface="Arial"/>
                </a:rPr>
                <a:t>Stability derivatives:                  </a:t>
              </a:r>
              <a:endParaRPr lang="en-US">
                <a:latin typeface="Arial"/>
                <a:cs typeface="Arial"/>
              </a:endParaRPr>
            </a:p>
            <a:p>
              <a:pPr algn="l"/>
              <a:endParaRPr lang="en-US"/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6157A763-3350-9737-7454-E5BA2E869CB0}"/>
              </a:ext>
            </a:extLst>
          </p:cNvPr>
          <p:cNvGrpSpPr/>
          <p:nvPr/>
        </p:nvGrpSpPr>
        <p:grpSpPr>
          <a:xfrm>
            <a:off x="7909340" y="3946699"/>
            <a:ext cx="3894053" cy="1160799"/>
            <a:chOff x="7963179" y="4509669"/>
            <a:chExt cx="3894053" cy="1160799"/>
          </a:xfrm>
        </p:grpSpPr>
        <p:pic>
          <p:nvPicPr>
            <p:cNvPr id="28" name="Imagem 27" descr="Uma imagem com Tipo de letra, texto, tipografia, branco&#10;&#10;Os conteúdos gerados por IA poderão estar incorretos.">
              <a:extLst>
                <a:ext uri="{FF2B5EF4-FFF2-40B4-BE49-F238E27FC236}">
                  <a16:creationId xmlns:a16="http://schemas.microsoft.com/office/drawing/2014/main" id="{476DA9EF-8E3A-B7C8-2C8C-0AC74B3AE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978263" y="4971762"/>
              <a:ext cx="3019734" cy="698706"/>
            </a:xfrm>
            <a:prstGeom prst="rect">
              <a:avLst/>
            </a:prstGeom>
          </p:spPr>
        </p:pic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124EA45C-AA23-3A64-FCE4-4E335EF121CC}"/>
                </a:ext>
              </a:extLst>
            </p:cNvPr>
            <p:cNvSpPr txBox="1"/>
            <p:nvPr/>
          </p:nvSpPr>
          <p:spPr>
            <a:xfrm>
              <a:off x="7963179" y="4509669"/>
              <a:ext cx="3894053" cy="7848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,Sans-Serif"/>
                <a:buChar char="•"/>
              </a:pPr>
              <a:r>
                <a:rPr lang="en-US">
                  <a:solidFill>
                    <a:srgbClr val="102C53"/>
                  </a:solidFill>
                  <a:latin typeface="Arial"/>
                  <a:cs typeface="Arial"/>
                </a:rPr>
                <a:t>Control Derivatives:                  </a:t>
              </a:r>
              <a:endParaRPr lang="en-US">
                <a:latin typeface="Arial"/>
                <a:cs typeface="Arial"/>
              </a:endParaRPr>
            </a:p>
            <a:p>
              <a:pPr algn="l"/>
              <a:endParaRPr lang="en-US"/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98C085C1-A60C-7A20-127B-EBE5C4323D93}"/>
              </a:ext>
            </a:extLst>
          </p:cNvPr>
          <p:cNvSpPr txBox="1"/>
          <p:nvPr/>
        </p:nvSpPr>
        <p:spPr>
          <a:xfrm>
            <a:off x="3450971" y="5563543"/>
            <a:ext cx="7764344" cy="1287468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102C53"/>
                </a:solidFill>
              </a:rPr>
              <a:t>Uncertainty is given in terms of standard deviations, assuming a Gaussian density for each parameter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>
              <a:solidFill>
                <a:srgbClr val="102C53"/>
              </a:solidFill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2919CA7B-3CBC-105D-F024-6AE1C056F563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-102754" y="3755935"/>
            <a:ext cx="3537858" cy="2598965"/>
          </a:xfrm>
          <a:prstGeom prst="rect">
            <a:avLst/>
          </a:prstGeom>
        </p:spPr>
      </p:pic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05750083-DA55-A82A-41AC-FA14305E5D3F}"/>
              </a:ext>
            </a:extLst>
          </p:cNvPr>
          <p:cNvCxnSpPr/>
          <p:nvPr/>
        </p:nvCxnSpPr>
        <p:spPr>
          <a:xfrm>
            <a:off x="1682104" y="4906138"/>
            <a:ext cx="1640541" cy="1111623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59103C2B-42E9-944D-8BF3-0A9137E3626D}"/>
              </a:ext>
            </a:extLst>
          </p:cNvPr>
          <p:cNvCxnSpPr>
            <a:cxnSpLocks/>
          </p:cNvCxnSpPr>
          <p:nvPr/>
        </p:nvCxnSpPr>
        <p:spPr>
          <a:xfrm flipH="1">
            <a:off x="16100" y="4908321"/>
            <a:ext cx="1677622" cy="83453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091294F2-A99F-8178-F301-FE4867D60C9C}"/>
              </a:ext>
            </a:extLst>
          </p:cNvPr>
          <p:cNvCxnSpPr>
            <a:cxnSpLocks/>
          </p:cNvCxnSpPr>
          <p:nvPr/>
        </p:nvCxnSpPr>
        <p:spPr>
          <a:xfrm flipV="1">
            <a:off x="1679281" y="3029386"/>
            <a:ext cx="2823" cy="190242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7C1A50D9-E720-79A1-F36F-9FD7D9FBE342}"/>
                  </a:ext>
                </a:extLst>
              </p:cNvPr>
              <p:cNvSpPr txBox="1"/>
              <p:nvPr/>
            </p:nvSpPr>
            <p:spPr>
              <a:xfrm>
                <a:off x="1330724" y="2820021"/>
                <a:ext cx="11401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en-US" b="1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7C1A50D9-E720-79A1-F36F-9FD7D9FBE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724" y="2820021"/>
                <a:ext cx="1140178" cy="369332"/>
              </a:xfrm>
              <a:prstGeom prst="rect">
                <a:avLst/>
              </a:prstGeom>
              <a:blipFill>
                <a:blip r:embed="rId13"/>
                <a:stretch>
                  <a:fillRect t="-500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63751458-1BC2-4028-1535-41D827CF3A76}"/>
                  </a:ext>
                </a:extLst>
              </p:cNvPr>
              <p:cNvSpPr txBox="1"/>
              <p:nvPr/>
            </p:nvSpPr>
            <p:spPr>
              <a:xfrm>
                <a:off x="2372893" y="5851786"/>
                <a:ext cx="11401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63751458-1BC2-4028-1535-41D827CF3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2893" y="5851786"/>
                <a:ext cx="1140178" cy="369332"/>
              </a:xfrm>
              <a:prstGeom prst="rect">
                <a:avLst/>
              </a:prstGeom>
              <a:blipFill>
                <a:blip r:embed="rId14"/>
                <a:stretch>
                  <a:fillRect t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sellaDiTesto 30">
                <a:extLst>
                  <a:ext uri="{FF2B5EF4-FFF2-40B4-BE49-F238E27FC236}">
                    <a16:creationId xmlns:a16="http://schemas.microsoft.com/office/drawing/2014/main" id="{6348B6C0-C4FD-1227-11FE-EDAFF0FAC117}"/>
                  </a:ext>
                </a:extLst>
              </p:cNvPr>
              <p:cNvSpPr txBox="1"/>
              <p:nvPr/>
            </p:nvSpPr>
            <p:spPr>
              <a:xfrm>
                <a:off x="-413137" y="5725658"/>
                <a:ext cx="11401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acc>
                    </m:oMath>
                  </m:oMathPara>
                </a14:m>
                <a:endParaRPr 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CasellaDiTesto 30">
                <a:extLst>
                  <a:ext uri="{FF2B5EF4-FFF2-40B4-BE49-F238E27FC236}">
                    <a16:creationId xmlns:a16="http://schemas.microsoft.com/office/drawing/2014/main" id="{6348B6C0-C4FD-1227-11FE-EDAFF0FAC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3137" y="5725658"/>
                <a:ext cx="1140178" cy="369332"/>
              </a:xfrm>
              <a:prstGeom prst="rect">
                <a:avLst/>
              </a:prstGeom>
              <a:blipFill>
                <a:blip r:embed="rId15"/>
                <a:stretch>
                  <a:fillRect t="-4918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Arco 46">
            <a:extLst>
              <a:ext uri="{FF2B5EF4-FFF2-40B4-BE49-F238E27FC236}">
                <a16:creationId xmlns:a16="http://schemas.microsoft.com/office/drawing/2014/main" id="{94FCEFEE-9A84-C8A8-93A4-A3F1AB53F546}"/>
              </a:ext>
            </a:extLst>
          </p:cNvPr>
          <p:cNvSpPr/>
          <p:nvPr/>
        </p:nvSpPr>
        <p:spPr>
          <a:xfrm flipH="1">
            <a:off x="2356701" y="5560295"/>
            <a:ext cx="1034062" cy="1024221"/>
          </a:xfrm>
          <a:prstGeom prst="arc">
            <a:avLst>
              <a:gd name="adj1" fmla="val 13738369"/>
              <a:gd name="adj2" fmla="val 0"/>
            </a:avLst>
          </a:prstGeom>
          <a:ln w="1905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co 47">
            <a:extLst>
              <a:ext uri="{FF2B5EF4-FFF2-40B4-BE49-F238E27FC236}">
                <a16:creationId xmlns:a16="http://schemas.microsoft.com/office/drawing/2014/main" id="{84B391CA-A8F4-A9A8-774A-176E5355DA89}"/>
              </a:ext>
            </a:extLst>
          </p:cNvPr>
          <p:cNvSpPr/>
          <p:nvPr/>
        </p:nvSpPr>
        <p:spPr>
          <a:xfrm flipH="1">
            <a:off x="2509101" y="5712695"/>
            <a:ext cx="1034062" cy="1024221"/>
          </a:xfrm>
          <a:prstGeom prst="arc">
            <a:avLst>
              <a:gd name="adj1" fmla="val 13738369"/>
              <a:gd name="adj2" fmla="val 0"/>
            </a:avLst>
          </a:prstGeom>
          <a:ln w="1905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sellaDiTesto 48">
                <a:extLst>
                  <a:ext uri="{FF2B5EF4-FFF2-40B4-BE49-F238E27FC236}">
                    <a16:creationId xmlns:a16="http://schemas.microsoft.com/office/drawing/2014/main" id="{7A7FC7B4-6EDE-7E26-19E8-BF8522640EBB}"/>
                  </a:ext>
                </a:extLst>
              </p:cNvPr>
              <p:cNvSpPr txBox="1"/>
              <p:nvPr/>
            </p:nvSpPr>
            <p:spPr>
              <a:xfrm>
                <a:off x="2387153" y="6177416"/>
                <a:ext cx="358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CasellaDiTesto 48">
                <a:extLst>
                  <a:ext uri="{FF2B5EF4-FFF2-40B4-BE49-F238E27FC236}">
                    <a16:creationId xmlns:a16="http://schemas.microsoft.com/office/drawing/2014/main" id="{7A7FC7B4-6EDE-7E26-19E8-BF8522640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7153" y="6177416"/>
                <a:ext cx="358187" cy="369332"/>
              </a:xfrm>
              <a:prstGeom prst="rect">
                <a:avLst/>
              </a:prstGeom>
              <a:blipFill>
                <a:blip r:embed="rId1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asellaDiTesto 49">
                <a:extLst>
                  <a:ext uri="{FF2B5EF4-FFF2-40B4-BE49-F238E27FC236}">
                    <a16:creationId xmlns:a16="http://schemas.microsoft.com/office/drawing/2014/main" id="{0849823A-FFBE-E6C9-D5CF-FF63E80C3F49}"/>
                  </a:ext>
                </a:extLst>
              </p:cNvPr>
              <p:cNvSpPr txBox="1"/>
              <p:nvPr/>
            </p:nvSpPr>
            <p:spPr>
              <a:xfrm>
                <a:off x="2096581" y="5992750"/>
                <a:ext cx="358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𝝓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0" name="CasellaDiTesto 49">
                <a:extLst>
                  <a:ext uri="{FF2B5EF4-FFF2-40B4-BE49-F238E27FC236}">
                    <a16:creationId xmlns:a16="http://schemas.microsoft.com/office/drawing/2014/main" id="{0849823A-FFBE-E6C9-D5CF-FF63E80C3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581" y="5992750"/>
                <a:ext cx="358187" cy="369332"/>
              </a:xfrm>
              <a:prstGeom prst="rect">
                <a:avLst/>
              </a:prstGeom>
              <a:blipFill>
                <a:blip r:embed="rId17"/>
                <a:stretch>
                  <a:fillRect l="-5085" r="-5085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Connettore diritto a freccia 51">
            <a:extLst>
              <a:ext uri="{FF2B5EF4-FFF2-40B4-BE49-F238E27FC236}">
                <a16:creationId xmlns:a16="http://schemas.microsoft.com/office/drawing/2014/main" id="{C9EFD5A8-9142-3422-7FA1-753E5116C8FB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1672570" y="4993713"/>
            <a:ext cx="1778401" cy="1213564"/>
          </a:xfrm>
          <a:prstGeom prst="straightConnector1">
            <a:avLst/>
          </a:prstGeom>
          <a:ln w="38100">
            <a:solidFill>
              <a:srgbClr val="3B35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asellaDiTesto 54">
                <a:extLst>
                  <a:ext uri="{FF2B5EF4-FFF2-40B4-BE49-F238E27FC236}">
                    <a16:creationId xmlns:a16="http://schemas.microsoft.com/office/drawing/2014/main" id="{B96AFDBD-6239-9967-B8E0-4022E035FFC1}"/>
                  </a:ext>
                </a:extLst>
              </p:cNvPr>
              <p:cNvSpPr txBox="1"/>
              <p:nvPr/>
            </p:nvSpPr>
            <p:spPr>
              <a:xfrm>
                <a:off x="2969660" y="6128812"/>
                <a:ext cx="643891" cy="3784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3B35D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3B35DE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3B35DE"/>
                              </a:solidFill>
                              <a:latin typeface="Cambria Math" panose="02040503050406030204" pitchFamily="18" charset="0"/>
                            </a:rPr>
                            <m:t>𝒍𝒂𝒕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5" name="CasellaDiTesto 54">
                <a:extLst>
                  <a:ext uri="{FF2B5EF4-FFF2-40B4-BE49-F238E27FC236}">
                    <a16:creationId xmlns:a16="http://schemas.microsoft.com/office/drawing/2014/main" id="{B96AFDBD-6239-9967-B8E0-4022E035F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660" y="6128812"/>
                <a:ext cx="643891" cy="37848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8258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7C793-1E44-DF04-66F6-787B6E2AD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EF508E2-701D-A747-FC29-2D67B14B2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Definition</a:t>
            </a:r>
            <a:br>
              <a:rPr lang="en-US" noProof="0"/>
            </a:b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FC6385-5539-4F61-4ADE-636DAAC17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1FB1EF-D7FA-4AB3-A499-83F9AF562A32}" type="datetime1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6/27/2026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46357A-5D8B-8524-EE0A-B32D9192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5" y="21355"/>
            <a:ext cx="6645481" cy="365125"/>
          </a:xfrm>
        </p:spPr>
        <p:txBody>
          <a:bodyPr/>
          <a:lstStyle/>
          <a:p>
            <a:pPr lvl="0"/>
            <a:r>
              <a:rPr lang="en-US" noProof="0"/>
              <a:t>Aerospace Control Systems - Exam project AA 25/26 - </a:t>
            </a:r>
            <a:r>
              <a:rPr lang="en-US" b="1" noProof="0"/>
              <a:t>Robust multivariable control of the lateral/longitudinal dynamics of a multirotor UAV</a:t>
            </a:r>
            <a:endParaRPr kumimoji="0" lang="en-US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F54BE7-2C96-4AE5-55F8-43127397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35EEA2-8D42-4D46-95A6-66E65FDC5EB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4A5107-30A8-FA0C-F187-E486FB4A6F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1800" b="1">
                <a:solidFill>
                  <a:srgbClr val="102C53"/>
                </a:solidFill>
              </a:rPr>
              <a:t>3</a:t>
            </a:r>
            <a:r>
              <a:rPr lang="en-US" sz="1800" b="1" noProof="0">
                <a:solidFill>
                  <a:srgbClr val="102C53"/>
                </a:solidFill>
              </a:rPr>
              <a:t>. </a:t>
            </a:r>
            <a:r>
              <a:rPr lang="en-US" sz="1800" b="1">
                <a:solidFill>
                  <a:srgbClr val="102C53"/>
                </a:solidFill>
              </a:rPr>
              <a:t>Longitudinal</a:t>
            </a:r>
          </a:p>
          <a:p>
            <a:r>
              <a:rPr lang="en-US" sz="1800" b="1">
                <a:solidFill>
                  <a:srgbClr val="102C53"/>
                </a:solidFill>
              </a:rPr>
              <a:t>Dynamics</a:t>
            </a:r>
            <a:endParaRPr lang="en-US" sz="1800" b="1" noProof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7AFC74-B681-C3C1-72AB-B4881AA70DA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16275" y="1139351"/>
            <a:ext cx="3261270" cy="346550"/>
          </a:xfrm>
        </p:spPr>
        <p:txBody>
          <a:bodyPr vert="horz" lIns="0" tIns="0" rIns="0" bIns="0" rtlCol="0" anchor="t">
            <a:normAutofit lnSpcReduction="10000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102C53"/>
                </a:solidFill>
              </a:rPr>
              <a:t>Linearized lateral Dynamics: </a:t>
            </a:r>
            <a:endParaRPr lang="en-US" sz="1800" noProof="0">
              <a:solidFill>
                <a:srgbClr val="102C53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2E3F11-6053-6053-BBA0-00D7F344C8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endParaRPr lang="en-US" noProof="0"/>
          </a:p>
          <a:p>
            <a:endParaRPr lang="en-US" noProof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3114C9DD-4841-8AAD-6941-D8787715528D}"/>
              </a:ext>
            </a:extLst>
          </p:cNvPr>
          <p:cNvGrpSpPr/>
          <p:nvPr/>
        </p:nvGrpSpPr>
        <p:grpSpPr>
          <a:xfrm>
            <a:off x="7023833" y="891981"/>
            <a:ext cx="5363004" cy="968419"/>
            <a:chOff x="5899636" y="2600519"/>
            <a:chExt cx="5363004" cy="968419"/>
          </a:xfrm>
        </p:grpSpPr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55B43996-6E91-B94A-2037-8933384E99E0}"/>
                </a:ext>
              </a:extLst>
            </p:cNvPr>
            <p:cNvSpPr txBox="1"/>
            <p:nvPr/>
          </p:nvSpPr>
          <p:spPr>
            <a:xfrm>
              <a:off x="5899636" y="2784108"/>
              <a:ext cx="3894053" cy="7848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,Sans-Serif"/>
                <a:buChar char="•"/>
              </a:pPr>
              <a:r>
                <a:rPr lang="en-US">
                  <a:solidFill>
                    <a:srgbClr val="102C53"/>
                  </a:solidFill>
                  <a:latin typeface="Arial"/>
                  <a:cs typeface="Arial"/>
                </a:rPr>
                <a:t>State Vector:                  </a:t>
              </a:r>
              <a:endParaRPr lang="en-US">
                <a:latin typeface="Arial"/>
                <a:cs typeface="Arial"/>
              </a:endParaRPr>
            </a:p>
            <a:p>
              <a:pPr algn="l"/>
              <a:endParaRPr lang="pt-PT"/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95DE79CA-0B05-422B-92CC-A7433FF239FE}"/>
                </a:ext>
              </a:extLst>
            </p:cNvPr>
            <p:cNvSpPr txBox="1"/>
            <p:nvPr/>
          </p:nvSpPr>
          <p:spPr>
            <a:xfrm>
              <a:off x="8730131" y="2600519"/>
              <a:ext cx="2532509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pt-PT">
                  <a:solidFill>
                    <a:srgbClr val="102C53"/>
                  </a:solidFill>
                </a:rPr>
                <a:t>Longitudinal Velocity</a:t>
              </a:r>
            </a:p>
            <a:p>
              <a:r>
                <a:rPr lang="pt-PT">
                  <a:solidFill>
                    <a:srgbClr val="102C53"/>
                  </a:solidFill>
                </a:rPr>
                <a:t>Pitch Rate</a:t>
              </a:r>
            </a:p>
            <a:p>
              <a:r>
                <a:rPr lang="pt-PT">
                  <a:solidFill>
                    <a:srgbClr val="102C53"/>
                  </a:solidFill>
                </a:rPr>
                <a:t>Pitch angle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4AE57992-772D-7BA4-CE3E-88111231A248}"/>
              </a:ext>
            </a:extLst>
          </p:cNvPr>
          <p:cNvGrpSpPr/>
          <p:nvPr/>
        </p:nvGrpSpPr>
        <p:grpSpPr>
          <a:xfrm>
            <a:off x="7023101" y="1888471"/>
            <a:ext cx="4252740" cy="1011230"/>
            <a:chOff x="3668942" y="4805864"/>
            <a:chExt cx="4214997" cy="784830"/>
          </a:xfrm>
        </p:grpSpPr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2B4E6B2D-B280-F9D5-2F10-8C8BE5D3AD97}"/>
                </a:ext>
              </a:extLst>
            </p:cNvPr>
            <p:cNvSpPr txBox="1"/>
            <p:nvPr/>
          </p:nvSpPr>
          <p:spPr>
            <a:xfrm>
              <a:off x="3668942" y="4805864"/>
              <a:ext cx="3894053" cy="7848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,Sans-Serif"/>
                <a:buChar char="•"/>
              </a:pPr>
              <a:r>
                <a:rPr lang="en-US">
                  <a:solidFill>
                    <a:srgbClr val="102C53"/>
                  </a:solidFill>
                  <a:latin typeface="Arial"/>
                  <a:cs typeface="Arial"/>
                </a:rPr>
                <a:t>Control Variable:                  </a:t>
              </a:r>
              <a:endParaRPr lang="en-US">
                <a:latin typeface="Arial"/>
                <a:cs typeface="Arial"/>
              </a:endParaRPr>
            </a:p>
            <a:p>
              <a:pPr algn="l"/>
              <a:endParaRPr lang="pt-PT"/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3705606F-2744-29CC-F3FA-F2CBC5ACE85D}"/>
                </a:ext>
              </a:extLst>
            </p:cNvPr>
            <p:cNvSpPr txBox="1"/>
            <p:nvPr/>
          </p:nvSpPr>
          <p:spPr>
            <a:xfrm>
              <a:off x="3979383" y="5153184"/>
              <a:ext cx="3904556" cy="369332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pt-PT">
                  <a:solidFill>
                    <a:srgbClr val="102C53"/>
                  </a:solidFill>
                </a:rPr>
                <a:t>Normalised pitching moment  ([-1,1])</a:t>
              </a:r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A91E172C-D7E4-79D6-30F2-1B3BA0E58D82}"/>
              </a:ext>
            </a:extLst>
          </p:cNvPr>
          <p:cNvGrpSpPr/>
          <p:nvPr/>
        </p:nvGrpSpPr>
        <p:grpSpPr>
          <a:xfrm>
            <a:off x="8134691" y="2895855"/>
            <a:ext cx="3460032" cy="867777"/>
            <a:chOff x="6746675" y="2419018"/>
            <a:chExt cx="2873797" cy="834513"/>
          </a:xfrm>
        </p:grpSpPr>
        <p:pic>
          <p:nvPicPr>
            <p:cNvPr id="26" name="Imagem 25" descr="Uma imagem com Tipo de letra, número, diagrama, design&#10;&#10;Os conteúdos gerados por IA poderão estar incorretos.">
              <a:extLst>
                <a:ext uri="{FF2B5EF4-FFF2-40B4-BE49-F238E27FC236}">
                  <a16:creationId xmlns:a16="http://schemas.microsoft.com/office/drawing/2014/main" id="{4178A9E7-48D5-AE1E-7D1F-3D48228EC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6675" y="2419018"/>
              <a:ext cx="1692304" cy="834513"/>
            </a:xfrm>
            <a:prstGeom prst="rect">
              <a:avLst/>
            </a:prstGeom>
          </p:spPr>
        </p:pic>
        <p:pic>
          <p:nvPicPr>
            <p:cNvPr id="27" name="Imagem 26" descr="Uma imagem com símbolo, design, tipografia&#10;&#10;Os conteúdos gerados por IA poderão estar incorretos.">
              <a:extLst>
                <a:ext uri="{FF2B5EF4-FFF2-40B4-BE49-F238E27FC236}">
                  <a16:creationId xmlns:a16="http://schemas.microsoft.com/office/drawing/2014/main" id="{2B6C4FFA-5CBB-ADB8-F6E2-40361E22B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85350" y="2646390"/>
              <a:ext cx="935122" cy="388188"/>
            </a:xfrm>
            <a:prstGeom prst="rect">
              <a:avLst/>
            </a:prstGeom>
          </p:spPr>
        </p:pic>
      </p:grp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151C11C-19DF-A091-FF3C-C33D0F7B82B1}"/>
              </a:ext>
            </a:extLst>
          </p:cNvPr>
          <p:cNvSpPr txBox="1"/>
          <p:nvPr/>
        </p:nvSpPr>
        <p:spPr>
          <a:xfrm>
            <a:off x="4150061" y="4002280"/>
            <a:ext cx="3894053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>
                <a:solidFill>
                  <a:srgbClr val="102C53"/>
                </a:solidFill>
                <a:latin typeface="Arial"/>
                <a:cs typeface="Arial"/>
              </a:rPr>
              <a:t>Stability derivatives:                  </a:t>
            </a:r>
            <a:endParaRPr lang="en-US">
              <a:latin typeface="Arial"/>
              <a:cs typeface="Arial"/>
            </a:endParaRPr>
          </a:p>
          <a:p>
            <a:pPr algn="l"/>
            <a:endParaRPr lang="pt-PT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68268F9-2112-569C-B868-9C6E34CEF51D}"/>
              </a:ext>
            </a:extLst>
          </p:cNvPr>
          <p:cNvSpPr txBox="1"/>
          <p:nvPr/>
        </p:nvSpPr>
        <p:spPr>
          <a:xfrm>
            <a:off x="7909340" y="4003565"/>
            <a:ext cx="3894053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US">
                <a:solidFill>
                  <a:srgbClr val="102C53"/>
                </a:solidFill>
                <a:latin typeface="Arial"/>
                <a:cs typeface="Arial"/>
              </a:rPr>
              <a:t>Control Derivatives:                  </a:t>
            </a:r>
            <a:endParaRPr lang="en-US">
              <a:latin typeface="Arial"/>
              <a:cs typeface="Arial"/>
            </a:endParaRPr>
          </a:p>
          <a:p>
            <a:pPr algn="l"/>
            <a:endParaRPr lang="pt-PT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C4A8A22D-2459-1E4B-EEF3-E10EBF9E05E0}"/>
              </a:ext>
            </a:extLst>
          </p:cNvPr>
          <p:cNvSpPr txBox="1"/>
          <p:nvPr/>
        </p:nvSpPr>
        <p:spPr>
          <a:xfrm>
            <a:off x="3996758" y="5525859"/>
            <a:ext cx="7764344" cy="1287468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>
                <a:solidFill>
                  <a:srgbClr val="102C53"/>
                </a:solidFill>
              </a:rPr>
              <a:t>Uncertainty is given in terms of standard deviations,  assuming a Gaussian density for each parameter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>
              <a:solidFill>
                <a:srgbClr val="102C53"/>
              </a:solidFill>
            </a:endParaRPr>
          </a:p>
        </p:txBody>
      </p:sp>
      <p:pic>
        <p:nvPicPr>
          <p:cNvPr id="10" name="Imagem 9" descr="Uma imagem com Tipo de letra, texto, tipografia, branco&#10;&#10;Os conteúdos gerados por IA poderão estar incorretos.">
            <a:extLst>
              <a:ext uri="{FF2B5EF4-FFF2-40B4-BE49-F238E27FC236}">
                <a16:creationId xmlns:a16="http://schemas.microsoft.com/office/drawing/2014/main" id="{465C5965-3B94-BEE7-B212-0D9FC0FCEC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0181" y="1515755"/>
            <a:ext cx="2789546" cy="750059"/>
          </a:xfrm>
          <a:prstGeom prst="rect">
            <a:avLst/>
          </a:prstGeom>
        </p:spPr>
      </p:pic>
      <p:pic>
        <p:nvPicPr>
          <p:cNvPr id="11" name="Imagem 10" descr="Uma imagem com Tipo de letra, diagrama, texto, número&#10;&#10;Os conteúdos gerados por IA poderão estar incorretos.">
            <a:extLst>
              <a:ext uri="{FF2B5EF4-FFF2-40B4-BE49-F238E27FC236}">
                <a16:creationId xmlns:a16="http://schemas.microsoft.com/office/drawing/2014/main" id="{0694F8F0-4140-33FD-38E5-165CB31EA2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5276" y="2741141"/>
            <a:ext cx="2764352" cy="1175771"/>
          </a:xfrm>
          <a:prstGeom prst="rect">
            <a:avLst/>
          </a:prstGeom>
        </p:spPr>
      </p:pic>
      <p:pic>
        <p:nvPicPr>
          <p:cNvPr id="12" name="Imagem 11" descr="Uma imagem com Tipo de letra, texto, número, Gráficos&#10;&#10;Os conteúdos gerados por IA poderão estar incorretos.">
            <a:extLst>
              <a:ext uri="{FF2B5EF4-FFF2-40B4-BE49-F238E27FC236}">
                <a16:creationId xmlns:a16="http://schemas.microsoft.com/office/drawing/2014/main" id="{991ED5C7-3C34-5E5C-C059-F32D27E0C3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3713" y="2897019"/>
            <a:ext cx="1797812" cy="904737"/>
          </a:xfrm>
          <a:prstGeom prst="rect">
            <a:avLst/>
          </a:prstGeom>
        </p:spPr>
      </p:pic>
      <p:pic>
        <p:nvPicPr>
          <p:cNvPr id="13" name="Imagem 12" descr="Uma imagem com Tipo de letra, texto, escrita à mão, caligrafia&#10;&#10;Os conteúdos gerados por IA poderão estar incorretos.">
            <a:extLst>
              <a:ext uri="{FF2B5EF4-FFF2-40B4-BE49-F238E27FC236}">
                <a16:creationId xmlns:a16="http://schemas.microsoft.com/office/drawing/2014/main" id="{9537B7B0-74D0-9B95-C37A-775AFDC30D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0340" y="4395390"/>
            <a:ext cx="2856363" cy="1018548"/>
          </a:xfrm>
          <a:prstGeom prst="rect">
            <a:avLst/>
          </a:prstGeom>
        </p:spPr>
      </p:pic>
      <p:pic>
        <p:nvPicPr>
          <p:cNvPr id="18" name="Imagem 17" descr="Uma imagem com texto, Tipo de letra, tipografia, caligrafia&#10;&#10;Os conteúdos gerados por IA poderão estar incorretos.">
            <a:extLst>
              <a:ext uri="{FF2B5EF4-FFF2-40B4-BE49-F238E27FC236}">
                <a16:creationId xmlns:a16="http://schemas.microsoft.com/office/drawing/2014/main" id="{587D95CA-51D7-90DF-6AD5-CF96480098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3184" y="4325433"/>
            <a:ext cx="3181067" cy="807316"/>
          </a:xfrm>
          <a:prstGeom prst="rect">
            <a:avLst/>
          </a:prstGeom>
        </p:spPr>
      </p:pic>
      <p:pic>
        <p:nvPicPr>
          <p:cNvPr id="19" name="Imagem 18" descr="Uma imagem com Tipo de letra, número, captura de ecrã, texto&#10;&#10;Os conteúdos gerados por IA poderão estar incorretos.">
            <a:extLst>
              <a:ext uri="{FF2B5EF4-FFF2-40B4-BE49-F238E27FC236}">
                <a16:creationId xmlns:a16="http://schemas.microsoft.com/office/drawing/2014/main" id="{A5AF1C4E-150A-AA7C-5203-57D5B66A5E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37993" y="908713"/>
            <a:ext cx="1216730" cy="895066"/>
          </a:xfrm>
          <a:prstGeom prst="rect">
            <a:avLst/>
          </a:prstGeom>
        </p:spPr>
      </p:pic>
      <p:pic>
        <p:nvPicPr>
          <p:cNvPr id="16" name="Imagem 15" descr="Uma imagem com Tipo de letra, tipografia, texto, caligrafia&#10;&#10;Os conteúdos gerados por IA poderão estar incorretos.">
            <a:extLst>
              <a:ext uri="{FF2B5EF4-FFF2-40B4-BE49-F238E27FC236}">
                <a16:creationId xmlns:a16="http://schemas.microsoft.com/office/drawing/2014/main" id="{1A91C864-50CF-9506-79EE-9B9C0374814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31431" y="1861703"/>
            <a:ext cx="1659083" cy="516082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0836D6A2-31BB-2850-5E9E-D982CC4A4AC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-81951" y="3751489"/>
            <a:ext cx="3537858" cy="2598965"/>
          </a:xfrm>
          <a:prstGeom prst="rect">
            <a:avLst/>
          </a:prstGeom>
        </p:spPr>
      </p:pic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904A5107-30A8-FA0C-F187-E486FB4A6F50}"/>
              </a:ext>
            </a:extLst>
          </p:cNvPr>
          <p:cNvSpPr>
            <a:spLocks noGrp="1"/>
          </p:cNvSpPr>
          <p:nvPr/>
        </p:nvSpPr>
        <p:spPr>
          <a:xfrm>
            <a:off x="334963" y="2060575"/>
            <a:ext cx="2163762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102C53"/>
                </a:solidFill>
              </a:rPr>
              <a:t>3</a:t>
            </a:r>
            <a:r>
              <a:rPr lang="en-US" sz="1800" b="1" noProof="0">
                <a:solidFill>
                  <a:srgbClr val="102C53"/>
                </a:solidFill>
              </a:rPr>
              <a:t>. </a:t>
            </a:r>
            <a:r>
              <a:rPr lang="en-US" sz="1800" b="1">
                <a:solidFill>
                  <a:srgbClr val="102C53"/>
                </a:solidFill>
              </a:rPr>
              <a:t>Longitudinal</a:t>
            </a:r>
          </a:p>
          <a:p>
            <a:r>
              <a:rPr lang="en-US" sz="1800" b="1">
                <a:solidFill>
                  <a:srgbClr val="102C53"/>
                </a:solidFill>
              </a:rPr>
              <a:t>Dynamics</a:t>
            </a:r>
            <a:endParaRPr lang="en-US" sz="1800" b="1" noProof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4F2E3F11-6053-6053-BBA0-00D7F344C8A5}"/>
              </a:ext>
            </a:extLst>
          </p:cNvPr>
          <p:cNvSpPr>
            <a:spLocks noGrp="1"/>
          </p:cNvSpPr>
          <p:nvPr/>
        </p:nvSpPr>
        <p:spPr>
          <a:xfrm>
            <a:off x="3216275" y="6207125"/>
            <a:ext cx="5232400" cy="282575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noProof="0"/>
          </a:p>
          <a:p>
            <a:endParaRPr lang="en-US" noProof="0"/>
          </a:p>
        </p:txBody>
      </p:sp>
      <p:cxnSp>
        <p:nvCxnSpPr>
          <p:cNvPr id="55" name="Connettore 2 12">
            <a:extLst>
              <a:ext uri="{FF2B5EF4-FFF2-40B4-BE49-F238E27FC236}">
                <a16:creationId xmlns:a16="http://schemas.microsoft.com/office/drawing/2014/main" id="{3AE5B365-E143-619E-EDA2-0C6B8BE6A05D}"/>
              </a:ext>
            </a:extLst>
          </p:cNvPr>
          <p:cNvCxnSpPr/>
          <p:nvPr/>
        </p:nvCxnSpPr>
        <p:spPr>
          <a:xfrm>
            <a:off x="1745387" y="4810479"/>
            <a:ext cx="1640541" cy="1111623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2 17">
            <a:extLst>
              <a:ext uri="{FF2B5EF4-FFF2-40B4-BE49-F238E27FC236}">
                <a16:creationId xmlns:a16="http://schemas.microsoft.com/office/drawing/2014/main" id="{6BB91D9E-8EA4-D6FF-F281-80BBE06914D3}"/>
              </a:ext>
            </a:extLst>
          </p:cNvPr>
          <p:cNvCxnSpPr>
            <a:cxnSpLocks/>
          </p:cNvCxnSpPr>
          <p:nvPr/>
        </p:nvCxnSpPr>
        <p:spPr>
          <a:xfrm flipH="1">
            <a:off x="79383" y="4812662"/>
            <a:ext cx="1677622" cy="83453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2 18">
            <a:extLst>
              <a:ext uri="{FF2B5EF4-FFF2-40B4-BE49-F238E27FC236}">
                <a16:creationId xmlns:a16="http://schemas.microsoft.com/office/drawing/2014/main" id="{C7C7F29C-AC16-4DE1-B91D-8B0DBB576BE7}"/>
              </a:ext>
            </a:extLst>
          </p:cNvPr>
          <p:cNvCxnSpPr>
            <a:cxnSpLocks/>
          </p:cNvCxnSpPr>
          <p:nvPr/>
        </p:nvCxnSpPr>
        <p:spPr>
          <a:xfrm flipV="1">
            <a:off x="1742564" y="2933727"/>
            <a:ext cx="2823" cy="190242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CasellaDiTesto 12">
                <a:extLst>
                  <a:ext uri="{FF2B5EF4-FFF2-40B4-BE49-F238E27FC236}">
                    <a16:creationId xmlns:a16="http://schemas.microsoft.com/office/drawing/2014/main" id="{AD891B2C-E79B-BC41-198C-6E915B125421}"/>
                  </a:ext>
                </a:extLst>
              </p:cNvPr>
              <p:cNvSpPr txBox="1"/>
              <p:nvPr/>
            </p:nvSpPr>
            <p:spPr>
              <a:xfrm>
                <a:off x="1394007" y="2724362"/>
                <a:ext cx="11401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it-IT" b="1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1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it-IT" b="1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58" name="CasellaDiTesto 12">
                <a:extLst>
                  <a:ext uri="{FF2B5EF4-FFF2-40B4-BE49-F238E27FC236}">
                    <a16:creationId xmlns:a16="http://schemas.microsoft.com/office/drawing/2014/main" id="{AD891B2C-E79B-BC41-198C-6E915B125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4007" y="2724362"/>
                <a:ext cx="1140178" cy="369332"/>
              </a:xfrm>
              <a:prstGeom prst="rect">
                <a:avLst/>
              </a:prstGeom>
              <a:blipFill>
                <a:blip r:embed="rId13"/>
                <a:stretch>
                  <a:fillRect t="-500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Arco 58">
            <a:extLst>
              <a:ext uri="{FF2B5EF4-FFF2-40B4-BE49-F238E27FC236}">
                <a16:creationId xmlns:a16="http://schemas.microsoft.com/office/drawing/2014/main" id="{1E51C2A9-0511-A5DA-DD71-CA55545A2973}"/>
              </a:ext>
            </a:extLst>
          </p:cNvPr>
          <p:cNvSpPr/>
          <p:nvPr/>
        </p:nvSpPr>
        <p:spPr>
          <a:xfrm>
            <a:off x="184395" y="5173653"/>
            <a:ext cx="1019000" cy="1024221"/>
          </a:xfrm>
          <a:prstGeom prst="arc">
            <a:avLst>
              <a:gd name="adj1" fmla="val 13738369"/>
              <a:gd name="adj2" fmla="val 0"/>
            </a:avLst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FF0000"/>
              </a:solidFill>
            </a:endParaRPr>
          </a:p>
        </p:txBody>
      </p:sp>
      <p:sp>
        <p:nvSpPr>
          <p:cNvPr id="60" name="Arco 59">
            <a:extLst>
              <a:ext uri="{FF2B5EF4-FFF2-40B4-BE49-F238E27FC236}">
                <a16:creationId xmlns:a16="http://schemas.microsoft.com/office/drawing/2014/main" id="{C9240BB8-D150-CD09-18AB-C1658249CCBB}"/>
              </a:ext>
            </a:extLst>
          </p:cNvPr>
          <p:cNvSpPr/>
          <p:nvPr/>
        </p:nvSpPr>
        <p:spPr>
          <a:xfrm>
            <a:off x="-5219" y="5285894"/>
            <a:ext cx="937011" cy="1024221"/>
          </a:xfrm>
          <a:prstGeom prst="arc">
            <a:avLst>
              <a:gd name="adj1" fmla="val 13738369"/>
              <a:gd name="adj2" fmla="val 0"/>
            </a:avLst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asellaDiTesto 15">
                <a:extLst>
                  <a:ext uri="{FF2B5EF4-FFF2-40B4-BE49-F238E27FC236}">
                    <a16:creationId xmlns:a16="http://schemas.microsoft.com/office/drawing/2014/main" id="{15097D23-2442-58A6-1361-288ABDDD89B4}"/>
                  </a:ext>
                </a:extLst>
              </p:cNvPr>
              <p:cNvSpPr txBox="1"/>
              <p:nvPr/>
            </p:nvSpPr>
            <p:spPr>
              <a:xfrm>
                <a:off x="1172448" y="5539665"/>
                <a:ext cx="358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1" name="CasellaDiTesto 15">
                <a:extLst>
                  <a:ext uri="{FF2B5EF4-FFF2-40B4-BE49-F238E27FC236}">
                    <a16:creationId xmlns:a16="http://schemas.microsoft.com/office/drawing/2014/main" id="{15097D23-2442-58A6-1361-288ABDDD8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448" y="5539665"/>
                <a:ext cx="358187" cy="369332"/>
              </a:xfrm>
              <a:prstGeom prst="rect">
                <a:avLst/>
              </a:prstGeom>
              <a:blipFill>
                <a:blip r:embed="rId1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asellaDiTesto 16">
                <a:extLst>
                  <a:ext uri="{FF2B5EF4-FFF2-40B4-BE49-F238E27FC236}">
                    <a16:creationId xmlns:a16="http://schemas.microsoft.com/office/drawing/2014/main" id="{4DD61842-BB0C-929A-D376-20F8A3630863}"/>
                  </a:ext>
                </a:extLst>
              </p:cNvPr>
              <p:cNvSpPr txBox="1"/>
              <p:nvPr/>
            </p:nvSpPr>
            <p:spPr>
              <a:xfrm>
                <a:off x="760489" y="5724331"/>
                <a:ext cx="35818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𝝓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2" name="CasellaDiTesto 16">
                <a:extLst>
                  <a:ext uri="{FF2B5EF4-FFF2-40B4-BE49-F238E27FC236}">
                    <a16:creationId xmlns:a16="http://schemas.microsoft.com/office/drawing/2014/main" id="{4DD61842-BB0C-929A-D376-20F8A3630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489" y="5724331"/>
                <a:ext cx="358187" cy="369332"/>
              </a:xfrm>
              <a:prstGeom prst="rect">
                <a:avLst/>
              </a:prstGeom>
              <a:blipFill>
                <a:blip r:embed="rId15"/>
                <a:stretch>
                  <a:fillRect l="-5085" r="-5085" b="-147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Connettore diritto a freccia 17">
            <a:extLst>
              <a:ext uri="{FF2B5EF4-FFF2-40B4-BE49-F238E27FC236}">
                <a16:creationId xmlns:a16="http://schemas.microsoft.com/office/drawing/2014/main" id="{58E76FC5-6B9A-F731-EE30-70A14E8B066E}"/>
              </a:ext>
            </a:extLst>
          </p:cNvPr>
          <p:cNvCxnSpPr>
            <a:cxnSpLocks/>
          </p:cNvCxnSpPr>
          <p:nvPr/>
        </p:nvCxnSpPr>
        <p:spPr>
          <a:xfrm flipH="1">
            <a:off x="63283" y="4874239"/>
            <a:ext cx="1693722" cy="850092"/>
          </a:xfrm>
          <a:prstGeom prst="straightConnector1">
            <a:avLst/>
          </a:prstGeom>
          <a:ln w="38100">
            <a:solidFill>
              <a:srgbClr val="3B35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asellaDiTesto 18">
                <a:extLst>
                  <a:ext uri="{FF2B5EF4-FFF2-40B4-BE49-F238E27FC236}">
                    <a16:creationId xmlns:a16="http://schemas.microsoft.com/office/drawing/2014/main" id="{8808259E-595D-CA1D-E4A6-486F74D3EB2B}"/>
                  </a:ext>
                </a:extLst>
              </p:cNvPr>
              <p:cNvSpPr txBox="1"/>
              <p:nvPr/>
            </p:nvSpPr>
            <p:spPr>
              <a:xfrm>
                <a:off x="65032" y="5668493"/>
                <a:ext cx="643891" cy="3784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1" i="1" dirty="0" smtClean="0">
                              <a:solidFill>
                                <a:srgbClr val="3B35D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dirty="0" smtClean="0">
                              <a:solidFill>
                                <a:srgbClr val="3B35DE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it-IT" b="1" i="1" dirty="0" smtClean="0">
                              <a:solidFill>
                                <a:srgbClr val="3B35DE"/>
                              </a:solidFill>
                              <a:latin typeface="Cambria Math" panose="02040503050406030204" pitchFamily="18" charset="0"/>
                            </a:rPr>
                            <m:t>𝒍𝒐𝒏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4" name="CasellaDiTesto 18">
                <a:extLst>
                  <a:ext uri="{FF2B5EF4-FFF2-40B4-BE49-F238E27FC236}">
                    <a16:creationId xmlns:a16="http://schemas.microsoft.com/office/drawing/2014/main" id="{8808259E-595D-CA1D-E4A6-486F74D3E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32" y="5668493"/>
                <a:ext cx="643891" cy="37848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CasellaDiTesto 19">
                <a:extLst>
                  <a:ext uri="{FF2B5EF4-FFF2-40B4-BE49-F238E27FC236}">
                    <a16:creationId xmlns:a16="http://schemas.microsoft.com/office/drawing/2014/main" id="{FFD59EEE-D5CE-1035-9FFE-76614B7445CA}"/>
                  </a:ext>
                </a:extLst>
              </p:cNvPr>
              <p:cNvSpPr txBox="1"/>
              <p:nvPr/>
            </p:nvSpPr>
            <p:spPr>
              <a:xfrm>
                <a:off x="-32023" y="5453885"/>
                <a:ext cx="11401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it-IT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acc>
                    </m:oMath>
                  </m:oMathPara>
                </a14:m>
                <a:endParaRPr lang="it-IT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5" name="CasellaDiTesto 19">
                <a:extLst>
                  <a:ext uri="{FF2B5EF4-FFF2-40B4-BE49-F238E27FC236}">
                    <a16:creationId xmlns:a16="http://schemas.microsoft.com/office/drawing/2014/main" id="{FFD59EEE-D5CE-1035-9FFE-76614B744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023" y="5453885"/>
                <a:ext cx="1140178" cy="369332"/>
              </a:xfrm>
              <a:prstGeom prst="rect">
                <a:avLst/>
              </a:prstGeom>
              <a:blipFill>
                <a:blip r:embed="rId17"/>
                <a:stretch>
                  <a:fillRect t="-500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asellaDiTesto 42">
                <a:extLst>
                  <a:ext uri="{FF2B5EF4-FFF2-40B4-BE49-F238E27FC236}">
                    <a16:creationId xmlns:a16="http://schemas.microsoft.com/office/drawing/2014/main" id="{610B3EA4-D0D5-290E-8779-E27B0A3438C3}"/>
                  </a:ext>
                </a:extLst>
              </p:cNvPr>
              <p:cNvSpPr txBox="1"/>
              <p:nvPr/>
            </p:nvSpPr>
            <p:spPr>
              <a:xfrm>
                <a:off x="2457328" y="5761402"/>
                <a:ext cx="11401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it-IT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6" name="CasellaDiTesto 42">
                <a:extLst>
                  <a:ext uri="{FF2B5EF4-FFF2-40B4-BE49-F238E27FC236}">
                    <a16:creationId xmlns:a16="http://schemas.microsoft.com/office/drawing/2014/main" id="{610B3EA4-D0D5-290E-8779-E27B0A343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328" y="5761402"/>
                <a:ext cx="1140178" cy="369332"/>
              </a:xfrm>
              <a:prstGeom prst="rect">
                <a:avLst/>
              </a:prstGeom>
              <a:blipFill>
                <a:blip r:embed="rId18"/>
                <a:stretch>
                  <a:fillRect t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4755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27A9F-9005-8905-7977-BB3B6917C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magine 10">
            <a:extLst>
              <a:ext uri="{FF2B5EF4-FFF2-40B4-BE49-F238E27FC236}">
                <a16:creationId xmlns:a16="http://schemas.microsoft.com/office/drawing/2014/main" id="{20F2342C-EABB-F644-DBDC-A4FDCB8442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935908" y="3950927"/>
            <a:ext cx="3537858" cy="2598965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7987C78F-A907-2BD6-09B5-76DC68CF3E0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8800"/>
                    </a14:imgEffect>
                    <a14:imgEffect>
                      <a14:brightnessContrast bright="100000" contrast="-56000"/>
                    </a14:imgEffect>
                  </a14:imgLayer>
                </a14:imgProps>
              </a:ext>
            </a:extLst>
          </a:blip>
          <a:srcRect l="18314" t="-591" r="44477"/>
          <a:stretch>
            <a:fillRect/>
          </a:stretch>
        </p:blipFill>
        <p:spPr>
          <a:xfrm>
            <a:off x="-22075" y="1318577"/>
            <a:ext cx="2877765" cy="568145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47A3050-EFB2-8C5F-4C31-46B14D1DA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08073"/>
            <a:ext cx="2163688" cy="2814355"/>
          </a:xfrm>
        </p:spPr>
        <p:txBody>
          <a:bodyPr/>
          <a:lstStyle/>
          <a:p>
            <a:endParaRPr lang="it-IT" sz="1800">
              <a:solidFill>
                <a:srgbClr val="102C53"/>
              </a:solidFill>
              <a:latin typeface="+mn-lt"/>
              <a:ea typeface="+mn-ea"/>
              <a:cs typeface="+mn-cs"/>
            </a:endParaRPr>
          </a:p>
          <a:p>
            <a:br>
              <a:rPr lang="en-US" sz="1800">
                <a:solidFill>
                  <a:srgbClr val="102C53"/>
                </a:solidFill>
                <a:latin typeface="+mn-lt"/>
                <a:ea typeface="+mn-ea"/>
                <a:cs typeface="+mn-cs"/>
              </a:rPr>
            </a:br>
            <a:endParaRPr lang="en-US" sz="1800">
              <a:solidFill>
                <a:srgbClr val="102C5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7F4220-6CB1-99ED-A732-68B99B796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1FB1EF-D7FA-4AB3-A499-83F9AF562A32}" type="datetime1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6/27/2026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711AF-0457-2873-05E5-B1C1A6454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5" y="21355"/>
            <a:ext cx="7136765" cy="365125"/>
          </a:xfrm>
        </p:spPr>
        <p:txBody>
          <a:bodyPr/>
          <a:lstStyle/>
          <a:p>
            <a:pPr lvl="0"/>
            <a:r>
              <a:rPr lang="en-US" noProof="0"/>
              <a:t>Aerospace Control Systems - Exam project AA 25/26 - </a:t>
            </a:r>
            <a:r>
              <a:rPr lang="en-US" b="1" noProof="0"/>
              <a:t>Robust multivariable control of the lateral/longitudinal dynamics of a multirotor UAV</a:t>
            </a:r>
            <a:endParaRPr kumimoji="0" lang="en-US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F077A7-CDFF-8405-18B9-3EF1529DF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35EEA2-8D42-4D46-95A6-66E65FDC5EB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DF4C7C-FA65-061C-F7D3-65B28AD860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1075055"/>
            <a:ext cx="2383297" cy="4429125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rgbClr val="102C53"/>
                </a:solidFill>
              </a:rPr>
              <a:t>4</a:t>
            </a:r>
            <a:r>
              <a:rPr lang="en-US" sz="1800" b="1" noProof="0">
                <a:solidFill>
                  <a:srgbClr val="102C53"/>
                </a:solidFill>
              </a:rPr>
              <a:t>. Longitudinal/lateral 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99CB078-FEE0-76CE-B6E8-C224E206A4C5}"/>
                  </a:ext>
                </a:extLst>
              </p:cNvPr>
              <p:cNvSpPr>
                <a:spLocks noGrp="1"/>
              </p:cNvSpPr>
              <p:nvPr>
                <p:ph sz="quarter" idx="15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noProof="0">
                    <a:solidFill>
                      <a:srgbClr val="102C53"/>
                    </a:solidFill>
                  </a:rPr>
                  <a:t>Uncertain coupling between </a:t>
                </a:r>
                <a:r>
                  <a:rPr lang="en-US" sz="1800">
                    <a:solidFill>
                      <a:srgbClr val="102C53"/>
                    </a:solidFill>
                  </a:rPr>
                  <a:t>lateral and longitudinal dynamics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it-IT" sz="1800" b="0" i="1" smtClean="0">
                              <a:solidFill>
                                <a:srgbClr val="102C5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 smtClean="0">
                                  <a:solidFill>
                                    <a:srgbClr val="102C5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sz="1800" b="0" i="1" smtClean="0">
                                        <a:solidFill>
                                          <a:srgbClr val="102C5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it-IT" sz="1800" b="0" i="1" smtClean="0">
                                        <a:solidFill>
                                          <a:srgbClr val="102C5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it-IT" sz="1800" b="0" i="1" smtClean="0">
                                        <a:solidFill>
                                          <a:srgbClr val="102C5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it-IT" sz="1800" b="0" i="1" smtClean="0">
                                        <a:solidFill>
                                          <a:srgbClr val="102C5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sz="1800" b="0" i="1" smtClean="0">
                                        <a:solidFill>
                                          <a:srgbClr val="102C5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800" b="0" i="1" smtClean="0">
                                        <a:solidFill>
                                          <a:srgbClr val="102C5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it-IT" sz="1800" b="0" i="1" smtClean="0">
                                        <a:solidFill>
                                          <a:srgbClr val="102C5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𝑙𝑎𝑡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it-IT" sz="1800" b="0" i="1" smtClean="0">
                          <a:solidFill>
                            <a:srgbClr val="102C5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1800" b="0" i="1" smtClean="0">
                              <a:solidFill>
                                <a:srgbClr val="102C5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1800" b="0" i="1" smtClean="0">
                                  <a:solidFill>
                                    <a:srgbClr val="102C5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it-IT" sz="1800" b="0" i="1" smtClean="0">
                                        <a:solidFill>
                                          <a:srgbClr val="102C5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it-IT" sz="1800" b="0" i="0" smtClean="0">
                                        <a:solidFill>
                                          <a:srgbClr val="102C5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it-IT" sz="1800" b="0" i="0" smtClean="0">
                                        <a:solidFill>
                                          <a:srgbClr val="102C5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it-IT" sz="1800" b="0" i="1" smtClean="0">
                                            <a:solidFill>
                                              <a:srgbClr val="102C5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it-IT" sz="1800" b="0" i="1" smtClean="0">
                                            <a:solidFill>
                                              <a:srgbClr val="102C5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it-IT" sz="1800" b="0" i="1" smtClean="0">
                                        <a:solidFill>
                                          <a:srgbClr val="102C5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it-IT" sz="1800" b="0" i="0" smtClean="0">
                                        <a:solidFill>
                                          <a:srgbClr val="102C5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it-IT" sz="1800" b="0" i="1" smtClean="0">
                                            <a:solidFill>
                                              <a:srgbClr val="102C5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it-IT" sz="1800" b="0" i="1" smtClean="0">
                                            <a:solidFill>
                                              <a:srgbClr val="102C5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it-IT" sz="1800" b="0" i="1" smtClean="0">
                                    <a:solidFill>
                                      <a:srgbClr val="102C5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it-IT" sz="1800" b="0" i="1" smtClean="0">
                                        <a:solidFill>
                                          <a:srgbClr val="102C5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it-IT" sz="1800" b="0" i="0" smtClean="0">
                                        <a:solidFill>
                                          <a:srgbClr val="102C5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it-IT" sz="1800" b="0" i="1" smtClean="0">
                                            <a:solidFill>
                                              <a:srgbClr val="102C5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it-IT" sz="1800" b="0" i="1" smtClean="0">
                                            <a:solidFill>
                                              <a:srgbClr val="102C5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it-IT" sz="1800" b="0" i="1" smtClean="0">
                                        <a:solidFill>
                                          <a:srgbClr val="102C5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it-IT" sz="1800" b="0" i="0" smtClean="0">
                                        <a:solidFill>
                                          <a:srgbClr val="102C5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it-IT" sz="1800" b="0" i="1" smtClean="0">
                                            <a:solidFill>
                                              <a:srgbClr val="102C5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it-IT" sz="1800" b="0" i="1" smtClean="0">
                                            <a:solidFill>
                                              <a:srgbClr val="102C5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it-IT" sz="1800" b="0" i="1" smtClean="0">
                              <a:solidFill>
                                <a:srgbClr val="102C5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1800" b="0" i="1" smtClean="0">
                                  <a:solidFill>
                                    <a:srgbClr val="102C5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sz="1800" b="0" i="1" smtClean="0">
                                        <a:solidFill>
                                          <a:srgbClr val="102C5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800" b="0" i="1" smtClean="0">
                                        <a:solidFill>
                                          <a:srgbClr val="102C5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it-IT" sz="1800" b="0" i="1" smtClean="0">
                                        <a:solidFill>
                                          <a:srgbClr val="102C5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𝑙𝑜𝑛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sz="1800" b="0" i="1" smtClean="0">
                                        <a:solidFill>
                                          <a:srgbClr val="102C5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800" b="0" i="1" smtClean="0">
                                        <a:solidFill>
                                          <a:srgbClr val="102C5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it-IT" sz="1800" b="0" i="1" smtClean="0">
                                        <a:solidFill>
                                          <a:srgbClr val="102C5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𝑙𝑎𝑡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800">
                  <a:solidFill>
                    <a:srgbClr val="102C53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800">
                    <a:solidFill>
                      <a:srgbClr val="102C53"/>
                    </a:solidFill>
                  </a:rPr>
                  <a:t> where </a:t>
                </a:r>
                <a14:m>
                  <m:oMath xmlns:m="http://schemas.openxmlformats.org/officeDocument/2006/math">
                    <m:r>
                      <a:rPr lang="it-IT" sz="1800" b="0" i="1" smtClean="0">
                        <a:solidFill>
                          <a:srgbClr val="102C53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it-IT" sz="1800" b="0" i="1" smtClean="0">
                        <a:solidFill>
                          <a:srgbClr val="102C53"/>
                        </a:solidFill>
                        <a:latin typeface="Cambria Math" panose="02040503050406030204" pitchFamily="18" charset="0"/>
                      </a:rPr>
                      <m:t>∈[−15°,+15°]</m:t>
                    </m:r>
                  </m:oMath>
                </a14:m>
                <a:r>
                  <a:rPr lang="en-US" sz="1800">
                    <a:solidFill>
                      <a:srgbClr val="102C5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99CB078-FEE0-76CE-B6E8-C224E206A4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5"/>
              </p:nvPr>
            </p:nvSpPr>
            <p:spPr>
              <a:blipFill>
                <a:blip r:embed="rId4"/>
                <a:stretch>
                  <a:fillRect l="-1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C902C12-0954-A088-4967-8FBE4C9819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endParaRPr lang="en-US" noProof="0"/>
          </a:p>
          <a:p>
            <a:endParaRPr lang="en-US" noProof="0"/>
          </a:p>
        </p:txBody>
      </p:sp>
      <p:cxnSp>
        <p:nvCxnSpPr>
          <p:cNvPr id="10" name="Connettore 2 12">
            <a:extLst>
              <a:ext uri="{FF2B5EF4-FFF2-40B4-BE49-F238E27FC236}">
                <a16:creationId xmlns:a16="http://schemas.microsoft.com/office/drawing/2014/main" id="{9CB4A1DE-06D7-710E-12EA-395EDF137091}"/>
              </a:ext>
            </a:extLst>
          </p:cNvPr>
          <p:cNvCxnSpPr/>
          <p:nvPr/>
        </p:nvCxnSpPr>
        <p:spPr>
          <a:xfrm>
            <a:off x="9784704" y="5015374"/>
            <a:ext cx="1640541" cy="1111623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7">
            <a:extLst>
              <a:ext uri="{FF2B5EF4-FFF2-40B4-BE49-F238E27FC236}">
                <a16:creationId xmlns:a16="http://schemas.microsoft.com/office/drawing/2014/main" id="{B45C3C3A-F35E-D89B-64BE-6FA26F46D379}"/>
              </a:ext>
            </a:extLst>
          </p:cNvPr>
          <p:cNvCxnSpPr>
            <a:cxnSpLocks/>
          </p:cNvCxnSpPr>
          <p:nvPr/>
        </p:nvCxnSpPr>
        <p:spPr>
          <a:xfrm flipH="1">
            <a:off x="8118700" y="5017557"/>
            <a:ext cx="1677622" cy="83453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8">
            <a:extLst>
              <a:ext uri="{FF2B5EF4-FFF2-40B4-BE49-F238E27FC236}">
                <a16:creationId xmlns:a16="http://schemas.microsoft.com/office/drawing/2014/main" id="{EDA55DCC-DCAA-904A-AA40-6335FF2A428D}"/>
              </a:ext>
            </a:extLst>
          </p:cNvPr>
          <p:cNvCxnSpPr>
            <a:cxnSpLocks/>
          </p:cNvCxnSpPr>
          <p:nvPr/>
        </p:nvCxnSpPr>
        <p:spPr>
          <a:xfrm flipV="1">
            <a:off x="9781881" y="3138622"/>
            <a:ext cx="2823" cy="190242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24E03879-88FC-30AD-9C17-3D08D44B9B32}"/>
                  </a:ext>
                </a:extLst>
              </p:cNvPr>
              <p:cNvSpPr txBox="1"/>
              <p:nvPr/>
            </p:nvSpPr>
            <p:spPr>
              <a:xfrm>
                <a:off x="9433324" y="2929257"/>
                <a:ext cx="11401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it-IT" b="1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1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it-IT" b="1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24E03879-88FC-30AD-9C17-3D08D44B9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3324" y="2929257"/>
                <a:ext cx="1140178" cy="369332"/>
              </a:xfrm>
              <a:prstGeom prst="rect">
                <a:avLst/>
              </a:prstGeom>
              <a:blipFill>
                <a:blip r:embed="rId5"/>
                <a:stretch>
                  <a:fillRect t="-5000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co 13">
            <a:extLst>
              <a:ext uri="{FF2B5EF4-FFF2-40B4-BE49-F238E27FC236}">
                <a16:creationId xmlns:a16="http://schemas.microsoft.com/office/drawing/2014/main" id="{0E851DAD-9EE6-34D1-1DD9-206ED0BB7651}"/>
              </a:ext>
            </a:extLst>
          </p:cNvPr>
          <p:cNvSpPr/>
          <p:nvPr/>
        </p:nvSpPr>
        <p:spPr>
          <a:xfrm>
            <a:off x="8223712" y="5378548"/>
            <a:ext cx="1019000" cy="1024221"/>
          </a:xfrm>
          <a:prstGeom prst="arc">
            <a:avLst>
              <a:gd name="adj1" fmla="val 13738369"/>
              <a:gd name="adj2" fmla="val 0"/>
            </a:avLst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FF0000"/>
              </a:solidFill>
            </a:endParaRPr>
          </a:p>
        </p:txBody>
      </p:sp>
      <p:sp>
        <p:nvSpPr>
          <p:cNvPr id="15" name="Arco 14">
            <a:extLst>
              <a:ext uri="{FF2B5EF4-FFF2-40B4-BE49-F238E27FC236}">
                <a16:creationId xmlns:a16="http://schemas.microsoft.com/office/drawing/2014/main" id="{DA0D1A87-EF43-AB7D-6A80-D2B5E07791B3}"/>
              </a:ext>
            </a:extLst>
          </p:cNvPr>
          <p:cNvSpPr/>
          <p:nvPr/>
        </p:nvSpPr>
        <p:spPr>
          <a:xfrm>
            <a:off x="8034098" y="5490789"/>
            <a:ext cx="937011" cy="1024221"/>
          </a:xfrm>
          <a:prstGeom prst="arc">
            <a:avLst>
              <a:gd name="adj1" fmla="val 13738369"/>
              <a:gd name="adj2" fmla="val 0"/>
            </a:avLst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47510143-4FA2-CE51-ACB1-8BC70109EFA8}"/>
                  </a:ext>
                </a:extLst>
              </p:cNvPr>
              <p:cNvSpPr txBox="1"/>
              <p:nvPr/>
            </p:nvSpPr>
            <p:spPr>
              <a:xfrm>
                <a:off x="9211765" y="5744560"/>
                <a:ext cx="358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47510143-4FA2-CE51-ACB1-8BC70109E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1765" y="5744560"/>
                <a:ext cx="358187" cy="369332"/>
              </a:xfrm>
              <a:prstGeom prst="rect">
                <a:avLst/>
              </a:prstGeom>
              <a:blipFill>
                <a:blip r:embed="rId6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E7A8C470-FB22-0940-9059-495FAB27D1C0}"/>
                  </a:ext>
                </a:extLst>
              </p:cNvPr>
              <p:cNvSpPr txBox="1"/>
              <p:nvPr/>
            </p:nvSpPr>
            <p:spPr>
              <a:xfrm>
                <a:off x="8799806" y="5929226"/>
                <a:ext cx="35818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𝝓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E7A8C470-FB22-0940-9059-495FAB27D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806" y="5929226"/>
                <a:ext cx="358187" cy="369332"/>
              </a:xfrm>
              <a:prstGeom prst="rect">
                <a:avLst/>
              </a:prstGeom>
              <a:blipFill>
                <a:blip r:embed="rId7"/>
                <a:stretch>
                  <a:fillRect l="-5172" r="-6897" b="-1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nettore diritto a freccia 17">
            <a:extLst>
              <a:ext uri="{FF2B5EF4-FFF2-40B4-BE49-F238E27FC236}">
                <a16:creationId xmlns:a16="http://schemas.microsoft.com/office/drawing/2014/main" id="{167BA747-9E36-5B4E-4FCC-03FDB9FF3B04}"/>
              </a:ext>
            </a:extLst>
          </p:cNvPr>
          <p:cNvCxnSpPr>
            <a:cxnSpLocks/>
          </p:cNvCxnSpPr>
          <p:nvPr/>
        </p:nvCxnSpPr>
        <p:spPr>
          <a:xfrm flipH="1">
            <a:off x="8102600" y="5079134"/>
            <a:ext cx="1693722" cy="850092"/>
          </a:xfrm>
          <a:prstGeom prst="straightConnector1">
            <a:avLst/>
          </a:prstGeom>
          <a:ln w="38100">
            <a:solidFill>
              <a:srgbClr val="3B35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44E07837-C203-D026-26B6-7E1F775BDD05}"/>
                  </a:ext>
                </a:extLst>
              </p:cNvPr>
              <p:cNvSpPr txBox="1"/>
              <p:nvPr/>
            </p:nvSpPr>
            <p:spPr>
              <a:xfrm>
                <a:off x="8104349" y="5873388"/>
                <a:ext cx="643891" cy="3784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1" i="1" dirty="0" smtClean="0">
                              <a:solidFill>
                                <a:srgbClr val="3B35D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dirty="0" smtClean="0">
                              <a:solidFill>
                                <a:srgbClr val="3B35DE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it-IT" b="1" i="1" dirty="0" smtClean="0">
                              <a:solidFill>
                                <a:srgbClr val="3B35DE"/>
                              </a:solidFill>
                              <a:latin typeface="Cambria Math" panose="02040503050406030204" pitchFamily="18" charset="0"/>
                            </a:rPr>
                            <m:t>𝒍𝒐𝒏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44E07837-C203-D026-26B6-7E1F775BD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4349" y="5873388"/>
                <a:ext cx="643891" cy="3784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B648B4DD-3F53-9EEA-5694-31E82E7285E6}"/>
                  </a:ext>
                </a:extLst>
              </p:cNvPr>
              <p:cNvSpPr txBox="1"/>
              <p:nvPr/>
            </p:nvSpPr>
            <p:spPr>
              <a:xfrm>
                <a:off x="8007294" y="5658780"/>
                <a:ext cx="11401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it-IT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acc>
                    </m:oMath>
                  </m:oMathPara>
                </a14:m>
                <a:endParaRPr lang="it-IT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B648B4DD-3F53-9EEA-5694-31E82E728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7294" y="5658780"/>
                <a:ext cx="1140178" cy="369332"/>
              </a:xfrm>
              <a:prstGeom prst="rect">
                <a:avLst/>
              </a:prstGeom>
              <a:blipFill>
                <a:blip r:embed="rId9"/>
                <a:stretch>
                  <a:fillRect t="-4918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sellaDiTesto 42">
                <a:extLst>
                  <a:ext uri="{FF2B5EF4-FFF2-40B4-BE49-F238E27FC236}">
                    <a16:creationId xmlns:a16="http://schemas.microsoft.com/office/drawing/2014/main" id="{5997993C-83F7-E2CD-5D66-95C780F79A81}"/>
                  </a:ext>
                </a:extLst>
              </p:cNvPr>
              <p:cNvSpPr txBox="1"/>
              <p:nvPr/>
            </p:nvSpPr>
            <p:spPr>
              <a:xfrm>
                <a:off x="10496645" y="5966297"/>
                <a:ext cx="11401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it-IT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1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3" name="CasellaDiTesto 42">
                <a:extLst>
                  <a:ext uri="{FF2B5EF4-FFF2-40B4-BE49-F238E27FC236}">
                    <a16:creationId xmlns:a16="http://schemas.microsoft.com/office/drawing/2014/main" id="{5997993C-83F7-E2CD-5D66-95C780F79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6645" y="5966297"/>
                <a:ext cx="1140178" cy="369332"/>
              </a:xfrm>
              <a:prstGeom prst="rect">
                <a:avLst/>
              </a:prstGeom>
              <a:blipFill>
                <a:blip r:embed="rId10"/>
                <a:stretch>
                  <a:fillRect t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Arco 43">
            <a:extLst>
              <a:ext uri="{FF2B5EF4-FFF2-40B4-BE49-F238E27FC236}">
                <a16:creationId xmlns:a16="http://schemas.microsoft.com/office/drawing/2014/main" id="{811C0D90-9344-FCF3-6B05-40CF301037B1}"/>
              </a:ext>
            </a:extLst>
          </p:cNvPr>
          <p:cNvSpPr/>
          <p:nvPr/>
        </p:nvSpPr>
        <p:spPr>
          <a:xfrm flipH="1">
            <a:off x="10480453" y="5674806"/>
            <a:ext cx="1034062" cy="1024221"/>
          </a:xfrm>
          <a:prstGeom prst="arc">
            <a:avLst>
              <a:gd name="adj1" fmla="val 13738369"/>
              <a:gd name="adj2" fmla="val 0"/>
            </a:avLst>
          </a:prstGeom>
          <a:ln w="1905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sellaDiTesto 44">
                <a:extLst>
                  <a:ext uri="{FF2B5EF4-FFF2-40B4-BE49-F238E27FC236}">
                    <a16:creationId xmlns:a16="http://schemas.microsoft.com/office/drawing/2014/main" id="{BE54A14D-132A-CABA-589E-8AD75CDAC857}"/>
                  </a:ext>
                </a:extLst>
              </p:cNvPr>
              <p:cNvSpPr txBox="1"/>
              <p:nvPr/>
            </p:nvSpPr>
            <p:spPr>
              <a:xfrm>
                <a:off x="10510905" y="6291927"/>
                <a:ext cx="358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5" name="CasellaDiTesto 44">
                <a:extLst>
                  <a:ext uri="{FF2B5EF4-FFF2-40B4-BE49-F238E27FC236}">
                    <a16:creationId xmlns:a16="http://schemas.microsoft.com/office/drawing/2014/main" id="{BE54A14D-132A-CABA-589E-8AD75CDAC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905" y="6291927"/>
                <a:ext cx="358187" cy="369332"/>
              </a:xfrm>
              <a:prstGeom prst="rect">
                <a:avLst/>
              </a:prstGeom>
              <a:blipFill>
                <a:blip r:embed="rId11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sellaDiTesto 45">
                <a:extLst>
                  <a:ext uri="{FF2B5EF4-FFF2-40B4-BE49-F238E27FC236}">
                    <a16:creationId xmlns:a16="http://schemas.microsoft.com/office/drawing/2014/main" id="{07164246-EAA8-B526-3529-29A0C1A93939}"/>
                  </a:ext>
                </a:extLst>
              </p:cNvPr>
              <p:cNvSpPr txBox="1"/>
              <p:nvPr/>
            </p:nvSpPr>
            <p:spPr>
              <a:xfrm>
                <a:off x="10220333" y="6107261"/>
                <a:ext cx="358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𝝓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6" name="CasellaDiTesto 45">
                <a:extLst>
                  <a:ext uri="{FF2B5EF4-FFF2-40B4-BE49-F238E27FC236}">
                    <a16:creationId xmlns:a16="http://schemas.microsoft.com/office/drawing/2014/main" id="{07164246-EAA8-B526-3529-29A0C1A93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333" y="6107261"/>
                <a:ext cx="358187" cy="369332"/>
              </a:xfrm>
              <a:prstGeom prst="rect">
                <a:avLst/>
              </a:prstGeom>
              <a:blipFill>
                <a:blip r:embed="rId12"/>
                <a:stretch>
                  <a:fillRect l="-5172" r="-6897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Connettore diritto a freccia 46">
            <a:extLst>
              <a:ext uri="{FF2B5EF4-FFF2-40B4-BE49-F238E27FC236}">
                <a16:creationId xmlns:a16="http://schemas.microsoft.com/office/drawing/2014/main" id="{25F9997E-4BF3-A196-5D81-DC0046C26337}"/>
              </a:ext>
            </a:extLst>
          </p:cNvPr>
          <p:cNvCxnSpPr>
            <a:cxnSpLocks/>
          </p:cNvCxnSpPr>
          <p:nvPr/>
        </p:nvCxnSpPr>
        <p:spPr>
          <a:xfrm>
            <a:off x="9796322" y="5108224"/>
            <a:ext cx="1778401" cy="1213564"/>
          </a:xfrm>
          <a:prstGeom prst="straightConnector1">
            <a:avLst/>
          </a:prstGeom>
          <a:ln w="38100">
            <a:solidFill>
              <a:srgbClr val="3B35D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3D25DBD6-A5F8-241D-1C4A-EBD43741B513}"/>
                  </a:ext>
                </a:extLst>
              </p:cNvPr>
              <p:cNvSpPr txBox="1"/>
              <p:nvPr/>
            </p:nvSpPr>
            <p:spPr>
              <a:xfrm>
                <a:off x="11093412" y="6243323"/>
                <a:ext cx="643891" cy="3784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1" i="1" dirty="0" smtClean="0">
                              <a:solidFill>
                                <a:srgbClr val="3B35D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dirty="0" smtClean="0">
                              <a:solidFill>
                                <a:srgbClr val="3B35DE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it-IT" b="1" i="1" dirty="0" smtClean="0">
                              <a:solidFill>
                                <a:srgbClr val="3B35DE"/>
                              </a:solidFill>
                              <a:latin typeface="Cambria Math" panose="02040503050406030204" pitchFamily="18" charset="0"/>
                            </a:rPr>
                            <m:t>𝒍𝒂𝒕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3D25DBD6-A5F8-241D-1C4A-EBD43741B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3412" y="6243323"/>
                <a:ext cx="643891" cy="3784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Arco 49">
            <a:extLst>
              <a:ext uri="{FF2B5EF4-FFF2-40B4-BE49-F238E27FC236}">
                <a16:creationId xmlns:a16="http://schemas.microsoft.com/office/drawing/2014/main" id="{3F1441B3-2F97-19F9-B137-2EC7410489EC}"/>
              </a:ext>
            </a:extLst>
          </p:cNvPr>
          <p:cNvSpPr/>
          <p:nvPr/>
        </p:nvSpPr>
        <p:spPr>
          <a:xfrm flipH="1">
            <a:off x="10685522" y="5852090"/>
            <a:ext cx="1034062" cy="1024221"/>
          </a:xfrm>
          <a:prstGeom prst="arc">
            <a:avLst>
              <a:gd name="adj1" fmla="val 13738369"/>
              <a:gd name="adj2" fmla="val 0"/>
            </a:avLst>
          </a:prstGeom>
          <a:ln w="1905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1190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7A0E2-74A3-C6D8-A605-DEBD2D7F5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C9D25D-35DF-59B1-4035-598CB2256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Nominal controller design for 1 </a:t>
            </a:r>
            <a:r>
              <a:rPr lang="en-US" err="1"/>
              <a:t>dof</a:t>
            </a:r>
            <a:r>
              <a:rPr lang="en-US"/>
              <a:t> dynamics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0C13EAE-81E4-DE0C-7DC3-07E6FD3F8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26D3B-03D2-4B47-B87E-FB37B34FF9BC}" type="datetime1">
              <a:rPr lang="en-US" smtClean="0"/>
              <a:t>6/27/2026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20ECAE5-1F3B-8035-E226-D29ED4BA5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504855" cy="365125"/>
          </a:xfrm>
        </p:spPr>
        <p:txBody>
          <a:bodyPr/>
          <a:lstStyle/>
          <a:p>
            <a:pPr lvl="0"/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15E7882-31C2-BD83-99B7-F5C0C025E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2AB410D2-2FFB-5C43-1526-E3450B1B7B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3600"/>
              <a:t>TASK</a:t>
            </a:r>
            <a:endParaRPr lang="en-US"/>
          </a:p>
          <a:p>
            <a:r>
              <a:rPr lang="en-US"/>
              <a:t>1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7BC68F66-8E77-F64A-9376-6139092930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-5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68458" y="2596443"/>
            <a:ext cx="6545986" cy="480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4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A1260079-A43D-65BB-0947-BA0857B7A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812653"/>
            <a:ext cx="6726237" cy="467508"/>
          </a:xfrm>
        </p:spPr>
        <p:txBody>
          <a:bodyPr/>
          <a:lstStyle/>
          <a:p>
            <a:r>
              <a:rPr lang="en-US" sz="1800" u="sng" noProof="0">
                <a:ea typeface="+mj-lt"/>
                <a:cs typeface="+mj-lt"/>
              </a:rPr>
              <a:t>Nominal plant modeling </a:t>
            </a:r>
            <a:r>
              <a:rPr lang="en-US" sz="1800" noProof="0">
                <a:ea typeface="+mj-lt"/>
                <a:cs typeface="+mj-lt"/>
              </a:rPr>
              <a:t>for</a:t>
            </a:r>
            <a:r>
              <a:rPr lang="en-US" sz="1800" i="1" noProof="0">
                <a:ea typeface="+mj-lt"/>
                <a:cs typeface="+mj-lt"/>
              </a:rPr>
              <a:t> </a:t>
            </a:r>
            <a:r>
              <a:rPr lang="en-US" sz="1800" i="1" noProof="0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 i="1" noProof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9F18B18-B095-3C87-DF3F-3CC28C1712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294515C-7068-57EA-EA4B-AE0055481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95C8DD23-B33C-2E07-C996-B7D86DB207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31074" y="6207125"/>
            <a:ext cx="4525963" cy="282575"/>
          </a:xfrm>
        </p:spPr>
        <p:txBody>
          <a:bodyPr/>
          <a:lstStyle/>
          <a:p>
            <a:r>
              <a:rPr lang="en-US"/>
              <a:t>1 DOF testbed (Courtesy of </a:t>
            </a:r>
            <a:r>
              <a:rPr lang="en-US" err="1"/>
              <a:t>Antx.com</a:t>
            </a:r>
            <a:r>
              <a:rPr lang="en-US"/>
              <a:t>)</a:t>
            </a:r>
          </a:p>
        </p:txBody>
      </p:sp>
      <p:pic>
        <p:nvPicPr>
          <p:cNvPr id="6" name="Immagine 5" descr="Immagine che contiene testo, Carattere, schermata, algebra&#10;&#10;Il contenuto generato dall'IA potrebbe non essere corretto.">
            <a:extLst>
              <a:ext uri="{FF2B5EF4-FFF2-40B4-BE49-F238E27FC236}">
                <a16:creationId xmlns:a16="http://schemas.microsoft.com/office/drawing/2014/main" id="{966CD929-2EE3-6A73-F06B-5B38BACE0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2" y="1739540"/>
            <a:ext cx="6637694" cy="2374213"/>
          </a:xfrm>
          <a:prstGeom prst="rect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</p:pic>
      <p:pic>
        <p:nvPicPr>
          <p:cNvPr id="9" name="Immagine 8" descr="Immagine che contiene testo, Carattere, bianco&#10;&#10;Il contenuto generato dall'IA potrebbe non essere corretto.">
            <a:extLst>
              <a:ext uri="{FF2B5EF4-FFF2-40B4-BE49-F238E27FC236}">
                <a16:creationId xmlns:a16="http://schemas.microsoft.com/office/drawing/2014/main" id="{72064915-1685-F284-2277-E0B12903F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2" y="4461373"/>
            <a:ext cx="5822950" cy="1116466"/>
          </a:xfrm>
          <a:prstGeom prst="rect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</p:pic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CCE8CCFE-CB6B-97BB-84B9-AB91BCDD2470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pic>
        <p:nvPicPr>
          <p:cNvPr id="4" name="Immagine 3" descr="Immagine che contiene giocattolo, muro, interno&#10;&#10;Il contenuto generato dall&amp;#39;IA potrebbe non essere corretto.">
            <a:extLst>
              <a:ext uri="{FF2B5EF4-FFF2-40B4-BE49-F238E27FC236}">
                <a16:creationId xmlns:a16="http://schemas.microsoft.com/office/drawing/2014/main" id="{B07B227F-CDAE-BAEE-CC79-B7E9F572C4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689" r="26227" b="-1"/>
          <a:stretch>
            <a:fillRect/>
          </a:stretch>
        </p:blipFill>
        <p:spPr>
          <a:xfrm>
            <a:off x="7331075" y="726077"/>
            <a:ext cx="4525963" cy="54070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90250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72EE6-75A1-B240-078C-B14E3C94A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2BD0A762-4BFF-2591-659D-51491E038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6696458" cy="840083"/>
          </a:xfrm>
        </p:spPr>
        <p:txBody>
          <a:bodyPr/>
          <a:lstStyle/>
          <a:p>
            <a:r>
              <a:rPr lang="en-US" sz="1800" u="sng">
                <a:ea typeface="+mj-lt"/>
                <a:cs typeface="+mj-lt"/>
              </a:rPr>
              <a:t>Nominal plant modeling </a:t>
            </a:r>
            <a:r>
              <a:rPr lang="en-US" sz="1800">
                <a:ea typeface="+mj-lt"/>
                <a:cs typeface="+mj-lt"/>
              </a:rPr>
              <a:t>for</a:t>
            </a:r>
            <a:r>
              <a:rPr lang="en-US" sz="1800" i="1">
                <a:ea typeface="+mj-lt"/>
                <a:cs typeface="+mj-lt"/>
              </a:rPr>
              <a:t> </a:t>
            </a:r>
            <a:r>
              <a:rPr lang="en-US" sz="1800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 i="1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4499B70-B88A-1EDF-1C45-F1838762F8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D47C885-A14F-553F-5F19-A79F5F76F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1D82CA01-4C12-738A-873B-22743D10D384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334963" y="1214437"/>
                <a:ext cx="6696458" cy="4429125"/>
              </a:xfrm>
            </p:spPr>
            <p:txBody>
              <a:bodyPr vert="horz" lIns="0" tIns="0" rIns="0" bIns="0" rtlCol="0" anchor="t">
                <a:noAutofit/>
              </a:bodyPr>
              <a:lstStyle/>
              <a:p>
                <a:r>
                  <a:rPr lang="en-US"/>
                  <a:t>Plant model:  (Evans)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𝑙𝑎𝑡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450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en-US" b="0" i="0" smtClean="0"/>
                                    <m:t>s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smtClean="0"/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smtClean="0"/>
                                    <m:t>2.648 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450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en-US" smtClean="0"/>
                                    <m:t>s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smtClean="0"/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smtClean="0"/>
                                    <m:t>s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mtClean="0"/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mtClean="0"/>
                                    <m:t>2.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mtClean="0"/>
                                    <m:t>648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smtClean="0"/>
                                    <m:t>)</m:t>
                                  </m:r>
                                  <m:r>
                                    <m:rPr>
                                      <m:nor/>
                                    </m:rPr>
                                    <a:rPr lang="en-US"/>
                                    <m:t> 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With a non-critical cancellation in -0.1068 in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brk m:alnAt="7"/>
                      </m:rP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brk m:alnAt="7"/>
                      </m:rP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1D82CA01-4C12-738A-873B-22743D10D3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334963" y="1214437"/>
                <a:ext cx="6696458" cy="4429125"/>
              </a:xfrm>
              <a:blipFill>
                <a:blip r:embed="rId2"/>
                <a:stretch>
                  <a:fillRect l="-1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 descr="Immagine che contiene testo, schermata, linea, numero&#10;&#10;Il contenuto generato dall'IA potrebbe non essere corretto.">
            <a:extLst>
              <a:ext uri="{FF2B5EF4-FFF2-40B4-BE49-F238E27FC236}">
                <a16:creationId xmlns:a16="http://schemas.microsoft.com/office/drawing/2014/main" id="{D341919E-8B33-E323-24D3-BDC1DB6463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151" y="2869324"/>
            <a:ext cx="3883638" cy="4014456"/>
          </a:xfrm>
          <a:prstGeom prst="rect">
            <a:avLst/>
          </a:prstGeom>
        </p:spPr>
      </p:pic>
      <p:pic>
        <p:nvPicPr>
          <p:cNvPr id="12" name="Immagine 11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17FBE24A-0335-2E50-35DA-2E61834C85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99" y="2947304"/>
            <a:ext cx="3415983" cy="3812789"/>
          </a:xfrm>
          <a:prstGeom prst="rect">
            <a:avLst/>
          </a:prstGeom>
        </p:spPr>
      </p:pic>
      <p:pic>
        <p:nvPicPr>
          <p:cNvPr id="16" name="Immagine 15" descr="Immagine che contiene testo, schermata, linea, numero&#10;&#10;Il contenuto generato dall'IA potrebbe non essere corretto.">
            <a:extLst>
              <a:ext uri="{FF2B5EF4-FFF2-40B4-BE49-F238E27FC236}">
                <a16:creationId xmlns:a16="http://schemas.microsoft.com/office/drawing/2014/main" id="{6D472FC1-81A5-329B-4EFB-BC5516E224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075" y="812652"/>
            <a:ext cx="4832683" cy="4995468"/>
          </a:xfrm>
          <a:prstGeom prst="rect">
            <a:avLst/>
          </a:prstGeom>
        </p:spPr>
      </p:pic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B7729AF-9C95-5C1C-85E0-F102FEC45337}"/>
              </a:ext>
            </a:extLst>
          </p:cNvPr>
          <p:cNvSpPr txBox="1">
            <a:spLocks/>
          </p:cNvSpPr>
          <p:nvPr/>
        </p:nvSpPr>
        <p:spPr>
          <a:xfrm>
            <a:off x="4494701" y="3419305"/>
            <a:ext cx="6319837" cy="23572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/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AF3763DD-8F5D-17CF-5CFC-13D6E51C4F4A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1771903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5F9C2-8B0C-E8DA-FF0D-C7EC32BBD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35E9510-1D78-981E-B1C4-68B13E156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6696458" cy="840083"/>
          </a:xfrm>
        </p:spPr>
        <p:txBody>
          <a:bodyPr/>
          <a:lstStyle/>
          <a:p>
            <a:r>
              <a:rPr lang="en-US" sz="1800" u="sng">
                <a:ea typeface="+mj-lt"/>
                <a:cs typeface="+mj-lt"/>
              </a:rPr>
              <a:t>Nominal plant modeling </a:t>
            </a:r>
            <a:r>
              <a:rPr lang="en-US" sz="1800">
                <a:ea typeface="+mj-lt"/>
                <a:cs typeface="+mj-lt"/>
              </a:rPr>
              <a:t>for</a:t>
            </a:r>
            <a:r>
              <a:rPr lang="en-US" sz="1800" i="1">
                <a:ea typeface="+mj-lt"/>
                <a:cs typeface="+mj-lt"/>
              </a:rPr>
              <a:t> </a:t>
            </a:r>
            <a:r>
              <a:rPr lang="en-US" sz="1800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 i="1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3EEDD44-7630-A5FD-D1DD-3C5BFC1F2A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5AE1C11-D609-1E93-95FC-D1200A530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608F6192-A69D-97D1-5071-B97CD30DFAF6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334962" y="1214438"/>
                <a:ext cx="6909117" cy="1701320"/>
              </a:xfrm>
            </p:spPr>
            <p:txBody>
              <a:bodyPr vert="horz" lIns="0" tIns="0" rIns="0" bIns="0" rtlCol="0" anchor="t">
                <a:noAutofit/>
              </a:bodyPr>
              <a:lstStyle/>
              <a:p>
                <a:r>
                  <a:rPr lang="en-US"/>
                  <a:t>Nominal Plant model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𝑙𝑎𝑡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450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en-US" smtClean="0"/>
                                    <m:t>s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mtClean="0"/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mtClean="0"/>
                                    <m:t>2.648 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450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en-US" smtClean="0"/>
                                    <m:t>s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mtClean="0"/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mtClean="0"/>
                                    <m:t>s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mtClean="0"/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mtClean="0"/>
                                    <m:t>2.648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mtClean="0"/>
                                    <m:t>) 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With a non-critical cancellation in -0.1068 in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brk m:alnAt="7"/>
                      </m:rP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brk m:alnAt="7"/>
                      </m:rP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608F6192-A69D-97D1-5071-B97CD30DFA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334962" y="1214438"/>
                <a:ext cx="6909117" cy="1701320"/>
              </a:xfrm>
              <a:blipFill>
                <a:blip r:embed="rId2"/>
                <a:stretch>
                  <a:fillRect l="-1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 descr="Immagine che contiene testo, schermata, linea, numero&#10;&#10;Il contenuto generato dall'IA potrebbe non essere corretto.">
            <a:extLst>
              <a:ext uri="{FF2B5EF4-FFF2-40B4-BE49-F238E27FC236}">
                <a16:creationId xmlns:a16="http://schemas.microsoft.com/office/drawing/2014/main" id="{54B38F9E-D6EB-55C1-EC53-0A6E6782C0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151" y="2869324"/>
            <a:ext cx="3883638" cy="4014456"/>
          </a:xfrm>
          <a:prstGeom prst="rect">
            <a:avLst/>
          </a:prstGeom>
        </p:spPr>
      </p:pic>
      <p:pic>
        <p:nvPicPr>
          <p:cNvPr id="12" name="Immagine 11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B1FFCCB6-2E9D-664E-7576-A5A9DE9A6B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99" y="2947304"/>
            <a:ext cx="3415983" cy="3812789"/>
          </a:xfrm>
          <a:prstGeom prst="rect">
            <a:avLst/>
          </a:prstGeom>
        </p:spPr>
      </p:pic>
      <p:pic>
        <p:nvPicPr>
          <p:cNvPr id="16" name="Immagine 15" descr="Immagine che contiene testo, schermata, linea, numero&#10;&#10;Il contenuto generato dall'IA potrebbe non essere corretto.">
            <a:extLst>
              <a:ext uri="{FF2B5EF4-FFF2-40B4-BE49-F238E27FC236}">
                <a16:creationId xmlns:a16="http://schemas.microsoft.com/office/drawing/2014/main" id="{6D006CE9-B9C2-F197-E751-1632D2F02E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075" y="812652"/>
            <a:ext cx="4832683" cy="4995468"/>
          </a:xfrm>
          <a:prstGeom prst="rect">
            <a:avLst/>
          </a:prstGeom>
        </p:spPr>
      </p:pic>
      <p:sp>
        <p:nvSpPr>
          <p:cNvPr id="7" name="Ovale 6">
            <a:extLst>
              <a:ext uri="{FF2B5EF4-FFF2-40B4-BE49-F238E27FC236}">
                <a16:creationId xmlns:a16="http://schemas.microsoft.com/office/drawing/2014/main" id="{1F3781A7-C58E-9DCE-F977-43A2430D28B3}"/>
              </a:ext>
            </a:extLst>
          </p:cNvPr>
          <p:cNvSpPr/>
          <p:nvPr/>
        </p:nvSpPr>
        <p:spPr>
          <a:xfrm>
            <a:off x="2897876" y="4512077"/>
            <a:ext cx="552689" cy="57400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21B851E6-DACB-383E-4A00-11C6F2A2D093}"/>
              </a:ext>
            </a:extLst>
          </p:cNvPr>
          <p:cNvSpPr/>
          <p:nvPr/>
        </p:nvSpPr>
        <p:spPr>
          <a:xfrm>
            <a:off x="6352215" y="4512077"/>
            <a:ext cx="552689" cy="57400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8B1EB15B-C82A-867A-05A4-2BAD87DE37B4}"/>
              </a:ext>
            </a:extLst>
          </p:cNvPr>
          <p:cNvSpPr/>
          <p:nvPr/>
        </p:nvSpPr>
        <p:spPr>
          <a:xfrm>
            <a:off x="3750219" y="4512077"/>
            <a:ext cx="552689" cy="574002"/>
          </a:xfrm>
          <a:prstGeom prst="ellipse">
            <a:avLst/>
          </a:prstGeom>
          <a:noFill/>
          <a:ln w="190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157F7E03-EE6F-FF12-695D-B41AAD23C2FE}"/>
              </a:ext>
            </a:extLst>
          </p:cNvPr>
          <p:cNvSpPr txBox="1">
            <a:spLocks/>
          </p:cNvSpPr>
          <p:nvPr/>
        </p:nvSpPr>
        <p:spPr>
          <a:xfrm>
            <a:off x="5264216" y="4117246"/>
            <a:ext cx="6319837" cy="23572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AAF67935-C5B1-E878-CBED-10F0689850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54619" y="5729335"/>
                <a:ext cx="4016430" cy="834026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/>
              </a:p>
              <a:p>
                <a:pPr marL="285750" indent="-285750">
                  <a:buFontTx/>
                  <a:buChar char="-"/>
                </a:pPr>
                <a:r>
                  <a:rPr lang="en-US" b="1"/>
                  <a:t>Unstable</a:t>
                </a:r>
                <a:r>
                  <a:rPr lang="en-US"/>
                  <a:t> lateral dynamics</a:t>
                </a:r>
              </a:p>
              <a:p>
                <a:pPr marL="285750" indent="-285750">
                  <a:buFontTx/>
                  <a:buChar char="-"/>
                </a:pPr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AAF67935-C5B1-E878-CBED-10F068985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619" y="5729335"/>
                <a:ext cx="4016430" cy="834026"/>
              </a:xfrm>
              <a:prstGeom prst="rect">
                <a:avLst/>
              </a:prstGeom>
              <a:blipFill>
                <a:blip r:embed="rId6"/>
                <a:stretch>
                  <a:fillRect l="-3035" t="-2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28A57D9-3C8A-0F90-48F6-8849C12C553B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3937542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06874-417C-58F5-8734-B60CC82A6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556A76E-31CB-3FB4-C494-00C857520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6696458" cy="840083"/>
          </a:xfrm>
        </p:spPr>
        <p:txBody>
          <a:bodyPr/>
          <a:lstStyle/>
          <a:p>
            <a:r>
              <a:rPr lang="en-US" sz="1800" u="sng">
                <a:ea typeface="+mj-lt"/>
                <a:cs typeface="+mj-lt"/>
              </a:rPr>
              <a:t>Nominal plant modeling </a:t>
            </a:r>
            <a:r>
              <a:rPr lang="en-US" sz="1800">
                <a:ea typeface="+mj-lt"/>
                <a:cs typeface="+mj-lt"/>
              </a:rPr>
              <a:t>for</a:t>
            </a:r>
            <a:r>
              <a:rPr lang="en-US" sz="1800" i="1">
                <a:ea typeface="+mj-lt"/>
                <a:cs typeface="+mj-lt"/>
              </a:rPr>
              <a:t> </a:t>
            </a:r>
            <a:r>
              <a:rPr lang="en-US" sz="1800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 i="1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C724221-DE03-F050-1BEA-7CA2DB5B41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D0F80B1-3ED6-9E18-324F-F2AF580E9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0FEF9C7E-A4BE-678D-4580-886072542814}"/>
              </a:ext>
            </a:extLst>
          </p:cNvPr>
          <p:cNvSpPr txBox="1">
            <a:spLocks/>
          </p:cNvSpPr>
          <p:nvPr/>
        </p:nvSpPr>
        <p:spPr>
          <a:xfrm>
            <a:off x="5264216" y="4117246"/>
            <a:ext cx="6319837" cy="23572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/>
          </a:p>
        </p:txBody>
      </p:sp>
      <p:pic>
        <p:nvPicPr>
          <p:cNvPr id="8" name="Immagine 7" descr="Immagine che contiene testo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2344F177-528D-A6DC-618A-43307A93C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137" y="1700857"/>
            <a:ext cx="4843770" cy="5006930"/>
          </a:xfrm>
          <a:prstGeom prst="rect">
            <a:avLst/>
          </a:prstGeom>
        </p:spPr>
      </p:pic>
      <p:pic>
        <p:nvPicPr>
          <p:cNvPr id="17" name="Immagine 16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932CBE73-8BE4-6A79-C097-09AD1425E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9" y="1128539"/>
            <a:ext cx="5397438" cy="5579247"/>
          </a:xfrm>
          <a:prstGeom prst="rect">
            <a:avLst/>
          </a:prstGeom>
        </p:spPr>
      </p:pic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9EFBF2D1-1470-53EA-9998-F6AE43CCAAB3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8800D819-508C-8780-3118-23F7AFC07E94}"/>
                  </a:ext>
                </a:extLst>
              </p:cNvPr>
              <p:cNvSpPr txBox="1"/>
              <p:nvPr/>
            </p:nvSpPr>
            <p:spPr>
              <a:xfrm>
                <a:off x="5732401" y="685730"/>
                <a:ext cx="4687503" cy="978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𝑙𝑎𝑡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sz="1400"/>
                                  <m:t>170.2</m:t>
                                </m:r>
                                <m:f>
                                  <m:f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1−0.378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s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sz="1400"/>
                                  <m:t>170.2</m:t>
                                </m:r>
                                <m:f>
                                  <m:f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s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(1−0.378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s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pt-PT" sz="1400" b="0" i="0" smtClean="0"/>
                                      <m:t>)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8800D819-508C-8780-3118-23F7AFC07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401" y="685730"/>
                <a:ext cx="4687503" cy="9781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1088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8CFE8-2C62-7497-B600-DA65976B0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AADC5B97-9D64-7E8E-384C-BE03449D4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6696458" cy="840083"/>
          </a:xfrm>
        </p:spPr>
        <p:txBody>
          <a:bodyPr/>
          <a:lstStyle/>
          <a:p>
            <a:r>
              <a:rPr lang="en-US" sz="1800">
                <a:ea typeface="+mj-lt"/>
                <a:cs typeface="+mj-lt"/>
              </a:rPr>
              <a:t>Nominal </a:t>
            </a:r>
            <a:r>
              <a:rPr lang="en-US" sz="1800" u="sng">
                <a:ea typeface="+mj-lt"/>
                <a:cs typeface="+mj-lt"/>
              </a:rPr>
              <a:t>controller design </a:t>
            </a:r>
            <a:r>
              <a:rPr lang="en-US" sz="1800">
                <a:ea typeface="+mj-lt"/>
                <a:cs typeface="+mj-lt"/>
              </a:rPr>
              <a:t>for</a:t>
            </a:r>
            <a:r>
              <a:rPr lang="en-US" sz="1800" i="1">
                <a:ea typeface="+mj-lt"/>
                <a:cs typeface="+mj-lt"/>
              </a:rPr>
              <a:t> </a:t>
            </a:r>
            <a:r>
              <a:rPr lang="en-US" sz="1800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 i="1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59E23E6-C385-BE2F-1CAB-EDC1BE848D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43FE58-A7FA-2963-B355-88F044EEC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E57D9BE8-812C-B46C-7353-8F78BC8F34A6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334962" y="1429441"/>
                <a:ext cx="6238557" cy="997585"/>
              </a:xfrm>
            </p:spPr>
            <p:txBody>
              <a:bodyPr vert="horz" lIns="0" tIns="0" rIns="0" bIns="0" rtlCol="0" anchor="t">
                <a:noAutofit/>
              </a:bodyPr>
              <a:lstStyle/>
              <a:p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1) </a:t>
                </a:r>
                <a:r>
                  <a:rPr lang="en-US"/>
                  <a:t>Assigned </a:t>
                </a:r>
                <a:r>
                  <a:rPr lang="en-US" b="1"/>
                  <a:t>controller structure</a:t>
                </a:r>
                <a:r>
                  <a:rPr lang="en-US"/>
                  <a:t>: </a:t>
                </a:r>
                <a:r>
                  <a:rPr lang="en-US" b="1"/>
                  <a:t>PID-P cascade: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/>
                  <a:t>roll angle controller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/>
                  <a:t> : </a:t>
                </a:r>
                <a:r>
                  <a:rPr lang="en-US" b="1"/>
                  <a:t>P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/>
                  <a:t>roll rate controller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: </a:t>
                </a:r>
                <a:r>
                  <a:rPr lang="en-US" b="1"/>
                  <a:t>PID</a:t>
                </a: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E57D9BE8-812C-B46C-7353-8F78BC8F34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334962" y="1429441"/>
                <a:ext cx="6238557" cy="997585"/>
              </a:xfrm>
              <a:blipFill>
                <a:blip r:embed="rId2"/>
                <a:stretch>
                  <a:fillRect l="-2053" t="-4268" b="-1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FD5DB75-542E-6A42-2196-377AAFF56D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31074" y="6207125"/>
            <a:ext cx="4525963" cy="282575"/>
          </a:xfrm>
        </p:spPr>
        <p:txBody>
          <a:bodyPr/>
          <a:lstStyle/>
          <a:p>
            <a:r>
              <a:rPr lang="en-US"/>
              <a:t>1 DOF testbed (Courtesy of </a:t>
            </a:r>
            <a:r>
              <a:rPr lang="en-US" err="1"/>
              <a:t>Antx.com</a:t>
            </a:r>
            <a:r>
              <a:rPr lang="en-US"/>
              <a:t>)</a:t>
            </a:r>
          </a:p>
        </p:txBody>
      </p:sp>
      <p:pic>
        <p:nvPicPr>
          <p:cNvPr id="8" name="Immagine 7" descr="Immagine che contiene giocattolo, muro, interno&#10;&#10;Il contenuto generato dall&amp;#39;IA potrebbe non essere corretto.">
            <a:extLst>
              <a:ext uri="{FF2B5EF4-FFF2-40B4-BE49-F238E27FC236}">
                <a16:creationId xmlns:a16="http://schemas.microsoft.com/office/drawing/2014/main" id="{B530BC6B-B7E2-85C3-0A68-C98B9C8877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689" r="26227" b="-1"/>
          <a:stretch>
            <a:fillRect/>
          </a:stretch>
        </p:blipFill>
        <p:spPr>
          <a:xfrm>
            <a:off x="7331075" y="800100"/>
            <a:ext cx="4525963" cy="5407025"/>
          </a:xfrm>
          <a:prstGeom prst="rect">
            <a:avLst/>
          </a:prstGeom>
          <a:noFill/>
        </p:spPr>
      </p:pic>
      <p:pic>
        <p:nvPicPr>
          <p:cNvPr id="6" name="Immagine 5" descr="Immagine che contiene schermata, testo, Biglietto Post-it, Rettangolo&#10;&#10;Il contenuto generato dall'IA potrebbe non essere corretto.">
            <a:extLst>
              <a:ext uri="{FF2B5EF4-FFF2-40B4-BE49-F238E27FC236}">
                <a16:creationId xmlns:a16="http://schemas.microsoft.com/office/drawing/2014/main" id="{86BDC08F-60E5-8ED6-341F-20D4CB3300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862"/>
          <a:stretch>
            <a:fillRect/>
          </a:stretch>
        </p:blipFill>
        <p:spPr>
          <a:xfrm>
            <a:off x="572545" y="2525860"/>
            <a:ext cx="5763390" cy="18653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07347DED-435F-743E-38AA-DD746A786C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0989" y="4041643"/>
                <a:ext cx="6544058" cy="158366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/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/>
                  <a:t>            		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/>
              </a:p>
              <a:p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𝑙𝑎𝑡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.      </m:t>
                    </m:r>
                  </m:oMath>
                </a14:m>
                <a:r>
                  <a:rPr lang="en-US"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=0.02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    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/>
              </a:p>
              <a:p>
                <a:r>
                  <a:rPr lang="en-US"/>
                  <a:t> </a:t>
                </a:r>
                <a:endParaRPr lang="en-US" b="1"/>
              </a:p>
              <a:p>
                <a:endParaRPr lang="en-US" b="1"/>
              </a:p>
            </p:txBody>
          </p:sp>
        </mc:Choice>
        <mc:Fallback xmlns="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07347DED-435F-743E-38AA-DD746A786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989" y="4041643"/>
                <a:ext cx="6544058" cy="1583663"/>
              </a:xfrm>
              <a:prstGeom prst="rect">
                <a:avLst/>
              </a:prstGeom>
              <a:blipFill>
                <a:blip r:embed="rId5"/>
                <a:stretch>
                  <a:fillRect l="-1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2EA9CC3B-4378-1DFA-B6E0-CACEEB3E01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2" y="5990907"/>
                <a:ext cx="6544058" cy="99758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2) </a:t>
                </a:r>
                <a:r>
                  <a:rPr lang="en-US"/>
                  <a:t>Design methodology: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/>
                  <a:t> controller design via </a:t>
                </a: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mixed-sensitivity       synthesis</a:t>
                </a:r>
              </a:p>
              <a:p>
                <a:endParaRPr lang="en-US"/>
              </a:p>
              <a:p>
                <a:endParaRPr lang="en-US" b="1"/>
              </a:p>
            </p:txBody>
          </p:sp>
        </mc:Choice>
        <mc:Fallback xmlns="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2EA9CC3B-4378-1DFA-B6E0-CACEEB3E0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2" y="5990907"/>
                <a:ext cx="6544058" cy="997585"/>
              </a:xfrm>
              <a:prstGeom prst="rect">
                <a:avLst/>
              </a:prstGeom>
              <a:blipFill>
                <a:blip r:embed="rId6"/>
                <a:stretch>
                  <a:fillRect l="-1957" t="-4908" r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ttangolo 11">
            <a:extLst>
              <a:ext uri="{FF2B5EF4-FFF2-40B4-BE49-F238E27FC236}">
                <a16:creationId xmlns:a16="http://schemas.microsoft.com/office/drawing/2014/main" id="{5A39602B-3B3B-F096-8C48-B31540133201}"/>
              </a:ext>
            </a:extLst>
          </p:cNvPr>
          <p:cNvSpPr/>
          <p:nvPr/>
        </p:nvSpPr>
        <p:spPr>
          <a:xfrm>
            <a:off x="194872" y="1277938"/>
            <a:ext cx="6910176" cy="4302123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0FC21AD-FF23-69B8-FAA4-8D0093812628}"/>
              </a:ext>
            </a:extLst>
          </p:cNvPr>
          <p:cNvSpPr/>
          <p:nvPr/>
        </p:nvSpPr>
        <p:spPr>
          <a:xfrm>
            <a:off x="228102" y="5945662"/>
            <a:ext cx="6876945" cy="754941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491C0A12-27C8-3130-55A5-BE55414E8997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1493545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934BC-56CF-521B-B764-423CCBCD8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2411BFD-5B02-9E1C-F5CE-FFB13DD93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6696458" cy="840083"/>
          </a:xfrm>
        </p:spPr>
        <p:txBody>
          <a:bodyPr/>
          <a:lstStyle/>
          <a:p>
            <a:r>
              <a:rPr lang="en-US" sz="1800">
                <a:ea typeface="+mj-lt"/>
                <a:cs typeface="+mj-lt"/>
              </a:rPr>
              <a:t>Nominal </a:t>
            </a:r>
            <a:r>
              <a:rPr lang="en-US" sz="1800" u="sng">
                <a:ea typeface="+mj-lt"/>
                <a:cs typeface="+mj-lt"/>
              </a:rPr>
              <a:t>controller design </a:t>
            </a:r>
            <a:r>
              <a:rPr lang="en-US" sz="1800">
                <a:ea typeface="+mj-lt"/>
                <a:cs typeface="+mj-lt"/>
              </a:rPr>
              <a:t>for</a:t>
            </a:r>
            <a:r>
              <a:rPr lang="en-US" sz="1800" i="1">
                <a:ea typeface="+mj-lt"/>
                <a:cs typeface="+mj-lt"/>
              </a:rPr>
              <a:t> </a:t>
            </a:r>
            <a:r>
              <a:rPr lang="en-US" sz="1800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 i="1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00D46D4-C736-2291-9DF1-1B5BE90DF4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54944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E09DFBA-5F4F-C228-05FB-1F0BEF1A5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2C6A5946-C2ED-A7DE-E431-34EA624118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1625276"/>
                <a:ext cx="6696458" cy="4581849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800" b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Tunable PID in MATLAB</a:t>
                </a:r>
              </a:p>
              <a:p>
                <a:endParaRPr lang="en-US" sz="1800" b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1800" b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Tunable PID</a:t>
                </a:r>
              </a:p>
              <a:p>
                <a:endParaRPr lang="en-US" sz="1800" b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:endParaRPr lang="en-US" sz="1800" b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:endParaRPr lang="en-US" sz="1800" b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:endParaRPr lang="en-US" sz="1800" b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:endParaRPr lang="en-US" sz="1800" b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:endParaRPr lang="en-US" sz="1800" b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:endParaRPr lang="en-US" sz="1800" b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1800" b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Tunable PID2</a:t>
                </a:r>
              </a:p>
            </p:txBody>
          </p:sp>
        </mc:Choice>
        <mc:Fallback xmlns="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2C6A5946-C2ED-A7DE-E431-34EA62411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1625276"/>
                <a:ext cx="6696458" cy="4581849"/>
              </a:xfrm>
              <a:prstGeom prst="rect">
                <a:avLst/>
              </a:prstGeom>
              <a:blipFill>
                <a:blip r:embed="rId2"/>
                <a:stretch>
                  <a:fillRect l="-2186" t="-1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Immagine 19" descr="Immagine che contiene Carattere, bianco, linea, simbolo&#10;&#10;Il contenuto generato dall'IA potrebbe non essere corretto.">
            <a:extLst>
              <a:ext uri="{FF2B5EF4-FFF2-40B4-BE49-F238E27FC236}">
                <a16:creationId xmlns:a16="http://schemas.microsoft.com/office/drawing/2014/main" id="{2293779E-9FD0-2B89-F279-595C577BC3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942" y="2241577"/>
            <a:ext cx="3238500" cy="1016000"/>
          </a:xfrm>
          <a:prstGeom prst="rect">
            <a:avLst/>
          </a:prstGeom>
        </p:spPr>
      </p:pic>
      <p:pic>
        <p:nvPicPr>
          <p:cNvPr id="22" name="Immagine 21" descr="Immagine che contiene Carattere, linea, bianco, diagramma&#10;&#10;Il contenuto generato dall'IA potrebbe non essere corretto.">
            <a:extLst>
              <a:ext uri="{FF2B5EF4-FFF2-40B4-BE49-F238E27FC236}">
                <a16:creationId xmlns:a16="http://schemas.microsoft.com/office/drawing/2014/main" id="{0A8676DA-8608-F0F6-2A69-A2239A6F7A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155" y="4089859"/>
            <a:ext cx="3568700" cy="1054100"/>
          </a:xfrm>
          <a:prstGeom prst="rect">
            <a:avLst/>
          </a:prstGeom>
        </p:spPr>
      </p:pic>
      <p:pic>
        <p:nvPicPr>
          <p:cNvPr id="24" name="Immagine 23" descr="Immagine che contiene Carattere, testo, calligrafia, bianco&#10;&#10;Il contenuto generato dall'IA potrebbe non essere corretto.">
            <a:extLst>
              <a:ext uri="{FF2B5EF4-FFF2-40B4-BE49-F238E27FC236}">
                <a16:creationId xmlns:a16="http://schemas.microsoft.com/office/drawing/2014/main" id="{5CD56F84-8618-D55D-A0D8-0C5C920038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911" y="5264216"/>
            <a:ext cx="4889500" cy="762000"/>
          </a:xfrm>
          <a:prstGeom prst="rect">
            <a:avLst/>
          </a:prstGeom>
        </p:spPr>
      </p:pic>
      <p:pic>
        <p:nvPicPr>
          <p:cNvPr id="28" name="Immagine 27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6BF2E249-0148-A529-063F-E2920E7393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597"/>
          <a:stretch>
            <a:fillRect/>
          </a:stretch>
        </p:blipFill>
        <p:spPr>
          <a:xfrm>
            <a:off x="6813154" y="1338725"/>
            <a:ext cx="4733711" cy="679264"/>
          </a:xfrm>
          <a:prstGeom prst="rect">
            <a:avLst/>
          </a:prstGeom>
        </p:spPr>
      </p:pic>
      <p:pic>
        <p:nvPicPr>
          <p:cNvPr id="30" name="Immagine 29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05ED9B4F-4B24-2526-1B04-C13A199510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79"/>
          <a:stretch>
            <a:fillRect/>
          </a:stretch>
        </p:blipFill>
        <p:spPr>
          <a:xfrm>
            <a:off x="7123634" y="4897350"/>
            <a:ext cx="4627470" cy="1008609"/>
          </a:xfrm>
          <a:prstGeom prst="rect">
            <a:avLst/>
          </a:prstGeom>
        </p:spPr>
      </p:pic>
      <p:pic>
        <p:nvPicPr>
          <p:cNvPr id="31" name="Immagine 30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3F0072C5-2A2C-89DA-E548-51E9E71A43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01"/>
          <a:stretch>
            <a:fillRect/>
          </a:stretch>
        </p:blipFill>
        <p:spPr>
          <a:xfrm>
            <a:off x="6813154" y="2017989"/>
            <a:ext cx="4578447" cy="1126634"/>
          </a:xfrm>
          <a:prstGeom prst="rect">
            <a:avLst/>
          </a:prstGeom>
        </p:spPr>
      </p:pic>
      <p:pic>
        <p:nvPicPr>
          <p:cNvPr id="32" name="Immagine 31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9ED60849-4DD1-3486-4036-A96065D542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682"/>
          <a:stretch>
            <a:fillRect/>
          </a:stretch>
        </p:blipFill>
        <p:spPr>
          <a:xfrm>
            <a:off x="7031421" y="4218086"/>
            <a:ext cx="4297176" cy="679264"/>
          </a:xfrm>
          <a:prstGeom prst="rect">
            <a:avLst/>
          </a:prstGeom>
        </p:spPr>
      </p:pic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E0EEF36-DB68-110F-A6F3-E86AAE562D50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C56FA1AB-5AD7-A839-4D25-419B9134645A}"/>
              </a:ext>
            </a:extLst>
          </p:cNvPr>
          <p:cNvSpPr/>
          <p:nvPr/>
        </p:nvSpPr>
        <p:spPr>
          <a:xfrm>
            <a:off x="6889560" y="1217437"/>
            <a:ext cx="4797593" cy="2321410"/>
          </a:xfrm>
          <a:prstGeom prst="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C6E84B3A-531C-1BB0-3857-6100FAC537C8}"/>
              </a:ext>
            </a:extLst>
          </p:cNvPr>
          <p:cNvSpPr/>
          <p:nvPr/>
        </p:nvSpPr>
        <p:spPr>
          <a:xfrm>
            <a:off x="6889559" y="4028991"/>
            <a:ext cx="4797593" cy="2321410"/>
          </a:xfrm>
          <a:prstGeom prst="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Segnaposto testo 5">
            <a:extLst>
              <a:ext uri="{FF2B5EF4-FFF2-40B4-BE49-F238E27FC236}">
                <a16:creationId xmlns:a16="http://schemas.microsoft.com/office/drawing/2014/main" id="{26F3B5E4-E26D-1FE9-D9A8-2F299F590095}"/>
              </a:ext>
            </a:extLst>
          </p:cNvPr>
          <p:cNvSpPr txBox="1">
            <a:spLocks/>
          </p:cNvSpPr>
          <p:nvPr/>
        </p:nvSpPr>
        <p:spPr>
          <a:xfrm>
            <a:off x="9559934" y="766213"/>
            <a:ext cx="2509208" cy="365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MATLAB  documentation 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4B43DC63-0B21-022E-DDB9-E1E51788127D}"/>
                  </a:ext>
                </a:extLst>
              </p:cNvPr>
              <p:cNvSpPr txBox="1"/>
              <p:nvPr/>
            </p:nvSpPr>
            <p:spPr>
              <a:xfrm>
                <a:off x="614071" y="6124805"/>
                <a:ext cx="51107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Inputs: r=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, y = p    ; parameters     b=1, c=0</a:t>
                </a:r>
              </a:p>
            </p:txBody>
          </p:sp>
        </mc:Choice>
        <mc:Fallback xmlns=""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4B43DC63-0B21-022E-DDB9-E1E517881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71" y="6124805"/>
                <a:ext cx="5110784" cy="369332"/>
              </a:xfrm>
              <a:prstGeom prst="rect">
                <a:avLst/>
              </a:prstGeom>
              <a:blipFill>
                <a:blip r:embed="rId8"/>
                <a:stretch>
                  <a:fillRect l="-1074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5921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6E927-A22E-65F4-FD99-CF4E27A5E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1CDF409-B1EE-99CA-8037-B39457300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6696458" cy="840083"/>
          </a:xfrm>
        </p:spPr>
        <p:txBody>
          <a:bodyPr/>
          <a:lstStyle/>
          <a:p>
            <a:r>
              <a:rPr lang="en-US" sz="1800">
                <a:ea typeface="+mj-lt"/>
                <a:cs typeface="+mj-lt"/>
              </a:rPr>
              <a:t>Nominal </a:t>
            </a:r>
            <a:r>
              <a:rPr lang="en-US" sz="1800" u="sng">
                <a:ea typeface="+mj-lt"/>
                <a:cs typeface="+mj-lt"/>
              </a:rPr>
              <a:t>controller design </a:t>
            </a:r>
            <a:r>
              <a:rPr lang="en-US" sz="1800">
                <a:ea typeface="+mj-lt"/>
                <a:cs typeface="+mj-lt"/>
              </a:rPr>
              <a:t>for</a:t>
            </a:r>
            <a:r>
              <a:rPr lang="en-US" sz="1800" i="1">
                <a:ea typeface="+mj-lt"/>
                <a:cs typeface="+mj-lt"/>
              </a:rPr>
              <a:t> </a:t>
            </a:r>
            <a:r>
              <a:rPr lang="en-US" sz="1800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 i="1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027C4F0-5C42-98B8-17C6-2896D73354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54944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18A8D40-69F6-2FCE-804A-80BDE8300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CB640719-E00C-F7CD-457C-F7F28D70EA3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31074" y="6207125"/>
            <a:ext cx="4525963" cy="282575"/>
          </a:xfrm>
        </p:spPr>
        <p:txBody>
          <a:bodyPr/>
          <a:lstStyle/>
          <a:p>
            <a:r>
              <a:rPr lang="en-US"/>
              <a:t>1 DOF testbed (Courtesy of </a:t>
            </a:r>
            <a:r>
              <a:rPr lang="en-US" err="1"/>
              <a:t>Antx.com</a:t>
            </a:r>
            <a:r>
              <a:rPr lang="en-US"/>
              <a:t>)</a:t>
            </a:r>
          </a:p>
        </p:txBody>
      </p:sp>
      <p:pic>
        <p:nvPicPr>
          <p:cNvPr id="8" name="Immagine 7" descr="Immagine che contiene giocattolo, muro, interno&#10;&#10;Il contenuto generato dall&amp;#39;IA potrebbe non essere corretto.">
            <a:extLst>
              <a:ext uri="{FF2B5EF4-FFF2-40B4-BE49-F238E27FC236}">
                <a16:creationId xmlns:a16="http://schemas.microsoft.com/office/drawing/2014/main" id="{E2774AA0-C3C5-3048-01CF-14DAAAEDD0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89" r="26227" b="-1"/>
          <a:stretch>
            <a:fillRect/>
          </a:stretch>
        </p:blipFill>
        <p:spPr>
          <a:xfrm>
            <a:off x="7331075" y="800100"/>
            <a:ext cx="4525963" cy="5407025"/>
          </a:xfrm>
          <a:prstGeom prst="rect">
            <a:avLst/>
          </a:prstGeom>
          <a:noFill/>
        </p:spPr>
      </p:pic>
      <p:pic>
        <p:nvPicPr>
          <p:cNvPr id="11" name="Immagine 10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BE2B3043-FF37-EE42-2A30-2372E85EB3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498" y="1232693"/>
            <a:ext cx="6148206" cy="5277506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12DEC8E3-CE6F-4425-9E56-C28D36756EA0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4188729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1874A-A27C-8E0A-D6CE-053D65848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1D85046-DEC0-CA83-6F2A-8743939CE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812653"/>
            <a:ext cx="9723437" cy="698096"/>
          </a:xfrm>
        </p:spPr>
        <p:txBody>
          <a:bodyPr/>
          <a:lstStyle/>
          <a:p>
            <a:r>
              <a:rPr lang="en-US" sz="1800" noProof="0">
                <a:ea typeface="+mj-lt"/>
                <a:cs typeface="+mj-lt"/>
              </a:rPr>
              <a:t>Design requirements </a:t>
            </a:r>
            <a:r>
              <a:rPr lang="en-US" sz="1800" b="0" noProof="0">
                <a:ea typeface="+mj-lt"/>
                <a:cs typeface="+mj-lt"/>
              </a:rPr>
              <a:t>for Nominal </a:t>
            </a:r>
            <a:r>
              <a:rPr lang="en-US" sz="1800" b="0" u="sng" noProof="0">
                <a:ea typeface="+mj-lt"/>
                <a:cs typeface="+mj-lt"/>
              </a:rPr>
              <a:t>controller design </a:t>
            </a:r>
            <a:r>
              <a:rPr lang="en-US" sz="1800" b="0" noProof="0">
                <a:ea typeface="+mj-lt"/>
                <a:cs typeface="+mj-lt"/>
              </a:rPr>
              <a:t>for</a:t>
            </a:r>
            <a:r>
              <a:rPr lang="en-US" sz="1800" b="0" i="1" noProof="0">
                <a:ea typeface="+mj-lt"/>
                <a:cs typeface="+mj-lt"/>
              </a:rPr>
              <a:t> </a:t>
            </a:r>
            <a:r>
              <a:rPr lang="en-US" sz="1800" b="0" i="1" noProof="0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 b="0" i="1" noProof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81E09D9-8800-C00F-462A-B71CFABD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54944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341DCF5-6F50-A5FD-638D-55328F47E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C71135D1-14EA-D94F-4ED8-379361F270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973A8D25-2DED-0EAA-F6BA-377D71CC0D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6753" y="1492514"/>
                <a:ext cx="8676516" cy="1071782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342900" indent="-342900">
                  <a:buAutoNum type="alphaUcPeriod"/>
                </a:pPr>
                <a:r>
                  <a:rPr lang="en-US" sz="1600"/>
                  <a:t>NOMINAL PERFORMANCE </a:t>
                </a:r>
              </a:p>
              <a:p>
                <a:endParaRPr lang="en-US" sz="1600" b="0"/>
              </a:p>
              <a:p>
                <a:r>
                  <a:rPr lang="en-US" sz="1600" b="0"/>
                  <a:t>Response of 𝜑 to variations in 𝜑0: </a:t>
                </a:r>
              </a:p>
              <a:p>
                <a:r>
                  <a:rPr lang="en-US" sz="1600" b="0"/>
                  <a:t>equivalent to a second-order response with:</a:t>
                </a:r>
              </a:p>
              <a:p>
                <a:endParaRPr lang="en-US" sz="1600" b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b="0"/>
                  <a:t> ≥ 10 𝑟𝑎𝑑/𝑠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sz="1600" b="0"/>
                  <a:t> 𝜉 ≥ 0.9. </a:t>
                </a:r>
              </a:p>
              <a:p>
                <a:pPr marL="285750" indent="-285750">
                  <a:buFontTx/>
                  <a:buChar char="-"/>
                </a:pPr>
                <a:endParaRPr lang="en-US" sz="1600" b="0"/>
              </a:p>
              <a:p>
                <a:endParaRPr lang="en-US" sz="1800" b="0" noProof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973A8D25-2DED-0EAA-F6BA-377D71CC0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53" y="1492514"/>
                <a:ext cx="8676516" cy="1071782"/>
              </a:xfrm>
              <a:prstGeom prst="rect">
                <a:avLst/>
              </a:prstGeom>
              <a:blipFill>
                <a:blip r:embed="rId2"/>
                <a:stretch>
                  <a:fillRect l="-1404" t="-6818" b="-698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magine 13" descr="Immagine che contiene linea, Diagramm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755F3EBE-A415-FA13-DC41-A1FA74102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211" y="1518747"/>
            <a:ext cx="5157428" cy="41175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C520AE14-FC2B-5B40-9A1A-8F62AF0A1DB2}"/>
                  </a:ext>
                </a:extLst>
              </p:cNvPr>
              <p:cNvSpPr txBox="1"/>
              <p:nvPr/>
            </p:nvSpPr>
            <p:spPr>
              <a:xfrm>
                <a:off x="3624847" y="2607581"/>
                <a:ext cx="2600327" cy="11666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C520AE14-FC2B-5B40-9A1A-8F62AF0A1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4847" y="2607581"/>
                <a:ext cx="2600327" cy="1166601"/>
              </a:xfrm>
              <a:prstGeom prst="rect">
                <a:avLst/>
              </a:prstGeom>
              <a:blipFill>
                <a:blip r:embed="rId4"/>
                <a:stretch>
                  <a:fillRect b="-8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62401D79-DC3A-8BF2-DC62-89DF7B2998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8422" y="3577524"/>
                <a:ext cx="8676516" cy="1678192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1600" b="0"/>
              </a:p>
              <a:p>
                <a:pPr marL="285750" indent="-285750">
                  <a:buFontTx/>
                  <a:buChar char="-"/>
                </a:pPr>
                <a:endParaRPr lang="en-US" sz="1600" b="0"/>
              </a:p>
              <a:p>
                <a:pPr marL="285750" indent="-285750">
                  <a:buFontTx/>
                  <a:buChar char="-"/>
                </a:pPr>
                <a:r>
                  <a:rPr lang="en-US" sz="1600" b="0"/>
                  <a:t>DC gain: 0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sz="1600" b="0"/>
                  <a:t>Crossover frequency: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≃7.07</m:t>
                    </m:r>
                  </m:oMath>
                </a14:m>
                <a:r>
                  <a:rPr lang="en-US" sz="1600" b="0"/>
                  <a:t> rad/s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sz="1600" b="0"/>
                  <a:t>Peak: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endChr m:val="|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13.29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𝑟𝑎𝑑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b="0"/>
                  <a:t>1.18</a:t>
                </a:r>
              </a:p>
              <a:p>
                <a:pPr marL="285750" indent="-285750">
                  <a:buFontTx/>
                  <a:buChar char="-"/>
                </a:pPr>
                <a:endParaRPr lang="en-US" sz="1600" b="0"/>
              </a:p>
              <a:p>
                <a:endParaRPr lang="en-US" sz="1800" b="0" noProof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62401D79-DC3A-8BF2-DC62-89DF7B299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422" y="3577524"/>
                <a:ext cx="8676516" cy="1678192"/>
              </a:xfrm>
              <a:prstGeom prst="rect">
                <a:avLst/>
              </a:prstGeom>
              <a:blipFill>
                <a:blip r:embed="rId5"/>
                <a:stretch>
                  <a:fillRect l="-1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Immagine 19" descr="Immagine che contiene testo, Carattere, schermata, bianco&#10;&#10;Il contenuto generato dall'IA potrebbe non essere corretto.">
            <a:extLst>
              <a:ext uri="{FF2B5EF4-FFF2-40B4-BE49-F238E27FC236}">
                <a16:creationId xmlns:a16="http://schemas.microsoft.com/office/drawing/2014/main" id="{E933F4D0-D4E5-0A8C-FF6B-9A117B9AB6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22" y="4968092"/>
            <a:ext cx="4800264" cy="1729733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B9E44668-9E58-94CB-E97C-D0F3BD6F2F37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1123639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9A833-4919-87D3-A0FB-A5DF7F19C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58D9027-78B2-C74D-23FF-433268B4D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812653"/>
            <a:ext cx="9723437" cy="698096"/>
          </a:xfrm>
        </p:spPr>
        <p:txBody>
          <a:bodyPr/>
          <a:lstStyle/>
          <a:p>
            <a:r>
              <a:rPr lang="en-US" sz="1800" noProof="0">
                <a:ea typeface="+mj-lt"/>
                <a:cs typeface="+mj-lt"/>
              </a:rPr>
              <a:t>Design requirements </a:t>
            </a:r>
            <a:r>
              <a:rPr lang="en-US" sz="1800" b="0" noProof="0">
                <a:ea typeface="+mj-lt"/>
                <a:cs typeface="+mj-lt"/>
              </a:rPr>
              <a:t>for Nominal </a:t>
            </a:r>
            <a:r>
              <a:rPr lang="en-US" sz="1800" b="0" u="sng" noProof="0">
                <a:ea typeface="+mj-lt"/>
                <a:cs typeface="+mj-lt"/>
              </a:rPr>
              <a:t>controller design </a:t>
            </a:r>
            <a:r>
              <a:rPr lang="en-US" sz="1800" b="0" noProof="0">
                <a:ea typeface="+mj-lt"/>
                <a:cs typeface="+mj-lt"/>
              </a:rPr>
              <a:t>for</a:t>
            </a:r>
            <a:r>
              <a:rPr lang="en-US" sz="1800" b="0" i="1" noProof="0">
                <a:ea typeface="+mj-lt"/>
                <a:cs typeface="+mj-lt"/>
              </a:rPr>
              <a:t> </a:t>
            </a:r>
            <a:r>
              <a:rPr lang="en-US" sz="1800" b="0" i="1" noProof="0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 b="0" i="1" noProof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81B667B-8FA4-87E1-4367-2FE05AC5D5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54944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3ECF89D-8BF3-7597-343D-EE581E2BF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pic>
        <p:nvPicPr>
          <p:cNvPr id="16" name="Immagine 15" descr="Immagine che contiene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930CA341-2EE7-5A3D-687D-9B58BD0E5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767" y="2063861"/>
            <a:ext cx="5653717" cy="4513781"/>
          </a:xfrm>
          <a:prstGeom prst="rect">
            <a:avLst/>
          </a:prstGeom>
        </p:spPr>
      </p:pic>
      <p:pic>
        <p:nvPicPr>
          <p:cNvPr id="10" name="Immagine 9" descr="Immagine che contiene testo, Carattere, bianco, schermata&#10;&#10;Il contenuto generato dall'IA potrebbe non essere corretto.">
            <a:extLst>
              <a:ext uri="{FF2B5EF4-FFF2-40B4-BE49-F238E27FC236}">
                <a16:creationId xmlns:a16="http://schemas.microsoft.com/office/drawing/2014/main" id="{860B07C8-5242-9290-392A-E7AE56B34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25" y="3555462"/>
            <a:ext cx="4539894" cy="1452766"/>
          </a:xfrm>
          <a:prstGeom prst="rect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6B27272-9372-BAED-32A3-F2B1792E61B7}"/>
              </a:ext>
            </a:extLst>
          </p:cNvPr>
          <p:cNvSpPr txBox="1"/>
          <p:nvPr/>
        </p:nvSpPr>
        <p:spPr>
          <a:xfrm>
            <a:off x="599606" y="1768839"/>
            <a:ext cx="5951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/>
              <a:t>Mapping of the dynamic performance requirements in terms of desired step response: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6F2A2BAB-16E8-14CD-1707-86E65B50A2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25" y="2654839"/>
            <a:ext cx="4533900" cy="647700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FFAD614F-ECD1-8DE1-C531-66F7A72AB805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1733803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1B4E3-CE27-CD68-B974-BFFA8AFF5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2644D404-D2EE-FDD6-659E-B17896F8E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20" y="4870304"/>
            <a:ext cx="3750104" cy="173486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8C26F5C-1F3E-351D-892C-6F8A62D2B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812653"/>
            <a:ext cx="9723437" cy="698096"/>
          </a:xfrm>
        </p:spPr>
        <p:txBody>
          <a:bodyPr/>
          <a:lstStyle/>
          <a:p>
            <a:r>
              <a:rPr lang="en-US" sz="1800" noProof="0">
                <a:ea typeface="+mj-lt"/>
                <a:cs typeface="+mj-lt"/>
              </a:rPr>
              <a:t>Design requirements </a:t>
            </a:r>
            <a:r>
              <a:rPr lang="en-US" sz="1800" b="0" noProof="0">
                <a:ea typeface="+mj-lt"/>
                <a:cs typeface="+mj-lt"/>
              </a:rPr>
              <a:t>for Nominal </a:t>
            </a:r>
            <a:r>
              <a:rPr lang="en-US" sz="1800" b="0" u="sng" noProof="0">
                <a:ea typeface="+mj-lt"/>
                <a:cs typeface="+mj-lt"/>
              </a:rPr>
              <a:t>controller design </a:t>
            </a:r>
            <a:r>
              <a:rPr lang="en-US" sz="1800" b="0" noProof="0">
                <a:ea typeface="+mj-lt"/>
                <a:cs typeface="+mj-lt"/>
              </a:rPr>
              <a:t>for</a:t>
            </a:r>
            <a:r>
              <a:rPr lang="en-US" sz="1800" b="0" i="1" noProof="0">
                <a:ea typeface="+mj-lt"/>
                <a:cs typeface="+mj-lt"/>
              </a:rPr>
              <a:t> </a:t>
            </a:r>
            <a:r>
              <a:rPr lang="en-US" sz="1800" b="0" i="1" noProof="0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 b="0" i="1" noProof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CA6E069-48B6-9342-7370-F5F1E5E438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54944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39823E5-012A-0941-E2DB-9E631ADA2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E738AF5F-DF7C-0CEE-9266-929C429F3D78}"/>
                  </a:ext>
                </a:extLst>
              </p:cNvPr>
              <p:cNvSpPr txBox="1"/>
              <p:nvPr/>
            </p:nvSpPr>
            <p:spPr>
              <a:xfrm>
                <a:off x="579619" y="1275126"/>
                <a:ext cx="6961049" cy="3038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noProof="0"/>
                  <a:t>Design of a </a:t>
                </a:r>
                <a:r>
                  <a:rPr lang="en-US" b="1" noProof="0"/>
                  <a:t>performance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b="1" i="1" noProof="0" smtClean="0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noProof="0"/>
                  <a:t> </a:t>
                </a:r>
                <a:r>
                  <a:rPr lang="en-US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noProof="0"/>
                  <a:t> controller design </a:t>
                </a:r>
                <a:r>
                  <a:rPr lang="en-US" noProof="0" err="1"/>
                  <a:t>s.t.</a:t>
                </a:r>
                <a:r>
                  <a:rPr lang="en-US" noProof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</m:e>
                        </m:acc>
                        <m:d>
                          <m:d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)|</m:t>
                        </m:r>
                      </m:den>
                    </m:f>
                  </m:oMath>
                </a14:m>
                <a:r>
                  <a:rPr lang="en-US" noProof="0"/>
                  <a:t>. Selected as n=1 order:</a:t>
                </a:r>
                <a:endParaRPr lang="en-US"/>
              </a:p>
              <a:p>
                <a:endParaRPr lang="en-US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𝑙𝑎𝑡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𝑙𝑎𝑡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𝑙𝑎𝑡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𝑙𝑎𝑡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/>
              </a:p>
              <a:p>
                <a:r>
                  <a:rPr lang="en-US" err="1"/>
                  <a:t>s.t.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has:</a:t>
                </a:r>
              </a:p>
              <a:p>
                <a:r>
                  <a:rPr lang="en-US" noProof="0"/>
                  <a:t>-   DC gain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𝑙𝑎𝑡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b="0" noProof="0"/>
              </a:p>
              <a:p>
                <a:r>
                  <a:rPr lang="en-US" noProof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noProof="0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𝑙𝑎𝑡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mtClean="0"/>
                      <m:t>7.070107</m:t>
                    </m:r>
                  </m:oMath>
                </a14:m>
                <a:r>
                  <a:rPr lang="en-US"/>
                  <a:t> rad/s  - obtained by sweeping method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/>
                  <a:t>HF gain: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mtClean="0"/>
                      <m:t>1.657</m:t>
                    </m:r>
                  </m:oMath>
                </a14:m>
                <a:r>
                  <a:rPr lang="en-US"/>
                  <a:t>   - obtained by sweeping method</a:t>
                </a: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E738AF5F-DF7C-0CEE-9266-929C429F3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9" y="1275126"/>
                <a:ext cx="6961049" cy="3038139"/>
              </a:xfrm>
              <a:prstGeom prst="rect">
                <a:avLst/>
              </a:prstGeom>
              <a:blipFill>
                <a:blip r:embed="rId3"/>
                <a:stretch>
                  <a:fillRect l="-701" t="-1002" b="-2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66B12930-9C5A-A645-297D-0A75BC4516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02"/>
          <a:stretch>
            <a:fillRect/>
          </a:stretch>
        </p:blipFill>
        <p:spPr>
          <a:xfrm>
            <a:off x="4346579" y="5347252"/>
            <a:ext cx="7416913" cy="1139990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3455C3A3-C1E4-4450-069A-7AA84C42E156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FAAD9194-58A2-A6DA-A46A-0CF6A3E4CDE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7401" y="4472266"/>
            <a:ext cx="3912742" cy="387576"/>
          </a:xfrm>
          <a:ln>
            <a:solidFill>
              <a:srgbClr val="102C5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1050"/>
              <a:t>When imposing weight functions, makeweight allows for better</a:t>
            </a:r>
          </a:p>
          <a:p>
            <a:pPr algn="ctr"/>
            <a:r>
              <a:rPr lang="en-US" sz="1050"/>
              <a:t>crossover frequency control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7E45386-1C2F-B75C-19BD-8A7401A8A8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0" t="2843"/>
          <a:stretch>
            <a:fillRect/>
          </a:stretch>
        </p:blipFill>
        <p:spPr>
          <a:xfrm>
            <a:off x="7370820" y="1643449"/>
            <a:ext cx="4418270" cy="338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542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F84C2-1DC6-A5CC-314A-025ACE8E3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E3388587-AAA9-3829-8470-DB849BC24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6" t="2675" r="8951" b="1923"/>
          <a:stretch>
            <a:fillRect/>
          </a:stretch>
        </p:blipFill>
        <p:spPr>
          <a:xfrm>
            <a:off x="4192660" y="2570414"/>
            <a:ext cx="3274542" cy="273084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8F6AA20-CFEF-4BA1-D534-F10C9D6D12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0" t="2843"/>
          <a:stretch>
            <a:fillRect/>
          </a:stretch>
        </p:blipFill>
        <p:spPr>
          <a:xfrm>
            <a:off x="7773730" y="2061147"/>
            <a:ext cx="4418270" cy="374937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E7E9BD6-EE0A-D7C6-3348-E07983191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812653"/>
            <a:ext cx="9723437" cy="698096"/>
          </a:xfrm>
        </p:spPr>
        <p:txBody>
          <a:bodyPr/>
          <a:lstStyle/>
          <a:p>
            <a:r>
              <a:rPr lang="en-US" sz="1800" noProof="0">
                <a:ea typeface="+mj-lt"/>
                <a:cs typeface="+mj-lt"/>
              </a:rPr>
              <a:t>Design requirements </a:t>
            </a:r>
            <a:r>
              <a:rPr lang="en-US" sz="1800" b="0" noProof="0">
                <a:ea typeface="+mj-lt"/>
                <a:cs typeface="+mj-lt"/>
              </a:rPr>
              <a:t>for Nominal </a:t>
            </a:r>
            <a:r>
              <a:rPr lang="en-US" sz="1800" b="0" u="sng" noProof="0">
                <a:ea typeface="+mj-lt"/>
                <a:cs typeface="+mj-lt"/>
              </a:rPr>
              <a:t>controller design </a:t>
            </a:r>
            <a:r>
              <a:rPr lang="en-US" sz="1800" b="0" noProof="0">
                <a:ea typeface="+mj-lt"/>
                <a:cs typeface="+mj-lt"/>
              </a:rPr>
              <a:t>for</a:t>
            </a:r>
            <a:r>
              <a:rPr lang="en-US" sz="1800" b="0" i="1" noProof="0">
                <a:ea typeface="+mj-lt"/>
                <a:cs typeface="+mj-lt"/>
              </a:rPr>
              <a:t> </a:t>
            </a:r>
            <a:r>
              <a:rPr lang="en-US" sz="1800" b="0" i="1" noProof="0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 b="0" i="1" noProof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3E0D534-54B7-C757-DE33-624331DDAB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54944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8E22686-87E5-3191-268F-A2F54BB0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744C3E91-F222-E175-AAD8-611E82A3A0EB}"/>
                  </a:ext>
                </a:extLst>
              </p:cNvPr>
              <p:cNvSpPr txBox="1"/>
              <p:nvPr/>
            </p:nvSpPr>
            <p:spPr>
              <a:xfrm>
                <a:off x="599606" y="1768839"/>
                <a:ext cx="7435122" cy="2363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noProof="0"/>
                  <a:t>Design of a performance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𝑙𝑎𝑡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noProof="0"/>
                  <a:t> </a:t>
                </a:r>
                <a:r>
                  <a:rPr lang="en-US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noProof="0"/>
                  <a:t> controller design:</a:t>
                </a:r>
              </a:p>
              <a:p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 selection </a:t>
                </a:r>
                <a:r>
                  <a:rPr lang="en-US" err="1"/>
                  <a:t>s.t.</a:t>
                </a:r>
                <a:r>
                  <a:rPr lang="en-US"/>
                  <a:t>:</a:t>
                </a:r>
              </a:p>
              <a:p>
                <a:endParaRPr lang="en-US"/>
              </a:p>
              <a:p>
                <a:r>
                  <a:rPr lang="en-US" noProof="0"/>
                  <a:t>-   DC gain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𝑙𝑎𝑡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b="0" noProof="0"/>
              </a:p>
              <a:p>
                <a:r>
                  <a:rPr lang="en-US" noProof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noProof="0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𝑙𝑎𝑡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mtClean="0"/>
                      <m:t>7.070107</m:t>
                    </m:r>
                  </m:oMath>
                </a14:m>
                <a:r>
                  <a:rPr lang="en-US"/>
                  <a:t> rad/s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/>
                  <a:t>HF gain: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mtClean="0"/>
                      <m:t>1.657</m:t>
                    </m:r>
                  </m:oMath>
                </a14:m>
                <a:endParaRPr lang="en-US"/>
              </a:p>
              <a:p>
                <a:pPr marL="285750" indent="-285750">
                  <a:buFontTx/>
                  <a:buChar char="-"/>
                </a:pPr>
                <a:r>
                  <a:rPr lang="en-US"/>
                  <a:t>Order n = 1</a:t>
                </a: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744C3E91-F222-E175-AAD8-611E82A3A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06" y="1768839"/>
                <a:ext cx="7435122" cy="2363339"/>
              </a:xfrm>
              <a:prstGeom prst="rect">
                <a:avLst/>
              </a:prstGeom>
              <a:blipFill>
                <a:blip r:embed="rId5"/>
                <a:stretch>
                  <a:fillRect l="-656" t="-1031" b="-3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ttangolo 7">
            <a:extLst>
              <a:ext uri="{FF2B5EF4-FFF2-40B4-BE49-F238E27FC236}">
                <a16:creationId xmlns:a16="http://schemas.microsoft.com/office/drawing/2014/main" id="{27BDA9E9-45F1-56D3-53AE-93FECDCC4BDB}"/>
              </a:ext>
            </a:extLst>
          </p:cNvPr>
          <p:cNvSpPr/>
          <p:nvPr/>
        </p:nvSpPr>
        <p:spPr>
          <a:xfrm>
            <a:off x="10253272" y="2448640"/>
            <a:ext cx="561266" cy="584617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onnettore diritto a freccia 19">
            <a:extLst>
              <a:ext uri="{FF2B5EF4-FFF2-40B4-BE49-F238E27FC236}">
                <a16:creationId xmlns:a16="http://schemas.microsoft.com/office/drawing/2014/main" id="{10ED7EFD-9C12-B4C6-BA51-724F4378101C}"/>
              </a:ext>
            </a:extLst>
          </p:cNvPr>
          <p:cNvCxnSpPr>
            <a:cxnSpLocks/>
          </p:cNvCxnSpPr>
          <p:nvPr/>
        </p:nvCxnSpPr>
        <p:spPr>
          <a:xfrm flipH="1">
            <a:off x="7488195" y="2723122"/>
            <a:ext cx="2744084" cy="620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99E960C9-2900-F5B2-F390-E915FD42E821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1859809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0869D-B053-D412-1AFA-241C4B7F7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F040F157-0C33-3B9F-14E0-40B7E74FA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812653"/>
            <a:ext cx="9723437" cy="698096"/>
          </a:xfrm>
        </p:spPr>
        <p:txBody>
          <a:bodyPr/>
          <a:lstStyle/>
          <a:p>
            <a:r>
              <a:rPr lang="en-US" sz="1800" noProof="0">
                <a:ea typeface="+mj-lt"/>
                <a:cs typeface="+mj-lt"/>
              </a:rPr>
              <a:t>Design requirements </a:t>
            </a:r>
            <a:r>
              <a:rPr lang="en-US" sz="1800" b="0" noProof="0">
                <a:ea typeface="+mj-lt"/>
                <a:cs typeface="+mj-lt"/>
              </a:rPr>
              <a:t>for Nominal </a:t>
            </a:r>
            <a:r>
              <a:rPr lang="en-US" sz="1800" b="0" u="sng" noProof="0">
                <a:ea typeface="+mj-lt"/>
                <a:cs typeface="+mj-lt"/>
              </a:rPr>
              <a:t>controller design </a:t>
            </a:r>
            <a:r>
              <a:rPr lang="en-US" sz="1800" b="0" noProof="0">
                <a:ea typeface="+mj-lt"/>
                <a:cs typeface="+mj-lt"/>
              </a:rPr>
              <a:t>for</a:t>
            </a:r>
            <a:r>
              <a:rPr lang="en-US" sz="1800" b="0" i="1" noProof="0">
                <a:ea typeface="+mj-lt"/>
                <a:cs typeface="+mj-lt"/>
              </a:rPr>
              <a:t> </a:t>
            </a:r>
            <a:r>
              <a:rPr lang="en-US" sz="1800" b="0" i="1" noProof="0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 b="0" i="1" noProof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56221B8-822A-8BD4-8369-5E29A6B687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54944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95919C3-9419-CB8D-57D6-018F15833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130D314-3C99-2BAC-7804-FC3B44EB7E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558902F1-0352-846E-75A5-619917FEFC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6753" y="1492513"/>
                <a:ext cx="10460998" cy="98086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342900" indent="-342900">
                  <a:buAutoNum type="alphaUcPeriod" startAt="2"/>
                </a:pPr>
                <a:r>
                  <a:rPr lang="en-US" sz="1600" noProof="0"/>
                  <a:t>CONTROL EFFORT LIMITATION </a:t>
                </a:r>
              </a:p>
              <a:p>
                <a:pPr marL="342900" indent="-342900">
                  <a:buAutoNum type="alphaUcPeriod" startAt="2"/>
                </a:pPr>
                <a:endParaRPr lang="en-US" sz="1600" b="0" noProof="0"/>
              </a:p>
              <a:p>
                <a:r>
                  <a:rPr lang="en-US" sz="1600" b="0" noProof="0"/>
                  <a:t>Control effort limitation: </a:t>
                </a:r>
                <a14:m>
                  <m:oMath xmlns:m="http://schemas.openxmlformats.org/officeDocument/2006/math"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𝑙𝑎𝑡</m:t>
                        </m:r>
                      </m:sub>
                    </m:sSub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1600" b="0" noProof="0"/>
                  <a:t> ≤ 0.05 for the doublet change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b="0" noProof="0"/>
                  <a:t>  with 10 ° amplitude given by (in deg):</a:t>
                </a:r>
              </a:p>
            </p:txBody>
          </p:sp>
        </mc:Choice>
        <mc:Fallback xmlns="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558902F1-0352-846E-75A5-619917FEF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53" y="1492513"/>
                <a:ext cx="10460998" cy="980863"/>
              </a:xfrm>
              <a:prstGeom prst="rect">
                <a:avLst/>
              </a:prstGeom>
              <a:blipFill>
                <a:blip r:embed="rId2"/>
                <a:stretch>
                  <a:fillRect l="-1166" t="-7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magine 16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78AE074E-D645-739E-C3EB-7BA4A11D3D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657" y="2494620"/>
            <a:ext cx="4825522" cy="3853792"/>
          </a:xfrm>
          <a:prstGeom prst="rect">
            <a:avLst/>
          </a:prstGeom>
        </p:spPr>
      </p:pic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27E88A75-3255-3984-EE88-0B21D3052862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1902256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39112-77B4-C4D8-FAB3-DD76122E1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43386B2-09FE-89EC-4ABC-F652F4BF7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812653"/>
            <a:ext cx="9723437" cy="698096"/>
          </a:xfrm>
        </p:spPr>
        <p:txBody>
          <a:bodyPr/>
          <a:lstStyle/>
          <a:p>
            <a:r>
              <a:rPr lang="en-US" sz="1800" noProof="0">
                <a:ea typeface="+mj-lt"/>
                <a:cs typeface="+mj-lt"/>
              </a:rPr>
              <a:t>Design requirements </a:t>
            </a:r>
            <a:r>
              <a:rPr lang="en-US" sz="1800" b="0" noProof="0">
                <a:ea typeface="+mj-lt"/>
                <a:cs typeface="+mj-lt"/>
              </a:rPr>
              <a:t>for Nominal </a:t>
            </a:r>
            <a:r>
              <a:rPr lang="en-US" sz="1800" b="0" u="sng" noProof="0">
                <a:ea typeface="+mj-lt"/>
                <a:cs typeface="+mj-lt"/>
              </a:rPr>
              <a:t>controller design </a:t>
            </a:r>
            <a:r>
              <a:rPr lang="en-US" sz="1800" b="0" noProof="0">
                <a:ea typeface="+mj-lt"/>
                <a:cs typeface="+mj-lt"/>
              </a:rPr>
              <a:t>for</a:t>
            </a:r>
            <a:r>
              <a:rPr lang="en-US" sz="1800" b="0" i="1" noProof="0">
                <a:ea typeface="+mj-lt"/>
                <a:cs typeface="+mj-lt"/>
              </a:rPr>
              <a:t> </a:t>
            </a:r>
            <a:r>
              <a:rPr lang="en-US" sz="1800" b="0" i="1" noProof="0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 b="0" i="1" noProof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6A44310-32C5-A0EC-EDEB-2B8E102EFF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54944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E8F2BCF-0546-E118-7604-3DC5E0040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6EF5A11-6F9A-1FB4-C30A-17661F728D4F}"/>
              </a:ext>
            </a:extLst>
          </p:cNvPr>
          <p:cNvSpPr txBox="1">
            <a:spLocks/>
          </p:cNvSpPr>
          <p:nvPr/>
        </p:nvSpPr>
        <p:spPr>
          <a:xfrm>
            <a:off x="586753" y="1492513"/>
            <a:ext cx="10460998" cy="403885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600" b="0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F8F652C1-56D2-5833-0664-287B2CE15F4E}"/>
                  </a:ext>
                </a:extLst>
              </p:cNvPr>
              <p:cNvSpPr txBox="1"/>
              <p:nvPr/>
            </p:nvSpPr>
            <p:spPr>
              <a:xfrm>
                <a:off x="349863" y="1406446"/>
                <a:ext cx="6981212" cy="5697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noProof="0"/>
                  <a:t>Design of a </a:t>
                </a:r>
                <a:r>
                  <a:rPr lang="en-US" b="1" noProof="0"/>
                  <a:t>control sensitivity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b="1" i="1" noProof="0" smtClean="0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noProof="0"/>
                  <a:t> </a:t>
                </a:r>
                <a:r>
                  <a:rPr lang="en-US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noProof="0"/>
                  <a:t> controller design </a:t>
                </a:r>
                <a:r>
                  <a:rPr lang="en-US" noProof="0" err="1"/>
                  <a:t>s.t.</a:t>
                </a:r>
                <a:r>
                  <a:rPr lang="en-US" noProof="0"/>
                  <a:t> 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noProof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noProof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noProof="0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noProof="0" dirty="0" smtClean="0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sub>
                        </m:sSub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)|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/>
                  <a:t> Selected as n=1 order: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𝑙𝑎𝑡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pPr marL="285750" indent="-285750">
                  <a:buFontTx/>
                  <a:buChar char="-"/>
                </a:pPr>
                <a:r>
                  <a:rPr lang="en-US"/>
                  <a:t>Choice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/>
                  <a:t> 30 rad/s</a:t>
                </a:r>
              </a:p>
              <a:p>
                <a:pPr marL="285750" indent="-285750">
                  <a:buFontTx/>
                  <a:buChar char="-"/>
                </a:pPr>
                <a:endParaRPr lang="en-US"/>
              </a:p>
              <a:p>
                <a:pPr marL="285750" indent="-285750">
                  <a:buFontTx/>
                  <a:buChar char="-"/>
                </a:pPr>
                <a:r>
                  <a:rPr lang="en-US"/>
                  <a:t>Choice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/>
                  <a:t>    consider an equivalent step of magnitude A= 20° and consider peak control effort at t=0. For the IVT, then</a:t>
                </a:r>
              </a:p>
              <a:p>
                <a:pPr algn="just"/>
                <a:endParaRPr lang="en-US"/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𝑙𝑎𝑡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a:rPr lang="en-US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a:rPr lang="en-US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a:rPr lang="en-US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/>
                  <a:t> </a:t>
                </a:r>
              </a:p>
              <a:p>
                <a:endParaRPr lang="en-US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𝑙𝑎𝑡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20°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180°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/0.05=</m:t>
                    </m:r>
                  </m:oMath>
                </a14:m>
                <a:r>
                  <a:rPr lang="en-US"/>
                  <a:t> 6.9813  </a:t>
                </a:r>
              </a:p>
              <a:p>
                <a:pPr marL="285750" indent="-285750">
                  <a:buFont typeface="Wingdings" pitchFamily="2" charset="2"/>
                  <a:buChar char="è"/>
                </a:pPr>
                <a:r>
                  <a:rPr lang="en-US"/>
                  <a:t> relaxed control constraint: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mtClean="0"/>
                      <m:t>4.65421</m:t>
                    </m:r>
                    <m:r>
                      <m:rPr>
                        <m:nor/>
                      </m:rPr>
                      <a:rPr lang="pt-PT" b="0" i="0" smtClean="0"/>
                      <m:t> </m:t>
                    </m:r>
                  </m:oMath>
                </a14:m>
                <a:endParaRPr lang="pt-PT" b="0" i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PT" b="0" i="0" smtClean="0"/>
                        <m:t>(</m:t>
                      </m:r>
                      <m:r>
                        <m:rPr>
                          <m:nor/>
                        </m:rPr>
                        <a:rPr lang="en-US" dirty="0"/>
                        <m:t>obtained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by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sweeping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method</m:t>
                      </m:r>
                      <m:r>
                        <m:rPr>
                          <m:nor/>
                        </m:rPr>
                        <a:rPr lang="pt-PT" b="0" i="0" dirty="0" smtClean="0"/>
                        <m:t>)</m:t>
                      </m:r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F8F652C1-56D2-5833-0664-287B2CE15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63" y="1406446"/>
                <a:ext cx="6981212" cy="5697201"/>
              </a:xfrm>
              <a:prstGeom prst="rect">
                <a:avLst/>
              </a:prstGeom>
              <a:blipFill>
                <a:blip r:embed="rId2"/>
                <a:stretch>
                  <a:fillRect l="-698" t="-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magine 8" descr="Immagine che contiene testo, Carattere, ricevuta, bianco&#10;&#10;Il contenuto generato dall'IA potrebbe non essere corretto.">
            <a:extLst>
              <a:ext uri="{FF2B5EF4-FFF2-40B4-BE49-F238E27FC236}">
                <a16:creationId xmlns:a16="http://schemas.microsoft.com/office/drawing/2014/main" id="{F75C5C6B-EF6D-36EC-7341-C468758F50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857" y="5338936"/>
            <a:ext cx="4965180" cy="1041263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11" name="Immagine 10" descr="Immagine che contiene linea, Diagramma, testo, diagramma&#10;&#10;Il contenuto generato dall'IA potrebbe non essere corretto.">
            <a:extLst>
              <a:ext uri="{FF2B5EF4-FFF2-40B4-BE49-F238E27FC236}">
                <a16:creationId xmlns:a16="http://schemas.microsoft.com/office/drawing/2014/main" id="{FD163B12-63B4-0508-A4CD-E37757CB52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7" r="8699"/>
          <a:stretch>
            <a:fillRect/>
          </a:stretch>
        </p:blipFill>
        <p:spPr>
          <a:xfrm>
            <a:off x="7345976" y="1084673"/>
            <a:ext cx="4348772" cy="4088341"/>
          </a:xfrm>
          <a:prstGeom prst="rect">
            <a:avLst/>
          </a:prstGeom>
        </p:spPr>
      </p:pic>
      <p:cxnSp>
        <p:nvCxnSpPr>
          <p:cNvPr id="14" name="Connettore dritto 13">
            <a:extLst>
              <a:ext uri="{FF2B5EF4-FFF2-40B4-BE49-F238E27FC236}">
                <a16:creationId xmlns:a16="http://schemas.microsoft.com/office/drawing/2014/main" id="{2CB28098-F1DC-CE4E-7A21-6516DD64ABC3}"/>
              </a:ext>
            </a:extLst>
          </p:cNvPr>
          <p:cNvCxnSpPr/>
          <p:nvPr/>
        </p:nvCxnSpPr>
        <p:spPr>
          <a:xfrm>
            <a:off x="7689954" y="3792511"/>
            <a:ext cx="400479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85DDF67E-F552-C7BE-E356-6B9D9704F3A7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3686156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DA736-2CE8-014A-4A38-E42941DC1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731BC1-9D1C-666E-144D-437B1AC3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163688" cy="840083"/>
          </a:xfrm>
        </p:spPr>
        <p:txBody>
          <a:bodyPr/>
          <a:lstStyle/>
          <a:p>
            <a:r>
              <a:rPr lang="en-US"/>
              <a:t>Mixed-sensitivity synthesis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32A24C3-ADF2-DD5F-10FA-BB1EA3B17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FAFAAB6-8F4D-9FAD-F72A-692A66C26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D439CDE-B5FD-0E68-A7CF-4A56D9E832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2" y="2060575"/>
            <a:ext cx="2479489" cy="4429125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Define augmented plant</a:t>
            </a:r>
          </a:p>
          <a:p>
            <a:pPr marL="342900" indent="-342900">
              <a:buAutoNum type="arabicPeriod"/>
            </a:pPr>
            <a:r>
              <a:rPr lang="en-US"/>
              <a:t>Optimization problem</a:t>
            </a:r>
          </a:p>
          <a:p>
            <a:endParaRPr lang="en-US"/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EA0A18A-B758-56E0-C2A0-C9A74B7EA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16275" y="1474402"/>
            <a:ext cx="8640763" cy="5015298"/>
          </a:xfrm>
        </p:spPr>
        <p:txBody>
          <a:bodyPr>
            <a:normAutofit/>
          </a:bodyPr>
          <a:lstStyle/>
          <a:p>
            <a:pPr algn="ctr"/>
            <a:endParaRPr lang="en-US" b="0" i="1">
              <a:latin typeface="Cambria Math" panose="02040503050406030204" pitchFamily="18" charset="0"/>
            </a:endParaRPr>
          </a:p>
          <a:p>
            <a:pPr algn="just"/>
            <a:r>
              <a:rPr lang="en-US" b="1"/>
              <a:t>1) </a:t>
            </a: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Augmented plant</a:t>
            </a:r>
            <a:r>
              <a:rPr lang="en-US" b="1"/>
              <a:t>:</a:t>
            </a:r>
          </a:p>
          <a:p>
            <a:pPr marL="342900" indent="-342900" algn="just">
              <a:buAutoNum type="arabicPeriod"/>
            </a:pPr>
            <a:endParaRPr lang="en-US" b="1"/>
          </a:p>
          <a:p>
            <a:pPr marL="342900" indent="-342900" algn="just">
              <a:buAutoNum type="arabicPeriod"/>
            </a:pPr>
            <a:endParaRPr lang="en-US" b="1"/>
          </a:p>
          <a:p>
            <a:pPr marL="342900" indent="-342900" algn="just">
              <a:buAutoNum type="arabicPeriod"/>
            </a:pPr>
            <a:endParaRPr lang="en-US" b="1"/>
          </a:p>
          <a:p>
            <a:pPr marL="342900" indent="-342900" algn="just">
              <a:buAutoNum type="arabicPeriod"/>
            </a:pPr>
            <a:endParaRPr lang="en-US" b="1"/>
          </a:p>
          <a:p>
            <a:pPr algn="just"/>
            <a:endParaRPr lang="en-US" b="1"/>
          </a:p>
          <a:p>
            <a:pPr algn="just"/>
            <a:endParaRPr lang="en-US" b="1"/>
          </a:p>
          <a:p>
            <a:pPr algn="just"/>
            <a:endParaRPr lang="en-US" b="1"/>
          </a:p>
          <a:p>
            <a:pPr algn="just"/>
            <a:endParaRPr lang="en-US" b="1"/>
          </a:p>
          <a:p>
            <a:pPr algn="just"/>
            <a:endParaRPr lang="en-US" b="1"/>
          </a:p>
          <a:p>
            <a:pPr algn="just"/>
            <a:endParaRPr lang="en-US" b="1"/>
          </a:p>
          <a:p>
            <a:pPr algn="just"/>
            <a:endParaRPr lang="en-US" b="1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4DE21B9-BF5D-A161-E0F3-93515216AF31}"/>
              </a:ext>
            </a:extLst>
          </p:cNvPr>
          <p:cNvSpPr txBox="1">
            <a:spLocks/>
          </p:cNvSpPr>
          <p:nvPr/>
        </p:nvSpPr>
        <p:spPr>
          <a:xfrm>
            <a:off x="3452917" y="806676"/>
            <a:ext cx="840412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>
                <a:ea typeface="+mj-lt"/>
                <a:cs typeface="+mj-lt"/>
              </a:rPr>
              <a:t>Mixed-sensitivity synthesis </a:t>
            </a:r>
            <a:r>
              <a:rPr lang="en-US" sz="1800" b="0">
                <a:ea typeface="+mj-lt"/>
                <a:cs typeface="+mj-lt"/>
              </a:rPr>
              <a:t>for Nominal </a:t>
            </a:r>
            <a:r>
              <a:rPr lang="en-US" sz="1800" b="0" u="sng">
                <a:ea typeface="+mj-lt"/>
                <a:cs typeface="+mj-lt"/>
              </a:rPr>
              <a:t>controller design </a:t>
            </a:r>
            <a:r>
              <a:rPr lang="en-US" sz="1800" b="0">
                <a:ea typeface="+mj-lt"/>
                <a:cs typeface="+mj-lt"/>
              </a:rPr>
              <a:t>for</a:t>
            </a:r>
            <a:r>
              <a:rPr lang="en-US" sz="1800" b="0" i="1">
                <a:ea typeface="+mj-lt"/>
                <a:cs typeface="+mj-lt"/>
              </a:rPr>
              <a:t> </a:t>
            </a:r>
            <a:r>
              <a:rPr lang="en-US" sz="1800" b="0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 b="0" i="1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" name="Immagine 10" descr="Immagine che contiene testo, Biglietto Post-it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AEF8CDD4-D59C-CEFF-0AE1-3BCB69EB9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331"/>
          <a:stretch>
            <a:fillRect/>
          </a:stretch>
        </p:blipFill>
        <p:spPr>
          <a:xfrm>
            <a:off x="4534925" y="1656398"/>
            <a:ext cx="7490918" cy="2844350"/>
          </a:xfrm>
          <a:prstGeom prst="rect">
            <a:avLst/>
          </a:prstGeom>
        </p:spPr>
      </p:pic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D64138A4-AF83-3D8E-7E9B-A4CCB0C15AD1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3466041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5E294-3243-0866-DE60-4367AA15D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516BCD-B62E-CE47-D9CE-EB45684CE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163688" cy="840083"/>
          </a:xfrm>
        </p:spPr>
        <p:txBody>
          <a:bodyPr/>
          <a:lstStyle/>
          <a:p>
            <a:r>
              <a:rPr lang="en-US"/>
              <a:t>Mixed-sensitivity synthesis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47A61CC-79B5-D3FF-E5AB-D7B959D1C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571BC6F-BBD7-CCDE-FCCD-5DCACAB88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01026702-8909-F62C-4A50-E449AF6C5A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526990" cy="4429125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/>
              <a:t>Define augmented plant</a:t>
            </a: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Optimization problem</a:t>
            </a:r>
          </a:p>
          <a:p>
            <a:endParaRPr lang="en-US"/>
          </a:p>
          <a:p>
            <a:pPr marL="342900" indent="-342900">
              <a:buAutoNum type="arabicPeriod"/>
            </a:pP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31F6C6AF-A0FC-210C-D105-54C8B419CD85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</p:spPr>
            <p:txBody>
              <a:bodyPr>
                <a:normAutofit lnSpcReduction="10000"/>
              </a:bodyPr>
              <a:lstStyle/>
              <a:p>
                <a:pPr algn="ctr"/>
                <a:endParaRPr lang="en-US" b="0" i="1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b="1"/>
                  <a:t>1) Augmented plant:</a:t>
                </a:r>
              </a:p>
              <a:p>
                <a:pPr marL="342900" indent="-342900" algn="just">
                  <a:buAutoNum type="arabicPeriod"/>
                </a:pPr>
                <a:endParaRPr lang="en-US" b="1"/>
              </a:p>
              <a:p>
                <a:pPr marL="342900" indent="-342900" algn="just">
                  <a:buAutoNum type="arabicPeriod"/>
                </a:pPr>
                <a:endParaRPr lang="en-US" b="1"/>
              </a:p>
              <a:p>
                <a:pPr marL="342900" indent="-342900" algn="just">
                  <a:buAutoNum type="arabicPeriod"/>
                </a:pPr>
                <a:endParaRPr lang="en-US" b="1"/>
              </a:p>
              <a:p>
                <a:pPr marL="342900" indent="-342900" algn="just">
                  <a:buAutoNum type="arabicPeriod"/>
                </a:pPr>
                <a:endParaRPr lang="en-US" b="1"/>
              </a:p>
              <a:p>
                <a:pPr algn="just"/>
                <a:endParaRPr lang="en-US" b="1"/>
              </a:p>
              <a:p>
                <a:pPr algn="just"/>
                <a:endParaRPr lang="en-US" b="1"/>
              </a:p>
              <a:p>
                <a:pPr algn="just"/>
                <a:endParaRPr lang="en-US" b="1"/>
              </a:p>
              <a:p>
                <a:pPr algn="just"/>
                <a:endParaRPr lang="en-US" b="1"/>
              </a:p>
              <a:p>
                <a:pPr algn="just"/>
                <a:endParaRPr lang="en-US" b="1"/>
              </a:p>
              <a:p>
                <a:pPr algn="just"/>
                <a:endParaRPr lang="en-US" b="1"/>
              </a:p>
              <a:p>
                <a:pPr algn="just"/>
                <a:endParaRPr lang="en-US" b="1"/>
              </a:p>
              <a:p>
                <a:pPr algn="just"/>
                <a:r>
                  <a:rPr lang="en-US" b="1"/>
                  <a:t>2) </a:t>
                </a: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Optimization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𝑙𝑎𝑡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2,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𝑙𝑎𝑡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𝑊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𝑙𝑎𝑡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</m:d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𝐹</m:t>
                                              </m:r>
                                            </m:e>
                                          </m:acc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𝑊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𝑄</m:t>
                                              </m:r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𝑙𝑎𝑡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</m:d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𝑄</m:t>
                                              </m:r>
                                            </m:e>
                                          </m:acc>
                                          <m:d>
                                            <m:d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/>
                  <a:t> </a:t>
                </a:r>
              </a:p>
              <a:p>
                <a:pPr algn="ctr"/>
                <a:endParaRPr lang="en-US"/>
              </a:p>
              <a:p>
                <a:r>
                  <a:rPr lang="en-US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/>
                  <a:t> imposing </a:t>
                </a:r>
                <a:r>
                  <a:rPr lang="en-US" b="1"/>
                  <a:t>Performance</a:t>
                </a:r>
                <a:r>
                  <a:rPr lang="en-US"/>
                  <a:t> and </a:t>
                </a:r>
                <a:r>
                  <a:rPr lang="en-US" b="1"/>
                  <a:t>control effort limitation</a:t>
                </a:r>
                <a:r>
                  <a:rPr lang="en-US"/>
                  <a:t>; </a:t>
                </a:r>
                <a:r>
                  <a:rPr lang="en-US" b="1"/>
                  <a:t>R.S.</a:t>
                </a:r>
                <a:r>
                  <a:rPr lang="en-US"/>
                  <a:t> is checked </a:t>
                </a:r>
                <a:r>
                  <a:rPr lang="en-US" b="1"/>
                  <a:t>a posteriori</a:t>
                </a:r>
                <a:r>
                  <a:rPr lang="en-US"/>
                  <a:t>; </a:t>
                </a:r>
                <a:r>
                  <a:rPr lang="en-US" b="1"/>
                  <a:t>R.P. </a:t>
                </a:r>
                <a:r>
                  <a:rPr lang="en-US"/>
                  <a:t>will be verified via MC campaign (Task 5).</a:t>
                </a:r>
              </a:p>
            </p:txBody>
          </p:sp>
        </mc:Choice>
        <mc:Fallback xmlns="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31F6C6AF-A0FC-210C-D105-54C8B419CD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  <a:blipFill>
                <a:blip r:embed="rId2"/>
                <a:stretch>
                  <a:fillRect l="-1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12460EF1-1B5A-985D-0AFF-7B8AA284DAF6}"/>
              </a:ext>
            </a:extLst>
          </p:cNvPr>
          <p:cNvSpPr txBox="1">
            <a:spLocks/>
          </p:cNvSpPr>
          <p:nvPr/>
        </p:nvSpPr>
        <p:spPr>
          <a:xfrm>
            <a:off x="3452917" y="806676"/>
            <a:ext cx="840412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>
                <a:ea typeface="+mj-lt"/>
                <a:cs typeface="+mj-lt"/>
              </a:rPr>
              <a:t>Mixed-sensitivity synthesis </a:t>
            </a:r>
            <a:r>
              <a:rPr lang="en-US" sz="1800" b="0">
                <a:ea typeface="+mj-lt"/>
                <a:cs typeface="+mj-lt"/>
              </a:rPr>
              <a:t>for Nominal </a:t>
            </a:r>
            <a:r>
              <a:rPr lang="en-US" sz="1800" b="0" u="sng">
                <a:ea typeface="+mj-lt"/>
                <a:cs typeface="+mj-lt"/>
              </a:rPr>
              <a:t>controller design </a:t>
            </a:r>
            <a:r>
              <a:rPr lang="en-US" sz="1800" b="0">
                <a:ea typeface="+mj-lt"/>
                <a:cs typeface="+mj-lt"/>
              </a:rPr>
              <a:t>for</a:t>
            </a:r>
            <a:r>
              <a:rPr lang="en-US" sz="1800" b="0" i="1">
                <a:ea typeface="+mj-lt"/>
                <a:cs typeface="+mj-lt"/>
              </a:rPr>
              <a:t> </a:t>
            </a:r>
            <a:r>
              <a:rPr lang="en-US" sz="1800" b="0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 b="0" i="1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" name="Immagine 10" descr="Immagine che contiene testo, Biglietto Post-it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37EE4678-D561-6099-4EFA-2FC252AB18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331"/>
          <a:stretch>
            <a:fillRect/>
          </a:stretch>
        </p:blipFill>
        <p:spPr>
          <a:xfrm>
            <a:off x="4534925" y="1656398"/>
            <a:ext cx="7490918" cy="2844350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D842D79C-114B-FE68-D33E-11E16DB00544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6028692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8B9BA-5634-2E8A-9F10-F8603C100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4A4065-59BB-B350-6C8A-C296A2CBC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163688" cy="840083"/>
          </a:xfrm>
        </p:spPr>
        <p:txBody>
          <a:bodyPr/>
          <a:lstStyle/>
          <a:p>
            <a:r>
              <a:rPr lang="en-US"/>
              <a:t>Mixed-sensitivity synthesis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BE9B9F9-4F58-DF1D-1E9E-59FE7BC11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A09E8A5-168B-917C-F6F4-2CD5BD60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77E293C3-27F4-6EE4-724A-A4AC2C6CCF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383298" cy="4429125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/>
              <a:t>Define augmented plant</a:t>
            </a: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Optimization problem</a:t>
            </a:r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330AADB-BDC1-BF82-99DC-00B0FF5FCD73}"/>
              </a:ext>
            </a:extLst>
          </p:cNvPr>
          <p:cNvSpPr txBox="1">
            <a:spLocks/>
          </p:cNvSpPr>
          <p:nvPr/>
        </p:nvSpPr>
        <p:spPr>
          <a:xfrm>
            <a:off x="3452917" y="806676"/>
            <a:ext cx="840412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>
                <a:ea typeface="+mj-lt"/>
                <a:cs typeface="+mj-lt"/>
              </a:rPr>
              <a:t>Mixed-sensitivity synthesis </a:t>
            </a:r>
            <a:r>
              <a:rPr lang="en-US" sz="1800" b="0">
                <a:ea typeface="+mj-lt"/>
                <a:cs typeface="+mj-lt"/>
              </a:rPr>
              <a:t>for Nominal </a:t>
            </a:r>
            <a:r>
              <a:rPr lang="en-US" sz="1800" b="0" u="sng">
                <a:ea typeface="+mj-lt"/>
                <a:cs typeface="+mj-lt"/>
              </a:rPr>
              <a:t>controller design </a:t>
            </a:r>
            <a:r>
              <a:rPr lang="en-US" sz="1800" b="0">
                <a:ea typeface="+mj-lt"/>
                <a:cs typeface="+mj-lt"/>
              </a:rPr>
              <a:t>for</a:t>
            </a:r>
            <a:r>
              <a:rPr lang="en-US" sz="1800" b="0" i="1">
                <a:ea typeface="+mj-lt"/>
                <a:cs typeface="+mj-lt"/>
              </a:rPr>
              <a:t> </a:t>
            </a:r>
            <a:r>
              <a:rPr lang="en-US" sz="1800" b="0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 b="0" i="1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3" name="Immagine 12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BAFEA69B-76FD-EB4D-15B5-AA65B40EB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296" y="3153749"/>
            <a:ext cx="6541930" cy="3335951"/>
          </a:xfrm>
          <a:prstGeom prst="rect">
            <a:avLst/>
          </a:prstGeom>
        </p:spPr>
      </p:pic>
      <p:pic>
        <p:nvPicPr>
          <p:cNvPr id="14" name="Immagine 13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8E76FDCB-7E4D-E092-8627-BDD45D1527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29" y="4720261"/>
            <a:ext cx="4371192" cy="1983566"/>
          </a:xfrm>
          <a:prstGeom prst="rect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16" name="Immagine 15" descr="Immagine che contiene testo, Carattere, schermata, bianco&#10;&#10;Il contenuto generato dall'IA potrebbe non essere corretto.">
            <a:extLst>
              <a:ext uri="{FF2B5EF4-FFF2-40B4-BE49-F238E27FC236}">
                <a16:creationId xmlns:a16="http://schemas.microsoft.com/office/drawing/2014/main" id="{D269663C-FCF5-E128-CCC7-CB276E34D4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826" y="1509182"/>
            <a:ext cx="7772400" cy="1295400"/>
          </a:xfrm>
          <a:prstGeom prst="rect">
            <a:avLst/>
          </a:prstGeom>
        </p:spPr>
      </p:pic>
      <p:sp>
        <p:nvSpPr>
          <p:cNvPr id="17" name="Segnaposto testo 5">
            <a:extLst>
              <a:ext uri="{FF2B5EF4-FFF2-40B4-BE49-F238E27FC236}">
                <a16:creationId xmlns:a16="http://schemas.microsoft.com/office/drawing/2014/main" id="{235F46FB-9DB7-36FD-6B62-0A08363D1198}"/>
              </a:ext>
            </a:extLst>
          </p:cNvPr>
          <p:cNvSpPr txBox="1">
            <a:spLocks/>
          </p:cNvSpPr>
          <p:nvPr/>
        </p:nvSpPr>
        <p:spPr>
          <a:xfrm>
            <a:off x="334963" y="4400121"/>
            <a:ext cx="2509208" cy="365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MATLAB  documentation 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/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A796AF4F-2755-E220-82F2-C267118044E7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2767751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D2AFA-6060-561F-23B7-3331EB1B9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29FDF6-0DDA-0541-B6D0-A7A31ED20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Analysis of the results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0061C5C-C252-E738-2033-748179D27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49E4B0E-E1EB-D1CE-FB9A-B63C6C026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4B27DA0C-399E-6314-3CEE-33805150F7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383298" cy="4429125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Peak gain 1-value limit satisfaction</a:t>
            </a:r>
          </a:p>
          <a:p>
            <a:pPr marL="342900" indent="-342900">
              <a:buAutoNum type="arabicPeriod"/>
            </a:pPr>
            <a:r>
              <a:rPr lang="en-US" noProof="0"/>
              <a:t>Tuned controller</a:t>
            </a:r>
          </a:p>
          <a:p>
            <a:pPr marL="342900" indent="-342900">
              <a:buAutoNum type="arabicPeriod"/>
            </a:pPr>
            <a:r>
              <a:rPr lang="en-US" noProof="0"/>
              <a:t>Nominal performance satisfaction</a:t>
            </a:r>
          </a:p>
          <a:p>
            <a:pPr marL="342900" indent="-342900">
              <a:buAutoNum type="arabicPeriod"/>
            </a:pPr>
            <a:r>
              <a:rPr lang="en-US" noProof="0"/>
              <a:t>Nominal control effort limitation satisfaction</a:t>
            </a:r>
          </a:p>
          <a:p>
            <a:pPr marL="342900" indent="-342900">
              <a:buAutoNum type="arabicPeriod"/>
            </a:pPr>
            <a:r>
              <a:rPr lang="en-US" noProof="0"/>
              <a:t>Reiterate?</a:t>
            </a:r>
          </a:p>
          <a:p>
            <a:endParaRPr lang="en-US" noProof="0"/>
          </a:p>
          <a:p>
            <a:pPr marL="342900" indent="-342900">
              <a:buAutoNum type="arabicPeriod"/>
            </a:pPr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5B83BA32-5E43-4A10-5F34-86693B01D7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23760" y="669099"/>
                <a:ext cx="6661614" cy="84008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800">
                    <a:ea typeface="+mj-lt"/>
                    <a:cs typeface="+mj-lt"/>
                  </a:rPr>
                  <a:t>Analysis of results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𝑯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800">
                    <a:ea typeface="+mj-lt"/>
                    <a:cs typeface="+mj-lt"/>
                  </a:rPr>
                  <a:t> synthesis </a:t>
                </a:r>
                <a:r>
                  <a:rPr lang="en-US" sz="1800" b="0">
                    <a:ea typeface="+mj-lt"/>
                    <a:cs typeface="+mj-lt"/>
                  </a:rPr>
                  <a:t>of a </a:t>
                </a:r>
              </a:p>
              <a:p>
                <a:r>
                  <a:rPr lang="en-US" sz="1800" b="0">
                    <a:ea typeface="+mj-lt"/>
                    <a:cs typeface="+mj-lt"/>
                  </a:rPr>
                  <a:t>Nominal </a:t>
                </a:r>
                <a:r>
                  <a:rPr lang="en-US" sz="1800" b="0" u="sng">
                    <a:ea typeface="+mj-lt"/>
                    <a:cs typeface="+mj-lt"/>
                  </a:rPr>
                  <a:t>controller design </a:t>
                </a:r>
                <a:r>
                  <a:rPr lang="en-US" sz="1800" b="0">
                    <a:ea typeface="+mj-lt"/>
                    <a:cs typeface="+mj-lt"/>
                  </a:rPr>
                  <a:t>for</a:t>
                </a:r>
                <a:r>
                  <a:rPr lang="en-US" sz="1800" b="0" i="1">
                    <a:ea typeface="+mj-lt"/>
                    <a:cs typeface="+mj-lt"/>
                  </a:rPr>
                  <a:t> </a:t>
                </a:r>
                <a:r>
                  <a:rPr lang="en-US" sz="1800" b="0" i="1">
                    <a:solidFill>
                      <a:schemeClr val="tx2">
                        <a:lumMod val="50000"/>
                        <a:lumOff val="50000"/>
                      </a:schemeClr>
                    </a:solidFill>
                    <a:ea typeface="+mj-lt"/>
                    <a:cs typeface="+mj-lt"/>
                  </a:rPr>
                  <a:t>Lateral dynamics</a:t>
                </a:r>
                <a:endParaRPr lang="en-US" b="0" i="1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5B83BA32-5E43-4A10-5F34-86693B01D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760" y="669099"/>
                <a:ext cx="6661614" cy="840083"/>
              </a:xfrm>
              <a:prstGeom prst="rect">
                <a:avLst/>
              </a:prstGeom>
              <a:blipFill>
                <a:blip r:embed="rId2"/>
                <a:stretch>
                  <a:fillRect l="-2196" t="-9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ECE3A2C8-9B63-C4FD-1321-90893E9C1A76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</p:spPr>
            <p:txBody>
              <a:bodyPr>
                <a:normAutofit/>
              </a:bodyPr>
              <a:lstStyle/>
              <a:p>
                <a:pPr algn="ctr"/>
                <a:endParaRPr lang="en-US" b="0" i="1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b="1"/>
                  <a:t>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𝑙𝑎𝑡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2,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𝑙𝑎𝑡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𝑊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𝑙𝑎𝑡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</m:d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𝐹</m:t>
                                              </m:r>
                                            </m:e>
                                          </m:acc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𝑊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𝑄</m:t>
                                              </m:r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𝑙𝑎𝑡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</m:d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𝑄</m:t>
                                              </m:r>
                                            </m:e>
                                          </m:acc>
                                          <m:d>
                                            <m:d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/>
                  <a:t> = </a:t>
                </a:r>
                <a:r>
                  <a:rPr lang="en-US" b="1">
                    <a:solidFill>
                      <a:srgbClr val="0070C0"/>
                    </a:solidFill>
                  </a:rPr>
                  <a:t>0.9902  &lt; 1</a:t>
                </a:r>
              </a:p>
              <a:p>
                <a:pPr algn="just"/>
                <a:r>
                  <a:rPr lang="en-US" b="1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ECE3A2C8-9B63-C4FD-1321-90893E9C1A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  <a:blipFill>
                <a:blip r:embed="rId3"/>
                <a:stretch>
                  <a:fillRect l="-1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522157ED-8DF0-4F2A-E261-FEB4D70C47CA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298886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680B4-0DBC-F5FE-CF1C-A417ECCE6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197F4D-AEA5-08B8-DEEE-674355F9D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Analysis of the results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EF03101-B5D1-D3D1-0328-6DB65C444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31A6BB1-4F47-6577-0024-D4ADB6FBD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EAC7EA99-8773-BC7F-0CF5-4C7F2AEE08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383298" cy="4429125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noProof="0"/>
              <a:t>Peak gain 1-value limit satisfaction and nominal CL stability</a:t>
            </a:r>
          </a:p>
          <a:p>
            <a:pPr marL="342900" indent="-342900">
              <a:buAutoNum type="arabicPeriod"/>
            </a:pPr>
            <a:r>
              <a:rPr lang="en-US" b="1" noProof="0">
                <a:solidFill>
                  <a:srgbClr val="0070C0"/>
                </a:solidFill>
              </a:rPr>
              <a:t>Tuned controller</a:t>
            </a:r>
          </a:p>
          <a:p>
            <a:pPr marL="342900" indent="-342900">
              <a:buAutoNum type="arabicPeriod"/>
            </a:pPr>
            <a:r>
              <a:rPr lang="en-US" noProof="0"/>
              <a:t>Nominal performance satisfaction</a:t>
            </a:r>
          </a:p>
          <a:p>
            <a:pPr marL="342900" indent="-342900">
              <a:buAutoNum type="arabicPeriod"/>
            </a:pPr>
            <a:r>
              <a:rPr lang="en-US" noProof="0"/>
              <a:t>Nominal control effort limitation satisfaction</a:t>
            </a:r>
          </a:p>
          <a:p>
            <a:pPr marL="342900" indent="-342900">
              <a:buAutoNum type="arabicPeriod"/>
            </a:pPr>
            <a:r>
              <a:rPr lang="en-US" noProof="0"/>
              <a:t>Reiterate?</a:t>
            </a:r>
          </a:p>
          <a:p>
            <a:endParaRPr lang="en-US" noProof="0"/>
          </a:p>
          <a:p>
            <a:pPr marL="342900" indent="-342900">
              <a:buAutoNum type="arabicPeriod"/>
            </a:pPr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8502D52D-2892-6B1A-7CBC-BCA3C4E9BB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23760" y="669099"/>
                <a:ext cx="6661614" cy="84008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800">
                    <a:ea typeface="+mj-lt"/>
                    <a:cs typeface="+mj-lt"/>
                  </a:rPr>
                  <a:t>Analysis of results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𝑯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800">
                    <a:ea typeface="+mj-lt"/>
                    <a:cs typeface="+mj-lt"/>
                  </a:rPr>
                  <a:t> synthesis </a:t>
                </a:r>
                <a:r>
                  <a:rPr lang="en-US" sz="1800" b="0">
                    <a:ea typeface="+mj-lt"/>
                    <a:cs typeface="+mj-lt"/>
                  </a:rPr>
                  <a:t>of a </a:t>
                </a:r>
              </a:p>
              <a:p>
                <a:r>
                  <a:rPr lang="en-US" sz="1800" b="0">
                    <a:ea typeface="+mj-lt"/>
                    <a:cs typeface="+mj-lt"/>
                  </a:rPr>
                  <a:t>Nominal </a:t>
                </a:r>
                <a:r>
                  <a:rPr lang="en-US" sz="1800" b="0" u="sng">
                    <a:ea typeface="+mj-lt"/>
                    <a:cs typeface="+mj-lt"/>
                  </a:rPr>
                  <a:t>controller design </a:t>
                </a:r>
                <a:r>
                  <a:rPr lang="en-US" sz="1800" b="0">
                    <a:ea typeface="+mj-lt"/>
                    <a:cs typeface="+mj-lt"/>
                  </a:rPr>
                  <a:t>for</a:t>
                </a:r>
                <a:r>
                  <a:rPr lang="en-US" sz="1800" b="0" i="1">
                    <a:ea typeface="+mj-lt"/>
                    <a:cs typeface="+mj-lt"/>
                  </a:rPr>
                  <a:t> </a:t>
                </a:r>
                <a:r>
                  <a:rPr lang="en-US" sz="1800" b="0" i="1">
                    <a:solidFill>
                      <a:schemeClr val="tx2">
                        <a:lumMod val="50000"/>
                        <a:lumOff val="50000"/>
                      </a:schemeClr>
                    </a:solidFill>
                    <a:ea typeface="+mj-lt"/>
                    <a:cs typeface="+mj-lt"/>
                  </a:rPr>
                  <a:t>Lateral dynamics</a:t>
                </a:r>
                <a:endParaRPr lang="en-US" b="0" i="1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8502D52D-2892-6B1A-7CBC-BCA3C4E9B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760" y="669099"/>
                <a:ext cx="6661614" cy="840083"/>
              </a:xfrm>
              <a:prstGeom prst="rect">
                <a:avLst/>
              </a:prstGeom>
              <a:blipFill>
                <a:blip r:embed="rId2"/>
                <a:stretch>
                  <a:fillRect l="-2196" t="-9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8CA59CF7-C7B6-FA31-DBE6-062C578384FF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</p:spPr>
            <p:txBody>
              <a:bodyPr>
                <a:normAutofit/>
              </a:bodyPr>
              <a:lstStyle/>
              <a:p>
                <a:pPr algn="ctr"/>
                <a:endParaRPr lang="en-US" b="0" i="1">
                  <a:latin typeface="Cambria Math" panose="02040503050406030204" pitchFamily="18" charset="0"/>
                </a:endParaRPr>
              </a:p>
              <a:p>
                <a:pPr marL="342900" indent="-342900" algn="just">
                  <a:buAutoNum type="arabicParenR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  <m:brk m:alnAt="7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lat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s</m:t>
                                          </m:r>
                                          <m: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lat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s</m:t>
                                          </m:r>
                                          <m: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i="0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  <m:brk m:alnAt="7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W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  <m:brk m:alnAt="7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p</m:t>
                                              </m:r>
                                              <m: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lat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</m:d>
                                          <m: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F</m:t>
                                              </m:r>
                                            </m:e>
                                          </m:acc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  <m:brk m:alnAt="7"/>
                                                </m:rPr>
                                                <a:rPr lang="en-US" i="0" smtClean="0">
                                                  <a:latin typeface="Cambria Math" panose="02040503050406030204" pitchFamily="18" charset="0"/>
                                                </a:rPr>
                                                <m:t>W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Q</m:t>
                                              </m:r>
                                              <m:r>
                                                <a:rPr lang="en-US" i="0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i="0" smtClean="0">
                                                  <a:latin typeface="Cambria Math" panose="02040503050406030204" pitchFamily="18" charset="0"/>
                                                </a:rPr>
                                                <m:t>lat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i="0" smtClean="0">
                                                  <a:latin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</m:d>
                                          <m:r>
                                            <a:rPr lang="en-US" i="0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Q</m:t>
                                              </m:r>
                                            </m:e>
                                          </m:acc>
                                          <m:d>
                                            <m:d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i="0" smtClean="0">
                                                  <a:latin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</m:oMath>
                </a14:m>
                <a:r>
                  <a:rPr lang="en-US"/>
                  <a:t> = </a:t>
                </a:r>
                <a:r>
                  <a:rPr lang="en-US" b="1">
                    <a:solidFill>
                      <a:srgbClr val="0070C0"/>
                    </a:solidFill>
                  </a:rPr>
                  <a:t>0.9902  &lt; 1.           </a:t>
                </a:r>
              </a:p>
              <a:p>
                <a:pPr marL="342900" indent="-342900" algn="just">
                  <a:buAutoNum type="arabicParenR"/>
                </a:pPr>
                <a:endParaRPr lang="en-US"/>
              </a:p>
              <a:p>
                <a:pPr marL="342900" indent="-342900" algn="just">
                  <a:buAutoNum type="arabicParenR"/>
                </a:pPr>
                <a:r>
                  <a:rPr lang="en-US"/>
                  <a:t>The tuned controllers have:</a:t>
                </a:r>
              </a:p>
              <a:p>
                <a:pPr algn="just"/>
                <a:endParaRPr lang="en-US"/>
              </a:p>
              <a:p>
                <a:pPr marL="342900" indent="-342900" algn="just">
                  <a:buAutoNum type="arabicParenR"/>
                </a:pPr>
                <a:endParaRPr lang="en-US"/>
              </a:p>
              <a:p>
                <a:pPr algn="just"/>
                <a:r>
                  <a:rPr lang="en-US" b="1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8CA59CF7-C7B6-FA31-DBE6-062C57838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  <a:blipFill>
                <a:blip r:embed="rId3"/>
                <a:stretch>
                  <a:fillRect l="-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 descr="Immagine che contiene testo, ricevuta, Carattere, bianco&#10;&#10;Il contenuto generato dall'IA potrebbe non essere corretto.">
            <a:extLst>
              <a:ext uri="{FF2B5EF4-FFF2-40B4-BE49-F238E27FC236}">
                <a16:creationId xmlns:a16="http://schemas.microsoft.com/office/drawing/2014/main" id="{F7E9C1E7-20D5-09D9-591F-4B4C36CE80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720" y="3303282"/>
            <a:ext cx="6256977" cy="1504842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963B25A-BBD6-C44B-1132-E80E135F2796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pic>
        <p:nvPicPr>
          <p:cNvPr id="13" name="Immagine 12" descr="Immagine che contiene testo, Carattere, bianco, design&#10;&#10;Il contenuto generato dall'IA potrebbe non essere corretto.">
            <a:extLst>
              <a:ext uri="{FF2B5EF4-FFF2-40B4-BE49-F238E27FC236}">
                <a16:creationId xmlns:a16="http://schemas.microsoft.com/office/drawing/2014/main" id="{E1DF1AD2-ACE5-E3B5-FA33-66188E230A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720" y="5071015"/>
            <a:ext cx="1183769" cy="712268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6EA71FCC-5A1C-19E3-DCD6-CFBA2F0E5B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2864" y="1585333"/>
            <a:ext cx="1843074" cy="145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9472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2A8B3-275C-0591-D4E0-E5A52C981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74E02-86D3-D04A-752E-C34716B6B1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16275" y="644730"/>
            <a:ext cx="8640762" cy="20978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noProof="0">
                <a:solidFill>
                  <a:srgbClr val="102C53"/>
                </a:solidFill>
              </a:rPr>
              <a:t> Options – All of these are of course related</a:t>
            </a:r>
            <a:br>
              <a:rPr lang="en-US" sz="1800" noProof="0">
                <a:solidFill>
                  <a:srgbClr val="102C53"/>
                </a:solidFill>
              </a:rPr>
            </a:br>
            <a:r>
              <a:rPr lang="en-US" sz="1800" noProof="0">
                <a:solidFill>
                  <a:srgbClr val="102C53"/>
                </a:solidFill>
              </a:rPr>
              <a:t> a) fit a second order transfer function on the obtained F and compute its </a:t>
            </a:r>
            <a:r>
              <a:rPr lang="en-US" sz="1800" b="1" noProof="0" err="1">
                <a:solidFill>
                  <a:srgbClr val="102C53"/>
                </a:solidFill>
              </a:rPr>
              <a:t>ξ</a:t>
            </a:r>
            <a:r>
              <a:rPr lang="en-US" sz="1800" b="1" noProof="0">
                <a:solidFill>
                  <a:srgbClr val="102C53"/>
                </a:solidFill>
              </a:rPr>
              <a:t>     </a:t>
            </a:r>
            <a:r>
              <a:rPr lang="en-US" sz="1800" b="1">
                <a:solidFill>
                  <a:srgbClr val="FF0000"/>
                </a:solidFill>
              </a:rPr>
              <a:t>X</a:t>
            </a:r>
            <a:endParaRPr lang="en-US" sz="1800" b="1" noProof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800" noProof="0">
                <a:solidFill>
                  <a:srgbClr val="102C53"/>
                </a:solidFill>
              </a:rPr>
              <a:t> b) compute the S peak and map its corresponding value into a corresponding </a:t>
            </a:r>
            <a:r>
              <a:rPr lang="en-US" sz="1800" b="1" noProof="0" err="1">
                <a:solidFill>
                  <a:srgbClr val="102C53"/>
                </a:solidFill>
              </a:rPr>
              <a:t>ξ</a:t>
            </a:r>
            <a:r>
              <a:rPr lang="en-US" sz="1800" b="1" noProof="0">
                <a:solidFill>
                  <a:srgbClr val="102C53"/>
                </a:solidFill>
              </a:rPr>
              <a:t>     </a:t>
            </a:r>
            <a:r>
              <a:rPr lang="en-US" sz="1800" b="1">
                <a:solidFill>
                  <a:srgbClr val="FF0000"/>
                </a:solidFill>
              </a:rPr>
              <a:t>X</a:t>
            </a:r>
            <a:endParaRPr lang="en-US" sz="1800" b="1" noProof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800" b="1">
                <a:solidFill>
                  <a:srgbClr val="0070C0"/>
                </a:solidFill>
              </a:rPr>
              <a:t> </a:t>
            </a:r>
            <a:r>
              <a:rPr lang="en-US" sz="1800">
                <a:solidFill>
                  <a:srgbClr val="102C53"/>
                </a:solidFill>
              </a:rPr>
              <a:t>c) directly use the S peak as a measure of </a:t>
            </a:r>
            <a:r>
              <a:rPr lang="en-US" sz="1800" b="1">
                <a:solidFill>
                  <a:srgbClr val="102C53"/>
                </a:solidFill>
              </a:rPr>
              <a:t>ξ   </a:t>
            </a:r>
            <a:r>
              <a:rPr lang="en-US" sz="1800" b="1">
                <a:solidFill>
                  <a:srgbClr val="00B050"/>
                </a:solidFill>
              </a:rPr>
              <a:t>OK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4D98F45-C18A-039C-1747-781E029D8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 of the results</a:t>
            </a:r>
            <a:br>
              <a:rPr lang="en-US" noProof="0"/>
            </a:b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9D8EA-F882-4E11-495E-6C948B494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1FB1EF-D7FA-4AB3-A499-83F9AF562A32}" type="datetime1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6/27/2026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51B0C-ED67-4A44-04F2-474F750BB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5" y="21355"/>
            <a:ext cx="6645481" cy="365125"/>
          </a:xfrm>
        </p:spPr>
        <p:txBody>
          <a:bodyPr/>
          <a:lstStyle/>
          <a:p>
            <a:pPr lvl="0"/>
            <a:r>
              <a:rPr lang="en-US" noProof="0"/>
              <a:t>Aerospace Control Systems - Exam project AA 25/26 - </a:t>
            </a:r>
            <a:r>
              <a:rPr lang="en-US" b="1" noProof="0"/>
              <a:t>Robust multivariable control of the lateral/longitudinal dynamics of a multirotor UAV</a:t>
            </a:r>
            <a:endParaRPr kumimoji="0" lang="en-US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F97E0-2C50-4105-F24E-1B09F6646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35EEA2-8D42-4D46-95A6-66E65FDC5EB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45003A-D2E9-DE45-003E-A39C94DEBE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1800" b="1" noProof="0">
                <a:solidFill>
                  <a:srgbClr val="102C53"/>
                </a:solidFill>
              </a:rPr>
              <a:t>Given an obtained F(</a:t>
            </a:r>
            <a:r>
              <a:rPr lang="en-US" sz="1800" b="1" noProof="0" err="1">
                <a:solidFill>
                  <a:srgbClr val="102C53"/>
                </a:solidFill>
              </a:rPr>
              <a:t>jw</a:t>
            </a:r>
            <a:r>
              <a:rPr lang="en-US" sz="1800" b="1" noProof="0">
                <a:solidFill>
                  <a:srgbClr val="102C53"/>
                </a:solidFill>
              </a:rPr>
              <a:t>) and S(</a:t>
            </a:r>
            <a:r>
              <a:rPr lang="en-US" sz="1800" b="1" noProof="0" err="1">
                <a:solidFill>
                  <a:srgbClr val="102C53"/>
                </a:solidFill>
              </a:rPr>
              <a:t>jw</a:t>
            </a:r>
            <a:r>
              <a:rPr lang="en-US" sz="1800" b="1" noProof="0">
                <a:solidFill>
                  <a:srgbClr val="102C53"/>
                </a:solidFill>
              </a:rPr>
              <a:t>) how do we obtain the corresponding </a:t>
            </a:r>
            <a:r>
              <a:rPr lang="en-US" sz="1800" b="1" noProof="0" err="1">
                <a:solidFill>
                  <a:srgbClr val="102C53"/>
                </a:solidFill>
              </a:rPr>
              <a:t>ξ</a:t>
            </a:r>
            <a:r>
              <a:rPr lang="en-US" sz="1800" b="1" noProof="0">
                <a:solidFill>
                  <a:srgbClr val="102C53"/>
                </a:solidFill>
              </a:rPr>
              <a:t> 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FD25D5-C65F-9FD0-9CBD-9558942253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endParaRPr lang="en-US" noProof="0"/>
          </a:p>
          <a:p>
            <a:endParaRPr lang="en-US" noProof="0"/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514DDC98-15E8-1767-30B5-5C0B7C7D0F43}"/>
              </a:ext>
            </a:extLst>
          </p:cNvPr>
          <p:cNvSpPr txBox="1"/>
          <p:nvPr/>
        </p:nvSpPr>
        <p:spPr>
          <a:xfrm>
            <a:off x="3180050" y="2539146"/>
            <a:ext cx="8888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102C53"/>
                </a:solidFill>
              </a:rPr>
              <a:t>Options a and b are </a:t>
            </a:r>
            <a:r>
              <a:rPr lang="en-US" b="1">
                <a:solidFill>
                  <a:srgbClr val="102C53"/>
                </a:solidFill>
              </a:rPr>
              <a:t>poor representations</a:t>
            </a:r>
            <a:r>
              <a:rPr lang="en-US">
                <a:solidFill>
                  <a:srgbClr val="102C53"/>
                </a:solidFill>
              </a:rPr>
              <a:t>!</a:t>
            </a:r>
          </a:p>
          <a:p>
            <a:r>
              <a:rPr lang="en-US">
                <a:solidFill>
                  <a:srgbClr val="102C53"/>
                </a:solidFill>
              </a:rPr>
              <a:t>c allows us to understand what's happening. The damping is mapped into the S peak.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57CADA81-4ED4-55DD-5DA0-17FF5B2B5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594" y="3301089"/>
            <a:ext cx="7086339" cy="351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77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14933-EADA-2FCE-29BB-FDECF7A79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05CBB2-E3E6-450E-50CA-FADB3A57B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Analysis of the results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2BBE66B-83DA-4DC0-6A84-EB0B1A777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C5BEEA6-131B-4D67-9B4B-A6658A4A3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1E296288-1A13-ACB6-A085-4B9B4CCFC9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383298" cy="4429125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noProof="0"/>
              <a:t>Peak gain 1-value limit satisfaction</a:t>
            </a:r>
          </a:p>
          <a:p>
            <a:pPr marL="342900" indent="-342900">
              <a:buAutoNum type="arabicPeriod"/>
            </a:pPr>
            <a:r>
              <a:rPr lang="en-US" noProof="0"/>
              <a:t>Tuned controller</a:t>
            </a:r>
          </a:p>
          <a:p>
            <a:pPr marL="342900" indent="-342900">
              <a:buAutoNum type="arabicPeriod"/>
            </a:pPr>
            <a:r>
              <a:rPr lang="en-US" b="1" noProof="0">
                <a:solidFill>
                  <a:srgbClr val="0070C0"/>
                </a:solidFill>
              </a:rPr>
              <a:t>Nominal performance satisfaction</a:t>
            </a:r>
          </a:p>
          <a:p>
            <a:pPr marL="342900" indent="-342900">
              <a:buAutoNum type="arabicPeriod"/>
            </a:pPr>
            <a:r>
              <a:rPr lang="en-US" noProof="0"/>
              <a:t>Nominal control effort limitation satisfaction</a:t>
            </a:r>
          </a:p>
          <a:p>
            <a:pPr marL="342900" indent="-342900">
              <a:buAutoNum type="arabicPeriod"/>
            </a:pPr>
            <a:r>
              <a:rPr lang="en-US" noProof="0"/>
              <a:t>Reiterate?</a:t>
            </a:r>
          </a:p>
          <a:p>
            <a:endParaRPr lang="en-US" noProof="0"/>
          </a:p>
          <a:p>
            <a:pPr marL="342900" indent="-342900">
              <a:buAutoNum type="arabicPeriod"/>
            </a:pPr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FB42FBE3-685D-17D3-F36E-2D973F7255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23760" y="669099"/>
                <a:ext cx="6661614" cy="84008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800">
                    <a:ea typeface="+mj-lt"/>
                    <a:cs typeface="+mj-lt"/>
                  </a:rPr>
                  <a:t>Analysis of results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𝑯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800">
                    <a:ea typeface="+mj-lt"/>
                    <a:cs typeface="+mj-lt"/>
                  </a:rPr>
                  <a:t> synthesis </a:t>
                </a:r>
                <a:r>
                  <a:rPr lang="en-US" sz="1800" b="0">
                    <a:ea typeface="+mj-lt"/>
                    <a:cs typeface="+mj-lt"/>
                  </a:rPr>
                  <a:t>of a </a:t>
                </a:r>
              </a:p>
              <a:p>
                <a:r>
                  <a:rPr lang="en-US" sz="1800" b="0">
                    <a:ea typeface="+mj-lt"/>
                    <a:cs typeface="+mj-lt"/>
                  </a:rPr>
                  <a:t>Nominal </a:t>
                </a:r>
                <a:r>
                  <a:rPr lang="en-US" sz="1800" b="0" u="sng">
                    <a:ea typeface="+mj-lt"/>
                    <a:cs typeface="+mj-lt"/>
                  </a:rPr>
                  <a:t>controller design </a:t>
                </a:r>
                <a:r>
                  <a:rPr lang="en-US" sz="1800" b="0">
                    <a:ea typeface="+mj-lt"/>
                    <a:cs typeface="+mj-lt"/>
                  </a:rPr>
                  <a:t>for</a:t>
                </a:r>
                <a:r>
                  <a:rPr lang="en-US" sz="1800" b="0" i="1">
                    <a:ea typeface="+mj-lt"/>
                    <a:cs typeface="+mj-lt"/>
                  </a:rPr>
                  <a:t> </a:t>
                </a:r>
                <a:r>
                  <a:rPr lang="en-US" sz="1800" b="0" i="1">
                    <a:solidFill>
                      <a:schemeClr val="tx2">
                        <a:lumMod val="50000"/>
                        <a:lumOff val="50000"/>
                      </a:schemeClr>
                    </a:solidFill>
                    <a:ea typeface="+mj-lt"/>
                    <a:cs typeface="+mj-lt"/>
                  </a:rPr>
                  <a:t>Lateral dynamics</a:t>
                </a:r>
                <a:endParaRPr lang="en-US" b="0" i="1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FB42FBE3-685D-17D3-F36E-2D973F725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760" y="669099"/>
                <a:ext cx="6661614" cy="840083"/>
              </a:xfrm>
              <a:prstGeom prst="rect">
                <a:avLst/>
              </a:prstGeom>
              <a:blipFill>
                <a:blip r:embed="rId2"/>
                <a:stretch>
                  <a:fillRect l="-2196" t="-9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B36AC581-CF3E-8639-E9C5-2DAD81C61016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2243E910-435B-C488-FC30-9422EB457D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95514" y="1764663"/>
            <a:ext cx="8640763" cy="4429125"/>
          </a:xfrm>
        </p:spPr>
        <p:txBody>
          <a:bodyPr/>
          <a:lstStyle/>
          <a:p>
            <a:r>
              <a:rPr lang="en-US"/>
              <a:t>3) Nominal performance: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Imposed S Peak via relaxed </a:t>
            </a:r>
          </a:p>
          <a:p>
            <a:r>
              <a:rPr lang="en-US"/>
              <a:t>requirement  (</a:t>
            </a:r>
            <a:r>
              <a:rPr lang="en-US" err="1"/>
              <a:t>M_lat</a:t>
            </a:r>
            <a:r>
              <a:rPr lang="en-US"/>
              <a:t>): 1.6573</a:t>
            </a:r>
          </a:p>
          <a:p>
            <a:endParaRPr lang="en-US"/>
          </a:p>
          <a:p>
            <a:r>
              <a:rPr lang="en-US"/>
              <a:t>Original function S Peak: 1.1838</a:t>
            </a:r>
          </a:p>
          <a:p>
            <a:r>
              <a:rPr lang="en-US"/>
              <a:t>Actual obtained S Peak: 1.2473</a:t>
            </a:r>
          </a:p>
          <a:p>
            <a:endParaRPr lang="en-US">
              <a:solidFill>
                <a:srgbClr val="00B050"/>
              </a:solidFill>
            </a:endParaRPr>
          </a:p>
          <a:p>
            <a:endParaRPr lang="en-US"/>
          </a:p>
          <a:p>
            <a:endParaRPr lang="en-US"/>
          </a:p>
        </p:txBody>
      </p:sp>
      <p:pic>
        <p:nvPicPr>
          <p:cNvPr id="14" name="Immagine 13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94F550DF-9962-1592-20E0-63D22B39C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743" y="1591071"/>
            <a:ext cx="6002968" cy="4792613"/>
          </a:xfrm>
          <a:prstGeom prst="rect">
            <a:avLst/>
          </a:prstGeom>
        </p:spPr>
      </p:pic>
      <p:pic>
        <p:nvPicPr>
          <p:cNvPr id="27" name="Immagine 26" descr="Immagine che contiene testo, ricevut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E5FE7683-741C-62AA-62B3-16C9ECE7C3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289" y="4905632"/>
            <a:ext cx="5598900" cy="1667949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  <p:sp>
        <p:nvSpPr>
          <p:cNvPr id="28" name="Rettangolo 27">
            <a:extLst>
              <a:ext uri="{FF2B5EF4-FFF2-40B4-BE49-F238E27FC236}">
                <a16:creationId xmlns:a16="http://schemas.microsoft.com/office/drawing/2014/main" id="{D267C1DC-72BC-FA9A-DB12-E1874207A7A1}"/>
              </a:ext>
            </a:extLst>
          </p:cNvPr>
          <p:cNvSpPr/>
          <p:nvPr/>
        </p:nvSpPr>
        <p:spPr>
          <a:xfrm>
            <a:off x="400288" y="6188902"/>
            <a:ext cx="3417949" cy="384680"/>
          </a:xfrm>
          <a:prstGeom prst="rect">
            <a:avLst/>
          </a:prstGeom>
          <a:solidFill>
            <a:srgbClr val="FF0000">
              <a:alpha val="18954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BBB3F1D9-2994-2899-CD61-F19B50E3F5EF}"/>
              </a:ext>
            </a:extLst>
          </p:cNvPr>
          <p:cNvSpPr/>
          <p:nvPr/>
        </p:nvSpPr>
        <p:spPr>
          <a:xfrm>
            <a:off x="3040080" y="3257505"/>
            <a:ext cx="2632587" cy="586362"/>
          </a:xfrm>
          <a:prstGeom prst="rect">
            <a:avLst/>
          </a:prstGeom>
          <a:solidFill>
            <a:srgbClr val="FF0000">
              <a:alpha val="18954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2B42E468-656D-D392-545C-F1334A0C3F41}"/>
              </a:ext>
            </a:extLst>
          </p:cNvPr>
          <p:cNvSpPr/>
          <p:nvPr/>
        </p:nvSpPr>
        <p:spPr>
          <a:xfrm>
            <a:off x="3040080" y="2502274"/>
            <a:ext cx="2632587" cy="586362"/>
          </a:xfrm>
          <a:prstGeom prst="rect">
            <a:avLst/>
          </a:prstGeom>
          <a:solidFill>
            <a:srgbClr val="00B050">
              <a:alpha val="18954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365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23F04-CD9F-9D99-C2D0-B992F257E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007907-433B-FEB6-2FD4-457778A00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Analysis of the results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D3BD512-7266-E658-A67E-5CBBB0D98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7578287-161B-81B4-77E9-3F274339E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664E1A99-6B2D-D2CC-4AEF-3F47455703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383298" cy="4429125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noProof="0"/>
              <a:t>Peak gain 1-value limit satisfaction</a:t>
            </a:r>
          </a:p>
          <a:p>
            <a:pPr marL="342900" indent="-342900">
              <a:buAutoNum type="arabicPeriod"/>
            </a:pPr>
            <a:r>
              <a:rPr lang="en-US" noProof="0"/>
              <a:t>Tuned controller</a:t>
            </a:r>
          </a:p>
          <a:p>
            <a:pPr marL="342900" indent="-342900">
              <a:buAutoNum type="arabicPeriod"/>
            </a:pPr>
            <a:r>
              <a:rPr lang="en-US" b="1" noProof="0">
                <a:solidFill>
                  <a:srgbClr val="0070C0"/>
                </a:solidFill>
              </a:rPr>
              <a:t>Nominal performance satisfaction</a:t>
            </a:r>
          </a:p>
          <a:p>
            <a:pPr marL="342900" indent="-342900">
              <a:buAutoNum type="arabicPeriod"/>
            </a:pPr>
            <a:r>
              <a:rPr lang="en-US" noProof="0"/>
              <a:t>Nominal control effort limitation satisfaction</a:t>
            </a:r>
          </a:p>
          <a:p>
            <a:pPr marL="342900" indent="-342900">
              <a:buAutoNum type="arabicPeriod"/>
            </a:pPr>
            <a:r>
              <a:rPr lang="en-US" noProof="0"/>
              <a:t>Reiterate?</a:t>
            </a:r>
          </a:p>
          <a:p>
            <a:endParaRPr lang="en-US" noProof="0"/>
          </a:p>
          <a:p>
            <a:pPr marL="342900" indent="-342900">
              <a:buAutoNum type="arabicPeriod"/>
            </a:pPr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11A50198-3098-67DF-CFEA-6AF0236733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23760" y="669099"/>
                <a:ext cx="6661614" cy="84008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800">
                    <a:ea typeface="+mj-lt"/>
                    <a:cs typeface="+mj-lt"/>
                  </a:rPr>
                  <a:t>Analysis of results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𝑯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800">
                    <a:ea typeface="+mj-lt"/>
                    <a:cs typeface="+mj-lt"/>
                  </a:rPr>
                  <a:t> synthesis </a:t>
                </a:r>
                <a:r>
                  <a:rPr lang="en-US" sz="1800" b="0">
                    <a:ea typeface="+mj-lt"/>
                    <a:cs typeface="+mj-lt"/>
                  </a:rPr>
                  <a:t>of a </a:t>
                </a:r>
              </a:p>
              <a:p>
                <a:r>
                  <a:rPr lang="en-US" sz="1800" b="0">
                    <a:ea typeface="+mj-lt"/>
                    <a:cs typeface="+mj-lt"/>
                  </a:rPr>
                  <a:t>Nominal </a:t>
                </a:r>
                <a:r>
                  <a:rPr lang="en-US" sz="1800" b="0" u="sng">
                    <a:ea typeface="+mj-lt"/>
                    <a:cs typeface="+mj-lt"/>
                  </a:rPr>
                  <a:t>controller design </a:t>
                </a:r>
                <a:r>
                  <a:rPr lang="en-US" sz="1800" b="0">
                    <a:ea typeface="+mj-lt"/>
                    <a:cs typeface="+mj-lt"/>
                  </a:rPr>
                  <a:t>for</a:t>
                </a:r>
                <a:r>
                  <a:rPr lang="en-US" sz="1800" b="0" i="1">
                    <a:ea typeface="+mj-lt"/>
                    <a:cs typeface="+mj-lt"/>
                  </a:rPr>
                  <a:t> </a:t>
                </a:r>
                <a:r>
                  <a:rPr lang="en-US" sz="1800" b="0" i="1">
                    <a:solidFill>
                      <a:schemeClr val="tx2">
                        <a:lumMod val="50000"/>
                        <a:lumOff val="50000"/>
                      </a:schemeClr>
                    </a:solidFill>
                    <a:ea typeface="+mj-lt"/>
                    <a:cs typeface="+mj-lt"/>
                  </a:rPr>
                  <a:t>Lateral dynamics</a:t>
                </a:r>
                <a:endParaRPr lang="en-US" b="0" i="1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11A50198-3098-67DF-CFEA-6AF023673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760" y="669099"/>
                <a:ext cx="6661614" cy="840083"/>
              </a:xfrm>
              <a:prstGeom prst="rect">
                <a:avLst/>
              </a:prstGeom>
              <a:blipFill>
                <a:blip r:embed="rId2"/>
                <a:stretch>
                  <a:fillRect l="-2196" t="-9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12DE5B04-D7A6-39DF-3E35-B324DFC19AF7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62963718-9AA5-F739-2E05-8D76245895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95514" y="1764663"/>
            <a:ext cx="8640763" cy="4429125"/>
          </a:xfrm>
        </p:spPr>
        <p:txBody>
          <a:bodyPr/>
          <a:lstStyle/>
          <a:p>
            <a:r>
              <a:rPr lang="en-US"/>
              <a:t>3) Dynamic performance </a:t>
            </a:r>
          </a:p>
          <a:p>
            <a:r>
              <a:rPr lang="en-US"/>
              <a:t>expressed in terms </a:t>
            </a:r>
          </a:p>
          <a:p>
            <a:r>
              <a:rPr lang="en-US"/>
              <a:t>of step response:</a:t>
            </a:r>
          </a:p>
        </p:txBody>
      </p:sp>
      <p:pic>
        <p:nvPicPr>
          <p:cNvPr id="18" name="Immagine 17" descr="Immagine che contiene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C12720C1-F70C-44E7-4A3E-C51929C16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966" y="2060575"/>
            <a:ext cx="5620974" cy="4487639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CCC02EEF-6FC6-5D83-4DA9-803E1B0D68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559" y="4468149"/>
            <a:ext cx="4348248" cy="1720752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  <p:sp>
        <p:nvSpPr>
          <p:cNvPr id="10" name="Rettangolo 9">
            <a:extLst>
              <a:ext uri="{FF2B5EF4-FFF2-40B4-BE49-F238E27FC236}">
                <a16:creationId xmlns:a16="http://schemas.microsoft.com/office/drawing/2014/main" id="{1C021BA0-355A-0D85-1185-36B9D44D0FBE}"/>
              </a:ext>
            </a:extLst>
          </p:cNvPr>
          <p:cNvSpPr/>
          <p:nvPr/>
        </p:nvSpPr>
        <p:spPr>
          <a:xfrm>
            <a:off x="3283846" y="5210979"/>
            <a:ext cx="2248868" cy="760164"/>
          </a:xfrm>
          <a:prstGeom prst="rect">
            <a:avLst/>
          </a:prstGeom>
          <a:solidFill>
            <a:srgbClr val="92D050">
              <a:alpha val="18954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6477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29F9D-DA55-D195-63D3-AD3F33C73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3442D8-6B9D-F15F-94D2-B9E85418A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Analysis of the results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C008AD5-AC51-8F0E-083C-3529DA853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1D059B8-04B5-436D-51D6-6A40159CA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72CB2EA8-6CC5-B013-947B-9E49CA2AE0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383298" cy="4429125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noProof="0"/>
              <a:t>Peak gain 1-value limit satisfaction</a:t>
            </a:r>
          </a:p>
          <a:p>
            <a:pPr marL="342900" indent="-342900">
              <a:buAutoNum type="arabicPeriod"/>
            </a:pPr>
            <a:r>
              <a:rPr lang="en-US" noProof="0"/>
              <a:t>Tuned controller</a:t>
            </a:r>
          </a:p>
          <a:p>
            <a:pPr marL="342900" indent="-342900">
              <a:buAutoNum type="arabicPeriod"/>
            </a:pPr>
            <a:r>
              <a:rPr lang="en-US" noProof="0"/>
              <a:t>Nominal performance satisfaction</a:t>
            </a:r>
          </a:p>
          <a:p>
            <a:pPr marL="342900" indent="-342900">
              <a:buAutoNum type="arabicPeriod"/>
            </a:pPr>
            <a:r>
              <a:rPr lang="en-US" b="1" noProof="0">
                <a:solidFill>
                  <a:srgbClr val="0070C0"/>
                </a:solidFill>
              </a:rPr>
              <a:t>Nominal control effort limitation satisfaction</a:t>
            </a:r>
          </a:p>
          <a:p>
            <a:pPr marL="342900" indent="-342900">
              <a:buAutoNum type="arabicPeriod"/>
            </a:pPr>
            <a:r>
              <a:rPr lang="en-US" noProof="0"/>
              <a:t>Reiterate?</a:t>
            </a:r>
          </a:p>
          <a:p>
            <a:endParaRPr lang="en-US" noProof="0"/>
          </a:p>
          <a:p>
            <a:pPr marL="342900" indent="-342900">
              <a:buAutoNum type="arabicPeriod"/>
            </a:pPr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B6C75AD8-265D-5C87-B6C0-C5B5958ED8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23760" y="669099"/>
                <a:ext cx="6661614" cy="84008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800">
                    <a:ea typeface="+mj-lt"/>
                    <a:cs typeface="+mj-lt"/>
                  </a:rPr>
                  <a:t>Analysis of results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𝑯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800">
                    <a:ea typeface="+mj-lt"/>
                    <a:cs typeface="+mj-lt"/>
                  </a:rPr>
                  <a:t> synthesis </a:t>
                </a:r>
                <a:r>
                  <a:rPr lang="en-US" sz="1800" b="0">
                    <a:ea typeface="+mj-lt"/>
                    <a:cs typeface="+mj-lt"/>
                  </a:rPr>
                  <a:t>of a </a:t>
                </a:r>
              </a:p>
              <a:p>
                <a:r>
                  <a:rPr lang="en-US" sz="1800" b="0">
                    <a:ea typeface="+mj-lt"/>
                    <a:cs typeface="+mj-lt"/>
                  </a:rPr>
                  <a:t>Nominal </a:t>
                </a:r>
                <a:r>
                  <a:rPr lang="en-US" sz="1800" b="0" u="sng">
                    <a:ea typeface="+mj-lt"/>
                    <a:cs typeface="+mj-lt"/>
                  </a:rPr>
                  <a:t>controller design </a:t>
                </a:r>
                <a:r>
                  <a:rPr lang="en-US" sz="1800" b="0">
                    <a:ea typeface="+mj-lt"/>
                    <a:cs typeface="+mj-lt"/>
                  </a:rPr>
                  <a:t>for</a:t>
                </a:r>
                <a:r>
                  <a:rPr lang="en-US" sz="1800" b="0" i="1">
                    <a:ea typeface="+mj-lt"/>
                    <a:cs typeface="+mj-lt"/>
                  </a:rPr>
                  <a:t> </a:t>
                </a:r>
                <a:r>
                  <a:rPr lang="en-US" sz="1800" b="0" i="1">
                    <a:solidFill>
                      <a:schemeClr val="tx2">
                        <a:lumMod val="50000"/>
                        <a:lumOff val="50000"/>
                      </a:schemeClr>
                    </a:solidFill>
                    <a:ea typeface="+mj-lt"/>
                    <a:cs typeface="+mj-lt"/>
                  </a:rPr>
                  <a:t>Lateral dynamics</a:t>
                </a:r>
                <a:endParaRPr lang="en-US" b="0" i="1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B6C75AD8-265D-5C87-B6C0-C5B5958ED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760" y="669099"/>
                <a:ext cx="6661614" cy="840083"/>
              </a:xfrm>
              <a:prstGeom prst="rect">
                <a:avLst/>
              </a:prstGeom>
              <a:blipFill>
                <a:blip r:embed="rId2"/>
                <a:stretch>
                  <a:fillRect l="-2196" t="-9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2A1A39E-B25D-D05E-73DF-88FA14F418E6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F98A4C2D-D933-6C43-5985-9AF55E8C79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95514" y="1764663"/>
            <a:ext cx="8640763" cy="4429125"/>
          </a:xfrm>
        </p:spPr>
        <p:txBody>
          <a:bodyPr/>
          <a:lstStyle/>
          <a:p>
            <a:r>
              <a:rPr lang="en-US" noProof="0"/>
              <a:t>4) Control effort limitation in doublet response:</a:t>
            </a:r>
          </a:p>
        </p:txBody>
      </p:sp>
      <p:pic>
        <p:nvPicPr>
          <p:cNvPr id="22" name="Immagine 21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6E218A10-62EC-8F22-323C-137FC6ADEB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170" y="2303229"/>
            <a:ext cx="5193107" cy="4146040"/>
          </a:xfrm>
          <a:prstGeom prst="rect">
            <a:avLst/>
          </a:prstGeom>
        </p:spPr>
      </p:pic>
      <p:pic>
        <p:nvPicPr>
          <p:cNvPr id="7" name="Immagine 6" descr="Immagine che contiene testo, Carattere, schermata, ricevuta&#10;&#10;Il contenuto generato dall'IA potrebbe non essere corretto.">
            <a:extLst>
              <a:ext uri="{FF2B5EF4-FFF2-40B4-BE49-F238E27FC236}">
                <a16:creationId xmlns:a16="http://schemas.microsoft.com/office/drawing/2014/main" id="{BDC2DCCA-9A95-60E0-330A-6BA4E00C69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687" y="4916384"/>
            <a:ext cx="3926313" cy="1272517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  <p:sp>
        <p:nvSpPr>
          <p:cNvPr id="10" name="Rettangolo 9">
            <a:extLst>
              <a:ext uri="{FF2B5EF4-FFF2-40B4-BE49-F238E27FC236}">
                <a16:creationId xmlns:a16="http://schemas.microsoft.com/office/drawing/2014/main" id="{A737F689-8151-0D54-D5CD-7E6D90722F96}"/>
              </a:ext>
            </a:extLst>
          </p:cNvPr>
          <p:cNvSpPr/>
          <p:nvPr/>
        </p:nvSpPr>
        <p:spPr>
          <a:xfrm>
            <a:off x="2196045" y="5890161"/>
            <a:ext cx="2732215" cy="298740"/>
          </a:xfrm>
          <a:prstGeom prst="rect">
            <a:avLst/>
          </a:prstGeom>
          <a:solidFill>
            <a:srgbClr val="92D050">
              <a:alpha val="18954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nettore dritto 12">
            <a:extLst>
              <a:ext uri="{FF2B5EF4-FFF2-40B4-BE49-F238E27FC236}">
                <a16:creationId xmlns:a16="http://schemas.microsoft.com/office/drawing/2014/main" id="{428AB761-4EEF-5C33-840F-3D99CAC847F6}"/>
              </a:ext>
            </a:extLst>
          </p:cNvPr>
          <p:cNvCxnSpPr/>
          <p:nvPr/>
        </p:nvCxnSpPr>
        <p:spPr>
          <a:xfrm>
            <a:off x="7211101" y="3875520"/>
            <a:ext cx="404948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ritto 14">
            <a:extLst>
              <a:ext uri="{FF2B5EF4-FFF2-40B4-BE49-F238E27FC236}">
                <a16:creationId xmlns:a16="http://schemas.microsoft.com/office/drawing/2014/main" id="{12D23502-1D86-8795-BE47-FE2681835425}"/>
              </a:ext>
            </a:extLst>
          </p:cNvPr>
          <p:cNvCxnSpPr/>
          <p:nvPr/>
        </p:nvCxnSpPr>
        <p:spPr>
          <a:xfrm>
            <a:off x="7211101" y="4730499"/>
            <a:ext cx="404948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9226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7F8F5-5E75-0C0D-4C96-90FA0719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287147-5AFE-EE80-39B1-00465F37F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Analysis of the results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1C22CB8-31F5-BF57-F181-6036D42ED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DBCB325-FEC9-3259-805C-F99B65C4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11ED7FB7-4ACF-BCA8-9B45-CF9F3138B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383298" cy="4429125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noProof="0"/>
              <a:t>Peak gain 1-value limit satisfaction</a:t>
            </a:r>
          </a:p>
          <a:p>
            <a:pPr marL="342900" indent="-342900">
              <a:buAutoNum type="arabicPeriod"/>
            </a:pPr>
            <a:r>
              <a:rPr lang="en-US" noProof="0"/>
              <a:t>Tuned controller</a:t>
            </a:r>
          </a:p>
          <a:p>
            <a:pPr marL="342900" indent="-342900">
              <a:buAutoNum type="arabicPeriod"/>
            </a:pPr>
            <a:r>
              <a:rPr lang="en-US" noProof="0"/>
              <a:t>Nominal performance satisfaction</a:t>
            </a:r>
          </a:p>
          <a:p>
            <a:pPr marL="342900" indent="-342900">
              <a:buAutoNum type="arabicPeriod"/>
            </a:pPr>
            <a:r>
              <a:rPr lang="en-US" noProof="0"/>
              <a:t>Nominal control effort limitation satisfaction</a:t>
            </a:r>
          </a:p>
          <a:p>
            <a:pPr marL="342900" indent="-342900"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Reiterate?</a:t>
            </a:r>
          </a:p>
          <a:p>
            <a:endParaRPr lang="en-US" noProof="0"/>
          </a:p>
          <a:p>
            <a:pPr marL="342900" indent="-342900">
              <a:buAutoNum type="arabicPeriod"/>
            </a:pPr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0D6C7F90-5DE2-972F-DA72-8B7510A87C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95514" y="808250"/>
                <a:ext cx="7866400" cy="84008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800">
                    <a:ea typeface="+mj-lt"/>
                    <a:cs typeface="+mj-lt"/>
                  </a:rPr>
                  <a:t>Motivation for the relaxation of requirements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</m:ctrlPr>
                      </m:sSubPr>
                      <m:e>
                        <m:r>
                          <a:rPr lang="it-IT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𝑯</m:t>
                        </m:r>
                      </m:e>
                      <m:sub>
                        <m:r>
                          <a:rPr lang="it-IT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800">
                    <a:ea typeface="+mj-lt"/>
                    <a:cs typeface="+mj-lt"/>
                  </a:rPr>
                  <a:t> synthesis </a:t>
                </a:r>
                <a:r>
                  <a:rPr lang="en-US" sz="1800" b="0">
                    <a:ea typeface="+mj-lt"/>
                    <a:cs typeface="+mj-lt"/>
                  </a:rPr>
                  <a:t>of the </a:t>
                </a:r>
              </a:p>
              <a:p>
                <a:r>
                  <a:rPr lang="en-US" sz="1800" b="0">
                    <a:ea typeface="+mj-lt"/>
                    <a:cs typeface="+mj-lt"/>
                  </a:rPr>
                  <a:t>Nominal </a:t>
                </a:r>
                <a:r>
                  <a:rPr lang="en-US" sz="1800" b="0" u="sng">
                    <a:ea typeface="+mj-lt"/>
                    <a:cs typeface="+mj-lt"/>
                  </a:rPr>
                  <a:t>controller design </a:t>
                </a:r>
                <a:r>
                  <a:rPr lang="en-US" sz="1800" b="0">
                    <a:ea typeface="+mj-lt"/>
                    <a:cs typeface="+mj-lt"/>
                  </a:rPr>
                  <a:t>for</a:t>
                </a:r>
                <a:r>
                  <a:rPr lang="en-US" sz="1800" b="0" i="1">
                    <a:ea typeface="+mj-lt"/>
                    <a:cs typeface="+mj-lt"/>
                  </a:rPr>
                  <a:t> </a:t>
                </a:r>
                <a:r>
                  <a:rPr lang="en-US" sz="1800" b="0" i="1">
                    <a:solidFill>
                      <a:schemeClr val="tx2">
                        <a:lumMod val="50000"/>
                        <a:lumOff val="50000"/>
                      </a:schemeClr>
                    </a:solidFill>
                    <a:ea typeface="+mj-lt"/>
                    <a:cs typeface="+mj-lt"/>
                  </a:rPr>
                  <a:t>Lateral dynamics</a:t>
                </a:r>
                <a:endParaRPr lang="en-US" b="0" i="1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0D6C7F90-5DE2-972F-DA72-8B7510A87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14" y="808250"/>
                <a:ext cx="7866400" cy="840083"/>
              </a:xfrm>
              <a:prstGeom prst="rect">
                <a:avLst/>
              </a:prstGeom>
              <a:blipFill>
                <a:blip r:embed="rId2"/>
                <a:stretch>
                  <a:fillRect l="-1860" t="-9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0810043-1701-EA5C-522A-556132B7033E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4099A2B0-25C1-78CE-E902-7CC901C6E934}"/>
              </a:ext>
            </a:extLst>
          </p:cNvPr>
          <p:cNvSpPr txBox="1">
            <a:spLocks/>
          </p:cNvSpPr>
          <p:nvPr/>
        </p:nvSpPr>
        <p:spPr>
          <a:xfrm>
            <a:off x="3095514" y="1455912"/>
            <a:ext cx="8886827" cy="1177349"/>
          </a:xfrm>
          <a:prstGeom prst="rect">
            <a:avLst/>
          </a:prstGeom>
        </p:spPr>
        <p:txBody>
          <a:bodyPr vert="horz" lIns="0" tIns="0" rIns="0" bIns="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/>
              <a:t>It is physically impossible to strictly satisfy all design requirements of the 2nd order function simultaneously, in terms of desired tranfer functions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>
                <a:solidFill>
                  <a:schemeClr val="tx2">
                    <a:lumMod val="75000"/>
                    <a:lumOff val="25000"/>
                  </a:schemeClr>
                </a:solidFill>
              </a:rPr>
              <a:t>3D Parameter </a:t>
            </a:r>
            <a:r>
              <a:rPr lang="pt-PT" err="1">
                <a:solidFill>
                  <a:schemeClr val="tx2">
                    <a:lumMod val="75000"/>
                    <a:lumOff val="25000"/>
                  </a:schemeClr>
                </a:solidFill>
              </a:rPr>
              <a:t>Sweep</a:t>
            </a:r>
            <a:r>
              <a:rPr lang="pt-PT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pt-PT" err="1">
                <a:solidFill>
                  <a:schemeClr val="tx2">
                    <a:lumMod val="75000"/>
                    <a:lumOff val="25000"/>
                  </a:schemeClr>
                </a:solidFill>
              </a:rPr>
              <a:t>Study</a:t>
            </a:r>
            <a:r>
              <a:rPr lang="pt-PT">
                <a:solidFill>
                  <a:schemeClr val="tx2">
                    <a:lumMod val="75000"/>
                    <a:lumOff val="25000"/>
                  </a:schemeClr>
                </a:solidFill>
              </a:rPr>
              <a:t>:</a:t>
            </a:r>
            <a:endParaRPr lang="en-US" sz="18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310CB90F-CC9C-CF33-6322-8E1DD77EC601}"/>
                  </a:ext>
                </a:extLst>
              </p:cNvPr>
              <p:cNvSpPr txBox="1"/>
              <p:nvPr/>
            </p:nvSpPr>
            <p:spPr>
              <a:xfrm>
                <a:off x="6910386" y="2627790"/>
                <a:ext cx="6096000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it-IT"/>
                </a:defPPr>
                <a:lvl1pPr>
                  <a:buNone/>
                  <a:defRPr>
                    <a:effectLst/>
                  </a:defRPr>
                </a:lvl1pPr>
              </a:lstStyle>
              <a:p>
                <a:r>
                  <a:rPr lang="pt-PT" sz="1600"/>
                  <a:t>- M (</a:t>
                </a:r>
                <a:r>
                  <a:rPr lang="pt-PT" sz="1600" err="1"/>
                  <a:t>Sensitivity</a:t>
                </a:r>
                <a:r>
                  <a:rPr lang="pt-PT" sz="1600"/>
                  <a:t> </a:t>
                </a:r>
                <a:r>
                  <a:rPr lang="pt-PT" sz="1600" err="1"/>
                  <a:t>Peak</a:t>
                </a:r>
                <a:r>
                  <a:rPr lang="pt-PT" sz="1600"/>
                  <a:t>)</a:t>
                </a:r>
              </a:p>
              <a:p>
                <a:r>
                  <a:rPr lang="pt-PT" sz="160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pt-PT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pt-PT" sz="1600"/>
                  <a:t>(</a:t>
                </a:r>
                <a:r>
                  <a:rPr lang="pt-PT" sz="1600" err="1"/>
                  <a:t>Bandwidth</a:t>
                </a:r>
                <a:r>
                  <a:rPr lang="pt-PT" sz="1600"/>
                  <a:t>)</a:t>
                </a:r>
              </a:p>
              <a:p>
                <a:r>
                  <a:rPr lang="pt-PT" sz="1600"/>
                  <a:t>- </a:t>
                </a:r>
                <a14:m>
                  <m:oMath xmlns:m="http://schemas.openxmlformats.org/officeDocument/2006/math">
                    <m:r>
                      <a:rPr lang="en-US" sz="1600" b="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PT" sz="1600"/>
                  <a:t> (</a:t>
                </a:r>
                <a:r>
                  <a:rPr lang="pt-PT" sz="1600" err="1"/>
                  <a:t>Actuator</a:t>
                </a:r>
                <a:r>
                  <a:rPr lang="pt-PT" sz="1600"/>
                  <a:t> </a:t>
                </a:r>
                <a:r>
                  <a:rPr lang="pt-PT" sz="1600" err="1"/>
                  <a:t>constraint</a:t>
                </a:r>
                <a:r>
                  <a:rPr lang="pt-PT" sz="1600"/>
                  <a:t> </a:t>
                </a:r>
                <a:r>
                  <a:rPr lang="pt-PT" sz="1600" err="1"/>
                  <a:t>factor</a:t>
                </a:r>
                <a:r>
                  <a:rPr lang="pt-PT" sz="1600"/>
                  <a:t>)</a:t>
                </a: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310CB90F-CC9C-CF33-6322-8E1DD77EC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386" y="2627790"/>
                <a:ext cx="6096000" cy="861774"/>
              </a:xfrm>
              <a:prstGeom prst="rect">
                <a:avLst/>
              </a:prstGeom>
              <a:blipFill>
                <a:blip r:embed="rId3"/>
                <a:stretch>
                  <a:fillRect l="-600" t="-2837"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0FB090B-CE24-5910-19C6-71F04A29F4B5}"/>
              </a:ext>
            </a:extLst>
          </p:cNvPr>
          <p:cNvSpPr txBox="1">
            <a:spLocks/>
          </p:cNvSpPr>
          <p:nvPr/>
        </p:nvSpPr>
        <p:spPr>
          <a:xfrm>
            <a:off x="3637833" y="2435369"/>
            <a:ext cx="8886827" cy="1177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pt-PT" sz="600"/>
          </a:p>
          <a:p>
            <a:pPr>
              <a:lnSpc>
                <a:spcPct val="150000"/>
              </a:lnSpc>
            </a:pPr>
            <a:r>
              <a:rPr lang="pt-PT"/>
              <a:t>- </a:t>
            </a:r>
            <a:r>
              <a:rPr lang="pt-PT" err="1"/>
              <a:t>Explored</a:t>
            </a:r>
            <a:r>
              <a:rPr lang="pt-PT"/>
              <a:t> a grid of design </a:t>
            </a:r>
            <a:r>
              <a:rPr lang="pt-PT" err="1"/>
              <a:t>weights</a:t>
            </a:r>
            <a:r>
              <a:rPr lang="pt-PT"/>
              <a:t>: </a:t>
            </a:r>
            <a:endParaRPr lang="en-US" sz="18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FF97D03B-FFB4-D655-18B3-A71167391B7F}"/>
              </a:ext>
            </a:extLst>
          </p:cNvPr>
          <p:cNvSpPr txBox="1">
            <a:spLocks/>
          </p:cNvSpPr>
          <p:nvPr/>
        </p:nvSpPr>
        <p:spPr>
          <a:xfrm>
            <a:off x="3637833" y="3271453"/>
            <a:ext cx="8886827" cy="1177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pt-PT" sz="600"/>
          </a:p>
          <a:p>
            <a:pPr>
              <a:lnSpc>
                <a:spcPct val="150000"/>
              </a:lnSpc>
            </a:pPr>
            <a:r>
              <a:rPr lang="pt-PT"/>
              <a:t>- </a:t>
            </a:r>
            <a:r>
              <a:rPr lang="pt-PT" err="1"/>
              <a:t>Evaluated</a:t>
            </a:r>
            <a:r>
              <a:rPr lang="pt-PT"/>
              <a:t> </a:t>
            </a:r>
            <a:r>
              <a:rPr lang="pt-PT" err="1"/>
              <a:t>Metrics</a:t>
            </a:r>
            <a:r>
              <a:rPr lang="pt-PT"/>
              <a:t>:</a:t>
            </a:r>
            <a:endParaRPr lang="en-US" sz="18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204B86DD-EF91-DCCB-BEB3-309EE59603A9}"/>
                  </a:ext>
                </a:extLst>
              </p:cNvPr>
              <p:cNvSpPr txBox="1"/>
              <p:nvPr/>
            </p:nvSpPr>
            <p:spPr>
              <a:xfrm>
                <a:off x="3862386" y="3727038"/>
                <a:ext cx="6096000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it-IT"/>
                </a:defPPr>
                <a:lvl1pPr>
                  <a:buNone/>
                  <a:defRPr>
                    <a:effectLst/>
                  </a:defRPr>
                </a:lvl1pPr>
              </a:lstStyle>
              <a:p>
                <a:r>
                  <a:rPr lang="pt-PT" sz="160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pt-PT" sz="1600" b="0" i="1" smtClean="0">
                            <a:latin typeface="Cambria Math" panose="02040503050406030204" pitchFamily="18" charset="0"/>
                          </a:rPr>
                          <m:t>𝑠𝑒𝑡</m:t>
                        </m:r>
                      </m:sub>
                    </m:sSub>
                  </m:oMath>
                </a14:m>
                <a:r>
                  <a:rPr lang="pt-PT" sz="1600"/>
                  <a:t> (</a:t>
                </a:r>
                <a:r>
                  <a:rPr lang="pt-PT" sz="1600" err="1"/>
                  <a:t>Settling</a:t>
                </a:r>
                <a:r>
                  <a:rPr lang="pt-PT" sz="1600"/>
                  <a:t> Time)</a:t>
                </a:r>
              </a:p>
              <a:p>
                <a:r>
                  <a:rPr lang="pt-PT" sz="160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PT" sz="1600" b="0" i="1" smtClean="0">
                            <a:latin typeface="Cambria Math" panose="02040503050406030204" pitchFamily="18" charset="0"/>
                          </a:rPr>
                          <m:t>𝑙𝑎𝑡</m:t>
                        </m:r>
                        <m:r>
                          <a:rPr lang="pt-PT" sz="16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PT" sz="16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pt-PT" sz="1600"/>
                  <a:t> (Max </a:t>
                </a:r>
                <a:r>
                  <a:rPr lang="pt-PT" sz="1600" err="1"/>
                  <a:t>Actuator</a:t>
                </a:r>
                <a:r>
                  <a:rPr lang="pt-PT" sz="1600"/>
                  <a:t> </a:t>
                </a:r>
                <a:r>
                  <a:rPr lang="pt-PT" sz="1600" err="1"/>
                  <a:t>Deflection</a:t>
                </a:r>
                <a:r>
                  <a:rPr lang="pt-PT" sz="1600"/>
                  <a:t>)</a:t>
                </a:r>
              </a:p>
              <a:p>
                <a:r>
                  <a:rPr lang="pt-PT" sz="1600"/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PT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pt-PT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𝑝𝑒𝑎𝑘</m:t>
                        </m:r>
                      </m:sub>
                    </m:sSub>
                  </m:oMath>
                </a14:m>
                <a:r>
                  <a:rPr lang="pt-PT" sz="1600"/>
                  <a:t> (Sensitivity </a:t>
                </a:r>
                <a:r>
                  <a:rPr lang="pt-PT" sz="1600" err="1"/>
                  <a:t>Peak</a:t>
                </a:r>
                <a:r>
                  <a:rPr lang="pt-PT" sz="1600"/>
                  <a:t> )</a:t>
                </a:r>
              </a:p>
              <a:p>
                <a:r>
                  <a:rPr lang="pt-PT" sz="1600"/>
                  <a:t>- </a:t>
                </a:r>
                <a14:m>
                  <m:oMath xmlns:m="http://schemas.openxmlformats.org/officeDocument/2006/math">
                    <m:r>
                      <a:rPr lang="pt-PT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PT" sz="160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pt-PT" sz="1600"/>
                  <a:t> )</a:t>
                </a: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204B86DD-EF91-DCCB-BEB3-309EE5960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2386" y="3727038"/>
                <a:ext cx="6096000" cy="1107996"/>
              </a:xfrm>
              <a:prstGeom prst="rect">
                <a:avLst/>
              </a:prstGeom>
              <a:blipFill>
                <a:blip r:embed="rId4"/>
                <a:stretch>
                  <a:fillRect l="-600" t="-2198" b="-5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5">
                <a:extLst>
                  <a:ext uri="{FF2B5EF4-FFF2-40B4-BE49-F238E27FC236}">
                    <a16:creationId xmlns:a16="http://schemas.microsoft.com/office/drawing/2014/main" id="{CAFF56F6-CE05-19F2-62E3-DE6DF798B7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68565" y="6355758"/>
                <a:ext cx="8886827" cy="1177349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pt-PT" sz="1400" err="1"/>
                  <a:t>Neglecting</a:t>
                </a:r>
                <a:r>
                  <a:rPr lang="pt-PT" sz="14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PT" sz="1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pt-P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𝑝𝑒𝑎𝑘</m:t>
                        </m:r>
                      </m:sub>
                    </m:sSub>
                  </m:oMath>
                </a14:m>
                <a:r>
                  <a:rPr lang="pt-PT" sz="1400"/>
                  <a:t> </a:t>
                </a:r>
              </a:p>
            </p:txBody>
          </p:sp>
        </mc:Choice>
        <mc:Fallback xmlns="">
          <p:sp>
            <p:nvSpPr>
              <p:cNvPr id="7" name="Content Placeholder 5">
                <a:extLst>
                  <a:ext uri="{FF2B5EF4-FFF2-40B4-BE49-F238E27FC236}">
                    <a16:creationId xmlns:a16="http://schemas.microsoft.com/office/drawing/2014/main" id="{CAFF56F6-CE05-19F2-62E3-DE6DF798B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8565" y="6355758"/>
                <a:ext cx="8886827" cy="1177349"/>
              </a:xfrm>
              <a:prstGeom prst="rect">
                <a:avLst/>
              </a:prstGeom>
              <a:blipFill>
                <a:blip r:embed="rId5"/>
                <a:stretch>
                  <a:fillRect l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B5E6D32D-D824-F377-3EC5-9BF22479A6F0}"/>
                  </a:ext>
                </a:extLst>
              </p:cNvPr>
              <p:cNvSpPr txBox="1"/>
              <p:nvPr/>
            </p:nvSpPr>
            <p:spPr>
              <a:xfrm>
                <a:off x="3095514" y="5033258"/>
                <a:ext cx="4598850" cy="1236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PT" sz="1600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Decision</a:t>
                </a:r>
                <a:r>
                  <a:rPr lang="pt-PT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: </a:t>
                </a:r>
                <a:r>
                  <a:rPr lang="pt-PT" sz="1600" err="1"/>
                  <a:t>Parameters</a:t>
                </a:r>
                <a:r>
                  <a:rPr lang="pt-PT" sz="1600"/>
                  <a:t> </a:t>
                </a:r>
                <a:r>
                  <a:rPr lang="pt-PT" sz="1600" err="1"/>
                  <a:t>selected</a:t>
                </a:r>
                <a:r>
                  <a:rPr lang="pt-PT" sz="1600"/>
                  <a:t> to </a:t>
                </a:r>
                <a:r>
                  <a:rPr lang="pt-PT" sz="1600" err="1"/>
                  <a:t>satisfy</a:t>
                </a:r>
                <a:r>
                  <a:rPr lang="pt-PT" sz="1600"/>
                  <a:t> </a:t>
                </a:r>
                <a:r>
                  <a:rPr lang="pt-PT" sz="1600" err="1"/>
                  <a:t>all</a:t>
                </a:r>
                <a:r>
                  <a:rPr lang="pt-PT" sz="1600"/>
                  <a:t>  </a:t>
                </a:r>
                <a:r>
                  <a:rPr lang="pt-PT" sz="1600" err="1"/>
                  <a:t>constraints</a:t>
                </a:r>
                <a:r>
                  <a:rPr lang="pt-PT" sz="1600"/>
                  <a:t> </a:t>
                </a:r>
                <a:r>
                  <a:rPr lang="pt-PT" sz="1600" err="1"/>
                  <a:t>while</a:t>
                </a:r>
                <a:r>
                  <a:rPr lang="pt-PT" sz="1600"/>
                  <a:t> </a:t>
                </a:r>
                <a:r>
                  <a:rPr lang="pt-PT" sz="1600" err="1"/>
                  <a:t>minimizing</a:t>
                </a:r>
                <a:r>
                  <a:rPr lang="pt-PT" sz="16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PT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pt-P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𝑝𝑒𝑎𝑘</m:t>
                        </m:r>
                      </m:sub>
                    </m:sSub>
                    <m:r>
                      <a:rPr lang="pt-P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PT" sz="1600"/>
                  <a:t>for optimal robustness.</a:t>
                </a:r>
                <a:endParaRPr lang="en-US" sz="180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B5E6D32D-D824-F377-3EC5-9BF22479A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14" y="5033258"/>
                <a:ext cx="4598850" cy="1236685"/>
              </a:xfrm>
              <a:prstGeom prst="rect">
                <a:avLst/>
              </a:prstGeom>
              <a:blipFill>
                <a:blip r:embed="rId6"/>
                <a:stretch>
                  <a:fillRect l="-531" r="-928" b="-4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agem 12">
            <a:extLst>
              <a:ext uri="{FF2B5EF4-FFF2-40B4-BE49-F238E27FC236}">
                <a16:creationId xmlns:a16="http://schemas.microsoft.com/office/drawing/2014/main" id="{53196126-4275-2F55-05B9-3E7500FCC8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364" y="3470289"/>
            <a:ext cx="3832228" cy="298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2936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72876-5713-3C61-63F1-F29D04A5A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7420FA-6696-2400-8F83-48E8775E0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Analysis of the results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E33301E-898C-9425-47A1-53947772D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0B975F4-CFCC-F18C-B310-4B293351A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22013EED-4F0A-52E1-7DD3-2955A15451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383298" cy="4429125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noProof="0"/>
              <a:t>Peak gain 1-value limit satisfaction</a:t>
            </a:r>
          </a:p>
          <a:p>
            <a:pPr marL="342900" indent="-342900">
              <a:buAutoNum type="arabicPeriod"/>
            </a:pPr>
            <a:r>
              <a:rPr lang="en-US" noProof="0"/>
              <a:t>Tuned controller</a:t>
            </a:r>
          </a:p>
          <a:p>
            <a:pPr marL="342900" indent="-342900">
              <a:buAutoNum type="arabicPeriod"/>
            </a:pPr>
            <a:r>
              <a:rPr lang="en-US" noProof="0"/>
              <a:t>Nominal performance satisfaction</a:t>
            </a:r>
          </a:p>
          <a:p>
            <a:pPr marL="342900" indent="-342900">
              <a:buAutoNum type="arabicPeriod"/>
            </a:pPr>
            <a:r>
              <a:rPr lang="en-US" noProof="0"/>
              <a:t>Nominal control effort limitation satisfaction</a:t>
            </a:r>
          </a:p>
          <a:p>
            <a:pPr marL="342900" indent="-342900"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Reiterate?</a:t>
            </a:r>
          </a:p>
          <a:p>
            <a:endParaRPr lang="en-US" noProof="0"/>
          </a:p>
          <a:p>
            <a:pPr marL="342900" indent="-342900">
              <a:buAutoNum type="arabicPeriod"/>
            </a:pPr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82B0D082-22FC-8C95-9A74-4F64A37AF5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95514" y="808250"/>
                <a:ext cx="7866400" cy="84008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800">
                    <a:ea typeface="+mj-lt"/>
                    <a:cs typeface="+mj-lt"/>
                  </a:rPr>
                  <a:t>Motivation for the relaxation of requirements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</m:ctrlPr>
                      </m:sSubPr>
                      <m:e>
                        <m:r>
                          <a:rPr lang="it-IT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𝑯</m:t>
                        </m:r>
                      </m:e>
                      <m:sub>
                        <m:r>
                          <a:rPr lang="it-IT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800">
                    <a:ea typeface="+mj-lt"/>
                    <a:cs typeface="+mj-lt"/>
                  </a:rPr>
                  <a:t> synthesis </a:t>
                </a:r>
                <a:r>
                  <a:rPr lang="en-US" sz="1800" b="0">
                    <a:ea typeface="+mj-lt"/>
                    <a:cs typeface="+mj-lt"/>
                  </a:rPr>
                  <a:t>of the </a:t>
                </a:r>
              </a:p>
              <a:p>
                <a:r>
                  <a:rPr lang="en-US" sz="1800" b="0">
                    <a:ea typeface="+mj-lt"/>
                    <a:cs typeface="+mj-lt"/>
                  </a:rPr>
                  <a:t>Nominal </a:t>
                </a:r>
                <a:r>
                  <a:rPr lang="en-US" sz="1800" b="0" u="sng">
                    <a:ea typeface="+mj-lt"/>
                    <a:cs typeface="+mj-lt"/>
                  </a:rPr>
                  <a:t>controller design </a:t>
                </a:r>
                <a:r>
                  <a:rPr lang="en-US" sz="1800" b="0">
                    <a:ea typeface="+mj-lt"/>
                    <a:cs typeface="+mj-lt"/>
                  </a:rPr>
                  <a:t>for</a:t>
                </a:r>
                <a:r>
                  <a:rPr lang="en-US" sz="1800" b="0" i="1">
                    <a:ea typeface="+mj-lt"/>
                    <a:cs typeface="+mj-lt"/>
                  </a:rPr>
                  <a:t> </a:t>
                </a:r>
                <a:r>
                  <a:rPr lang="en-US" sz="1800" b="0" i="1">
                    <a:solidFill>
                      <a:schemeClr val="tx2">
                        <a:lumMod val="50000"/>
                        <a:lumOff val="50000"/>
                      </a:schemeClr>
                    </a:solidFill>
                    <a:ea typeface="+mj-lt"/>
                    <a:cs typeface="+mj-lt"/>
                  </a:rPr>
                  <a:t>Lateral dynamics</a:t>
                </a:r>
                <a:endParaRPr lang="en-US" b="0" i="1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82B0D082-22FC-8C95-9A74-4F64A37AF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14" y="808250"/>
                <a:ext cx="7866400" cy="840083"/>
              </a:xfrm>
              <a:prstGeom prst="rect">
                <a:avLst/>
              </a:prstGeom>
              <a:blipFill>
                <a:blip r:embed="rId2"/>
                <a:stretch>
                  <a:fillRect l="-1860" t="-9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35D2879-7362-602D-D263-4B2FB0A19234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F730198-70ED-3557-600C-CC890BC3D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980" y="1513544"/>
            <a:ext cx="3726962" cy="1984232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1F655B6-1BB7-F9F9-DD04-A83A8B0284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514" y="3646209"/>
            <a:ext cx="3922478" cy="2992659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E2B0FA40-2AE1-17B0-E0F4-9B83C1077C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975" y="4064000"/>
            <a:ext cx="4382641" cy="2574869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6947337D-8E34-F621-BB27-B5CF6C9E8D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000" y="1187687"/>
            <a:ext cx="3564702" cy="269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7728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56446-BEE7-9901-C2D5-AF697A19A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6ED276A-1D94-6B25-B1CE-4DF418B74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812653"/>
            <a:ext cx="6726237" cy="467508"/>
          </a:xfrm>
        </p:spPr>
        <p:txBody>
          <a:bodyPr/>
          <a:lstStyle/>
          <a:p>
            <a:r>
              <a:rPr lang="en-US" sz="1800" u="sng" noProof="0">
                <a:ea typeface="+mj-lt"/>
                <a:cs typeface="+mj-lt"/>
              </a:rPr>
              <a:t>Nominal plant modeling </a:t>
            </a:r>
            <a:r>
              <a:rPr lang="en-US" sz="1800" noProof="0">
                <a:ea typeface="+mj-lt"/>
                <a:cs typeface="+mj-lt"/>
              </a:rPr>
              <a:t>for</a:t>
            </a:r>
            <a:r>
              <a:rPr lang="en-US" sz="1800" i="1" noProof="0">
                <a:ea typeface="+mj-lt"/>
                <a:cs typeface="+mj-lt"/>
              </a:rPr>
              <a:t> </a:t>
            </a:r>
            <a:r>
              <a:rPr lang="en-US" sz="1800" i="1" noProof="0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Longitudinal dynamics</a:t>
            </a:r>
            <a:endParaRPr lang="en-US" i="1" noProof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E6D57EE-8274-E180-A939-F9D6305324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2CB5BCD-DAC8-824B-2430-A88E3BF8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33</a:t>
            </a:fld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07AC808-4A75-AD56-33DE-D7A7A6877F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31074" y="6207125"/>
            <a:ext cx="4525963" cy="282575"/>
          </a:xfrm>
        </p:spPr>
        <p:txBody>
          <a:bodyPr/>
          <a:lstStyle/>
          <a:p>
            <a:r>
              <a:rPr lang="en-US"/>
              <a:t>1 DOF testbed (Courtesy of </a:t>
            </a:r>
            <a:r>
              <a:rPr lang="en-US" err="1"/>
              <a:t>Antx.com</a:t>
            </a:r>
            <a:r>
              <a:rPr lang="en-US"/>
              <a:t>)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CE621067-D4D5-22F1-234A-92067380E164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pic>
        <p:nvPicPr>
          <p:cNvPr id="4" name="Immagine 3" descr="Immagine che contiene giocattolo, muro, interno&#10;&#10;Il contenuto generato dall&amp;#39;IA potrebbe non essere corretto.">
            <a:extLst>
              <a:ext uri="{FF2B5EF4-FFF2-40B4-BE49-F238E27FC236}">
                <a16:creationId xmlns:a16="http://schemas.microsoft.com/office/drawing/2014/main" id="{6A132907-5B94-4EFF-C8BE-EE2E88DAED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689" r="26227" b="-1"/>
          <a:stretch>
            <a:fillRect/>
          </a:stretch>
        </p:blipFill>
        <p:spPr>
          <a:xfrm>
            <a:off x="7331075" y="726077"/>
            <a:ext cx="4525963" cy="5407025"/>
          </a:xfrm>
          <a:prstGeom prst="rect">
            <a:avLst/>
          </a:prstGeom>
          <a:noFill/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96B12A8-B291-CCBC-F023-A3E16F065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62" y="1570079"/>
            <a:ext cx="6637694" cy="2362022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44B01E7B-0218-E93A-19FA-F76647934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962" y="4222019"/>
            <a:ext cx="6637694" cy="1457528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7689767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EE7BD-4F1A-2CBE-26CA-4463D6B91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78BC63D-37D1-3B01-1647-DF394C86F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6696458" cy="840083"/>
          </a:xfrm>
        </p:spPr>
        <p:txBody>
          <a:bodyPr/>
          <a:lstStyle/>
          <a:p>
            <a:r>
              <a:rPr lang="en-US" sz="1800" u="sng">
                <a:ea typeface="+mj-lt"/>
                <a:cs typeface="+mj-lt"/>
              </a:rPr>
              <a:t>Nominal plant modeling </a:t>
            </a:r>
            <a:r>
              <a:rPr lang="en-US" sz="1800">
                <a:ea typeface="+mj-lt"/>
                <a:cs typeface="+mj-lt"/>
              </a:rPr>
              <a:t>for</a:t>
            </a:r>
            <a:r>
              <a:rPr lang="en-US" sz="1800" i="1">
                <a:ea typeface="+mj-lt"/>
                <a:cs typeface="+mj-lt"/>
              </a:rPr>
              <a:t> </a:t>
            </a:r>
            <a:r>
              <a:rPr lang="en-US" sz="1800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Longitudinal dynamics</a:t>
            </a:r>
            <a:endParaRPr lang="en-US" i="1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5C3F2D7-3ED1-ECBF-1A19-00CE1EC8CD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A0A2142-E8A1-4A52-6474-190F306B7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34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7784E9EE-C705-4AE9-FE62-93DE94763FF1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334963" y="1214437"/>
                <a:ext cx="6696458" cy="4429125"/>
              </a:xfrm>
            </p:spPr>
            <p:txBody>
              <a:bodyPr vert="horz" lIns="0" tIns="0" rIns="0" bIns="0" rtlCol="0" anchor="t">
                <a:noAutofit/>
              </a:bodyPr>
              <a:lstStyle/>
              <a:p>
                <a:r>
                  <a:rPr lang="en-US"/>
                  <a:t>Plant model:  (Evans)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𝑜𝑛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𝑡h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450.7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en-US" b="0" i="0" smtClean="0"/>
                                    <m:t>s</m:t>
                                  </m:r>
                                  <m:r>
                                    <m:rPr>
                                      <m:nor/>
                                    </m:rPr>
                                    <a:rPr lang="it-IT" b="0" i="0" smtClean="0"/>
                                    <m:t>+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smtClean="0"/>
                                    <m:t>2.648 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450.7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en-US" smtClean="0"/>
                                    <m:t>s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smtClean="0"/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smtClean="0"/>
                                    <m:t>s</m:t>
                                  </m:r>
                                  <m:r>
                                    <m:rPr>
                                      <m:nor/>
                                    </m:rPr>
                                    <a:rPr lang="it-IT" b="0" i="0" smtClean="0"/>
                                    <m:t>+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mtClean="0"/>
                                    <m:t>2.648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="0" i="0" smtClean="0"/>
                                    <m:t>)</m:t>
                                  </m:r>
                                  <m:r>
                                    <m:rPr>
                                      <m:nor/>
                                    </m:rPr>
                                    <a:rPr lang="en-US"/>
                                    <m:t> 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With a non-critical cancellation in -0.1068 in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m:rPr>
                        <m:brk m:alnAt="7"/>
                      </m:rP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𝑡h</m:t>
                    </m:r>
                    <m:r>
                      <m:rPr>
                        <m:brk m:alnAt="7"/>
                      </m:rP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7784E9EE-C705-4AE9-FE62-93DE94763F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334963" y="1214437"/>
                <a:ext cx="6696458" cy="4429125"/>
              </a:xfrm>
              <a:blipFill>
                <a:blip r:embed="rId2"/>
                <a:stretch>
                  <a:fillRect l="-1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A9612DA7-E0A1-FC4C-D0CC-4360D191EEE6}"/>
              </a:ext>
            </a:extLst>
          </p:cNvPr>
          <p:cNvSpPr txBox="1">
            <a:spLocks/>
          </p:cNvSpPr>
          <p:nvPr/>
        </p:nvSpPr>
        <p:spPr>
          <a:xfrm>
            <a:off x="4494701" y="3419305"/>
            <a:ext cx="6319837" cy="23572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/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4C19EDA6-B203-B3E4-36DA-814174D239F6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46D5F7D-4126-0BFE-5DB2-63AF5448D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11" y="3241439"/>
            <a:ext cx="3864015" cy="3022232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75E251D-F498-FA63-C87D-CB9F0F270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890" y="3241437"/>
            <a:ext cx="3957547" cy="3022233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616DEA9C-7A22-7630-052A-D86D822FF4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2901" y="3240506"/>
            <a:ext cx="4019099" cy="302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2989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FFC50-1616-F1EC-4FD5-87DD69B1B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2A464755-948F-516A-8BB7-3D9297761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6696458" cy="840083"/>
          </a:xfrm>
        </p:spPr>
        <p:txBody>
          <a:bodyPr/>
          <a:lstStyle/>
          <a:p>
            <a:r>
              <a:rPr lang="en-US" sz="1800" u="sng">
                <a:ea typeface="+mj-lt"/>
                <a:cs typeface="+mj-lt"/>
              </a:rPr>
              <a:t>Nominal plant modeling </a:t>
            </a:r>
            <a:r>
              <a:rPr lang="en-US" sz="1800">
                <a:ea typeface="+mj-lt"/>
                <a:cs typeface="+mj-lt"/>
              </a:rPr>
              <a:t>for</a:t>
            </a:r>
            <a:r>
              <a:rPr lang="en-US" sz="1800" i="1">
                <a:ea typeface="+mj-lt"/>
                <a:cs typeface="+mj-lt"/>
              </a:rPr>
              <a:t> </a:t>
            </a:r>
            <a:r>
              <a:rPr lang="en-US" sz="1800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Longitudinal dynamics</a:t>
            </a:r>
            <a:endParaRPr lang="en-US" i="1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D72C418-BDF2-E395-39DD-CE55676C2A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D865F19-B223-C938-9CC1-91F52F43B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35</a:t>
            </a:fld>
            <a:endParaRPr lang="en-US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F0B05D42-B6AB-5A36-2730-755232EBC217}"/>
              </a:ext>
            </a:extLst>
          </p:cNvPr>
          <p:cNvSpPr txBox="1">
            <a:spLocks/>
          </p:cNvSpPr>
          <p:nvPr/>
        </p:nvSpPr>
        <p:spPr>
          <a:xfrm>
            <a:off x="5264216" y="4117246"/>
            <a:ext cx="6319837" cy="23572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/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1F662A28-308E-E73F-2DBD-1F545D9F62F4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B0E24590-D3B3-AB68-2FEB-7F3686E6316A}"/>
                  </a:ext>
                </a:extLst>
              </p:cNvPr>
              <p:cNvSpPr txBox="1"/>
              <p:nvPr/>
            </p:nvSpPr>
            <p:spPr>
              <a:xfrm>
                <a:off x="5732401" y="685730"/>
                <a:ext cx="4687503" cy="978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𝑡h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sz="1400"/>
                                  <m:t>170.2</m:t>
                                </m:r>
                                <m:f>
                                  <m:f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it-IT" sz="1400" b="0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sz="1400" b="0" i="0" smtClean="0"/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0.378 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s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sz="1400"/>
                                  <m:t>170.2</m:t>
                                </m:r>
                                <m:f>
                                  <m:f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s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sz="1400" b="0" i="0" smtClean="0"/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1−0.378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s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sz="1400" b="0" i="0" smtClean="0"/>
                                      <m:t>)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B0E24590-D3B3-AB68-2FEB-7F3686E63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401" y="685730"/>
                <a:ext cx="4687503" cy="9781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>
            <a:extLst>
              <a:ext uri="{FF2B5EF4-FFF2-40B4-BE49-F238E27FC236}">
                <a16:creationId xmlns:a16="http://schemas.microsoft.com/office/drawing/2014/main" id="{9E80BCEF-61E1-5BE7-ED35-85D23B51A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63" y="1773881"/>
            <a:ext cx="4840943" cy="468673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E031119D-68DA-21B8-C67C-F72E7B636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367" y="1999427"/>
            <a:ext cx="5592686" cy="423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8573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59E12-7C42-CCF5-4762-D3414410F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F395C6E-BEAE-D0E9-37F7-D7E2C28F4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6696458" cy="840083"/>
          </a:xfrm>
        </p:spPr>
        <p:txBody>
          <a:bodyPr/>
          <a:lstStyle/>
          <a:p>
            <a:r>
              <a:rPr lang="en-US" sz="1800">
                <a:ea typeface="+mj-lt"/>
                <a:cs typeface="+mj-lt"/>
              </a:rPr>
              <a:t>Nominal </a:t>
            </a:r>
            <a:r>
              <a:rPr lang="en-US" sz="1800" u="sng">
                <a:ea typeface="+mj-lt"/>
                <a:cs typeface="+mj-lt"/>
              </a:rPr>
              <a:t>controller design </a:t>
            </a:r>
            <a:r>
              <a:rPr lang="en-US" sz="1800">
                <a:ea typeface="+mj-lt"/>
                <a:cs typeface="+mj-lt"/>
              </a:rPr>
              <a:t>for</a:t>
            </a:r>
            <a:r>
              <a:rPr lang="en-US" sz="1800" i="1">
                <a:ea typeface="+mj-lt"/>
                <a:cs typeface="+mj-lt"/>
              </a:rPr>
              <a:t> </a:t>
            </a:r>
            <a:r>
              <a:rPr lang="en-US" sz="1800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Longitudinal dynamics</a:t>
            </a:r>
            <a:endParaRPr lang="en-US" i="1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9EFC739-95FD-8ACD-14FE-40E16BCF8C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A8C6090-12BD-EA6C-6D44-5AC667F97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36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8E4FC273-F832-54E5-685A-4D0484B95158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334962" y="1429441"/>
                <a:ext cx="6238557" cy="997585"/>
              </a:xfrm>
            </p:spPr>
            <p:txBody>
              <a:bodyPr vert="horz" lIns="0" tIns="0" rIns="0" bIns="0" rtlCol="0" anchor="t">
                <a:noAutofit/>
              </a:bodyPr>
              <a:lstStyle/>
              <a:p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1) </a:t>
                </a:r>
                <a:r>
                  <a:rPr lang="en-US"/>
                  <a:t>Assigned </a:t>
                </a:r>
                <a:r>
                  <a:rPr lang="en-US" b="1"/>
                  <a:t>controller structure</a:t>
                </a:r>
                <a:r>
                  <a:rPr lang="en-US"/>
                  <a:t>: </a:t>
                </a:r>
                <a:r>
                  <a:rPr lang="en-US" b="1"/>
                  <a:t>PID-P cascade: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/>
                  <a:t>roll angle controller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/>
                  <a:t> : </a:t>
                </a:r>
                <a:r>
                  <a:rPr lang="en-US" b="1"/>
                  <a:t>P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/>
                  <a:t>roll rate controller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: </a:t>
                </a:r>
                <a:r>
                  <a:rPr lang="en-US" b="1"/>
                  <a:t>PID</a:t>
                </a: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8E4FC273-F832-54E5-685A-4D0484B951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334962" y="1429441"/>
                <a:ext cx="6238557" cy="997585"/>
              </a:xfrm>
              <a:blipFill>
                <a:blip r:embed="rId2"/>
                <a:stretch>
                  <a:fillRect l="-2053" t="-4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F81FE270-2682-C168-6096-48155B2B1D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31074" y="6207125"/>
            <a:ext cx="4525963" cy="282575"/>
          </a:xfrm>
        </p:spPr>
        <p:txBody>
          <a:bodyPr/>
          <a:lstStyle/>
          <a:p>
            <a:r>
              <a:rPr lang="en-US"/>
              <a:t>1 DOF testbed (Courtesy of </a:t>
            </a:r>
            <a:r>
              <a:rPr lang="en-US" err="1"/>
              <a:t>Antx.com</a:t>
            </a:r>
            <a:r>
              <a:rPr lang="en-US"/>
              <a:t>)</a:t>
            </a:r>
          </a:p>
        </p:txBody>
      </p:sp>
      <p:pic>
        <p:nvPicPr>
          <p:cNvPr id="8" name="Immagine 7" descr="Immagine che contiene giocattolo, muro, interno&#10;&#10;Il contenuto generato dall&amp;#39;IA potrebbe non essere corretto.">
            <a:extLst>
              <a:ext uri="{FF2B5EF4-FFF2-40B4-BE49-F238E27FC236}">
                <a16:creationId xmlns:a16="http://schemas.microsoft.com/office/drawing/2014/main" id="{BE514350-0A65-3C6A-DC78-C6EB3500A6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689" r="26227" b="-1"/>
          <a:stretch>
            <a:fillRect/>
          </a:stretch>
        </p:blipFill>
        <p:spPr>
          <a:xfrm>
            <a:off x="7331075" y="800100"/>
            <a:ext cx="4525963" cy="540702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7E97E5D9-C976-0B2E-71A2-D306F754D6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5665" y="4041643"/>
                <a:ext cx="6696457" cy="158366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/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it-IT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/>
                  <a:t>            		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𝑡h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/>
              </a:p>
              <a:p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𝑜𝑛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it-IT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it-IT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.      </m:t>
                    </m:r>
                  </m:oMath>
                </a14:m>
                <a:r>
                  <a:rPr lang="en-US"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=0.02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    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𝑡h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𝑡h</m:t>
                    </m:r>
                  </m:oMath>
                </a14:m>
                <a:endParaRPr lang="en-US"/>
              </a:p>
              <a:p>
                <a:r>
                  <a:rPr lang="en-US"/>
                  <a:t> </a:t>
                </a:r>
                <a:endParaRPr lang="en-US" b="1"/>
              </a:p>
              <a:p>
                <a:endParaRPr lang="en-US" b="1"/>
              </a:p>
            </p:txBody>
          </p:sp>
        </mc:Choice>
        <mc:Fallback xmlns="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7E97E5D9-C976-0B2E-71A2-D306F754D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665" y="4041643"/>
                <a:ext cx="6696457" cy="1583663"/>
              </a:xfrm>
              <a:prstGeom prst="rect">
                <a:avLst/>
              </a:prstGeom>
              <a:blipFill>
                <a:blip r:embed="rId4"/>
                <a:stretch>
                  <a:fillRect l="-1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4EDE0F7F-0516-6DC1-3817-6DB4081650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2" y="5990907"/>
                <a:ext cx="6544058" cy="99758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2) </a:t>
                </a:r>
                <a:r>
                  <a:rPr lang="en-US"/>
                  <a:t>Design methodology: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/>
                  <a:t> controller design via </a:t>
                </a: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mixed-sensitivity       synthesis</a:t>
                </a:r>
              </a:p>
              <a:p>
                <a:endParaRPr lang="en-US"/>
              </a:p>
              <a:p>
                <a:endParaRPr lang="en-US" b="1"/>
              </a:p>
            </p:txBody>
          </p:sp>
        </mc:Choice>
        <mc:Fallback xmlns="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4EDE0F7F-0516-6DC1-3817-6DB408165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2" y="5990907"/>
                <a:ext cx="6544058" cy="997585"/>
              </a:xfrm>
              <a:prstGeom prst="rect">
                <a:avLst/>
              </a:prstGeom>
              <a:blipFill>
                <a:blip r:embed="rId5"/>
                <a:stretch>
                  <a:fillRect l="-1957" t="-4908" r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ttangolo 11">
            <a:extLst>
              <a:ext uri="{FF2B5EF4-FFF2-40B4-BE49-F238E27FC236}">
                <a16:creationId xmlns:a16="http://schemas.microsoft.com/office/drawing/2014/main" id="{46A09A5B-08DE-1CDE-1C39-00AF08BE70AF}"/>
              </a:ext>
            </a:extLst>
          </p:cNvPr>
          <p:cNvSpPr/>
          <p:nvPr/>
        </p:nvSpPr>
        <p:spPr>
          <a:xfrm>
            <a:off x="194872" y="1277938"/>
            <a:ext cx="6910176" cy="4302123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96633741-48F6-93C0-F089-594E1E2FC627}"/>
              </a:ext>
            </a:extLst>
          </p:cNvPr>
          <p:cNvSpPr/>
          <p:nvPr/>
        </p:nvSpPr>
        <p:spPr>
          <a:xfrm>
            <a:off x="228102" y="5945662"/>
            <a:ext cx="6876945" cy="754941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F28E8ED5-AA34-7BE5-FF25-BD56300B6D76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D661E05-6C35-EFA9-3162-480865A037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616" y="2427026"/>
            <a:ext cx="6238557" cy="192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9543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FBFE-6850-93E2-80B6-032FD8A27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EC4C9260-8189-FB65-3A30-651523E7F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6696458" cy="840083"/>
          </a:xfrm>
        </p:spPr>
        <p:txBody>
          <a:bodyPr/>
          <a:lstStyle/>
          <a:p>
            <a:r>
              <a:rPr lang="en-US" sz="1800">
                <a:ea typeface="+mj-lt"/>
                <a:cs typeface="+mj-lt"/>
              </a:rPr>
              <a:t>Nominal </a:t>
            </a:r>
            <a:r>
              <a:rPr lang="en-US" sz="1800" u="sng">
                <a:ea typeface="+mj-lt"/>
                <a:cs typeface="+mj-lt"/>
              </a:rPr>
              <a:t>controller design </a:t>
            </a:r>
            <a:r>
              <a:rPr lang="en-US" sz="1800">
                <a:ea typeface="+mj-lt"/>
                <a:cs typeface="+mj-lt"/>
              </a:rPr>
              <a:t>for</a:t>
            </a:r>
            <a:r>
              <a:rPr lang="en-US" sz="1800" i="1">
                <a:ea typeface="+mj-lt"/>
                <a:cs typeface="+mj-lt"/>
              </a:rPr>
              <a:t> </a:t>
            </a:r>
            <a:r>
              <a:rPr lang="en-US" sz="1800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Longitudinal dynamics</a:t>
            </a:r>
            <a:endParaRPr lang="en-US" i="1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129CE6A-B874-8E47-E5B4-E16AB2D2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54944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5EEA978-325A-49F1-A718-B62B9C117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37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C0819A08-6937-9828-7755-1FB98A8A96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1625276"/>
                <a:ext cx="6696458" cy="4581849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800" b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Tunable PID in MATLAB</a:t>
                </a:r>
              </a:p>
              <a:p>
                <a:endParaRPr lang="en-US" sz="1800" b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t-IT" sz="1800" b="0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sz="1800" b="0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1800" b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Tunable PID</a:t>
                </a:r>
              </a:p>
              <a:p>
                <a:endParaRPr lang="en-US" sz="1800" b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:endParaRPr lang="en-US" sz="1800" b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:endParaRPr lang="en-US" sz="1800" b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:endParaRPr lang="en-US" sz="1800" b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:endParaRPr lang="en-US" sz="1800" b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:endParaRPr lang="en-US" sz="1800" b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:endParaRPr lang="en-US" sz="1800" b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t-IT" sz="1800" b="0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1800" b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Tunable PID2</a:t>
                </a:r>
              </a:p>
            </p:txBody>
          </p:sp>
        </mc:Choice>
        <mc:Fallback xmlns="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C0819A08-6937-9828-7755-1FB98A8A9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1625276"/>
                <a:ext cx="6696458" cy="4581849"/>
              </a:xfrm>
              <a:prstGeom prst="rect">
                <a:avLst/>
              </a:prstGeom>
              <a:blipFill>
                <a:blip r:embed="rId2"/>
                <a:stretch>
                  <a:fillRect l="-2186" t="-1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Immagine 27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26F3A093-3588-1F5D-1C0A-0A6DCC0E2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597"/>
          <a:stretch>
            <a:fillRect/>
          </a:stretch>
        </p:blipFill>
        <p:spPr>
          <a:xfrm>
            <a:off x="6813154" y="1338725"/>
            <a:ext cx="4733711" cy="679264"/>
          </a:xfrm>
          <a:prstGeom prst="rect">
            <a:avLst/>
          </a:prstGeom>
        </p:spPr>
      </p:pic>
      <p:pic>
        <p:nvPicPr>
          <p:cNvPr id="30" name="Immagine 29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A380C3F8-AF6D-A024-10D3-EFE251E05E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79"/>
          <a:stretch>
            <a:fillRect/>
          </a:stretch>
        </p:blipFill>
        <p:spPr>
          <a:xfrm>
            <a:off x="7123634" y="4897350"/>
            <a:ext cx="4627470" cy="1008609"/>
          </a:xfrm>
          <a:prstGeom prst="rect">
            <a:avLst/>
          </a:prstGeom>
        </p:spPr>
      </p:pic>
      <p:pic>
        <p:nvPicPr>
          <p:cNvPr id="31" name="Immagine 30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23C36C37-6087-DC80-8154-6375C94FF7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01"/>
          <a:stretch>
            <a:fillRect/>
          </a:stretch>
        </p:blipFill>
        <p:spPr>
          <a:xfrm>
            <a:off x="6813154" y="2017989"/>
            <a:ext cx="4578447" cy="1126634"/>
          </a:xfrm>
          <a:prstGeom prst="rect">
            <a:avLst/>
          </a:prstGeom>
        </p:spPr>
      </p:pic>
      <p:pic>
        <p:nvPicPr>
          <p:cNvPr id="32" name="Immagine 31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05FBD7EB-AA86-16BC-45BD-8608A84415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682"/>
          <a:stretch>
            <a:fillRect/>
          </a:stretch>
        </p:blipFill>
        <p:spPr>
          <a:xfrm>
            <a:off x="7031421" y="4218086"/>
            <a:ext cx="4297176" cy="679264"/>
          </a:xfrm>
          <a:prstGeom prst="rect">
            <a:avLst/>
          </a:prstGeom>
        </p:spPr>
      </p:pic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C99DE9B-89BD-6F17-259B-0A54735606BB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7664E78C-1E89-24CC-12DD-6A9B27B4B155}"/>
              </a:ext>
            </a:extLst>
          </p:cNvPr>
          <p:cNvSpPr/>
          <p:nvPr/>
        </p:nvSpPr>
        <p:spPr>
          <a:xfrm>
            <a:off x="6889560" y="1217437"/>
            <a:ext cx="4797593" cy="2321410"/>
          </a:xfrm>
          <a:prstGeom prst="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75D68452-971A-077E-3300-4E4A8404943C}"/>
              </a:ext>
            </a:extLst>
          </p:cNvPr>
          <p:cNvSpPr/>
          <p:nvPr/>
        </p:nvSpPr>
        <p:spPr>
          <a:xfrm>
            <a:off x="6889559" y="4028991"/>
            <a:ext cx="4797593" cy="2321410"/>
          </a:xfrm>
          <a:prstGeom prst="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Segnaposto testo 5">
            <a:extLst>
              <a:ext uri="{FF2B5EF4-FFF2-40B4-BE49-F238E27FC236}">
                <a16:creationId xmlns:a16="http://schemas.microsoft.com/office/drawing/2014/main" id="{1DAEC4C6-884F-F59C-7C61-078055F1009E}"/>
              </a:ext>
            </a:extLst>
          </p:cNvPr>
          <p:cNvSpPr txBox="1">
            <a:spLocks/>
          </p:cNvSpPr>
          <p:nvPr/>
        </p:nvSpPr>
        <p:spPr>
          <a:xfrm>
            <a:off x="9559934" y="766213"/>
            <a:ext cx="2509208" cy="365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MATLAB  documentation 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8CD83027-1047-3C9C-1248-F3D4F3CD1F99}"/>
                  </a:ext>
                </a:extLst>
              </p:cNvPr>
              <p:cNvSpPr txBox="1"/>
              <p:nvPr/>
            </p:nvSpPr>
            <p:spPr>
              <a:xfrm>
                <a:off x="614071" y="6124805"/>
                <a:ext cx="51107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Inputs: r=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, y = q    ; parameters     b=1, c=0</a:t>
                </a:r>
              </a:p>
            </p:txBody>
          </p:sp>
        </mc:Choice>
        <mc:Fallback xmlns=""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8CD83027-1047-3C9C-1248-F3D4F3CD1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71" y="6124805"/>
                <a:ext cx="5110784" cy="369332"/>
              </a:xfrm>
              <a:prstGeom prst="rect">
                <a:avLst/>
              </a:prstGeom>
              <a:blipFill>
                <a:blip r:embed="rId5"/>
                <a:stretch>
                  <a:fillRect l="-1074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>
            <a:extLst>
              <a:ext uri="{FF2B5EF4-FFF2-40B4-BE49-F238E27FC236}">
                <a16:creationId xmlns:a16="http://schemas.microsoft.com/office/drawing/2014/main" id="{FD384728-D3EB-7409-FBBC-2AB0292917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2974" y="2173077"/>
            <a:ext cx="3083965" cy="140815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39599D27-C2F4-FF64-DA20-E04E04BBF7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2383" y="3825877"/>
            <a:ext cx="3083965" cy="13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632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6469B-06C8-AAB3-954D-F12676DC2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E011D02-1F0C-AA00-4F7A-F3517F35F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6696458" cy="840083"/>
          </a:xfrm>
        </p:spPr>
        <p:txBody>
          <a:bodyPr/>
          <a:lstStyle/>
          <a:p>
            <a:r>
              <a:rPr lang="en-US" sz="1800">
                <a:ea typeface="+mj-lt"/>
                <a:cs typeface="+mj-lt"/>
              </a:rPr>
              <a:t>Nominal </a:t>
            </a:r>
            <a:r>
              <a:rPr lang="en-US" sz="1800" u="sng">
                <a:ea typeface="+mj-lt"/>
                <a:cs typeface="+mj-lt"/>
              </a:rPr>
              <a:t>controller design </a:t>
            </a:r>
            <a:r>
              <a:rPr lang="en-US" sz="1800">
                <a:ea typeface="+mj-lt"/>
                <a:cs typeface="+mj-lt"/>
              </a:rPr>
              <a:t>for</a:t>
            </a:r>
            <a:r>
              <a:rPr lang="en-US" sz="1800" i="1">
                <a:ea typeface="+mj-lt"/>
                <a:cs typeface="+mj-lt"/>
              </a:rPr>
              <a:t> </a:t>
            </a:r>
            <a:r>
              <a:rPr lang="en-US" sz="1800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Longitudinal dynamics</a:t>
            </a:r>
            <a:endParaRPr lang="en-US" i="1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481A16-94F2-1708-52F0-324F826C68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54944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80D338F-CB50-B4AE-D98B-7BA6E2010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38</a:t>
            </a:fld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0172B6C6-6908-4E26-A09D-D501D7BBC4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31074" y="6207125"/>
            <a:ext cx="4525963" cy="282575"/>
          </a:xfrm>
        </p:spPr>
        <p:txBody>
          <a:bodyPr/>
          <a:lstStyle/>
          <a:p>
            <a:r>
              <a:rPr lang="en-US"/>
              <a:t>1 DOF testbed (Courtesy of </a:t>
            </a:r>
            <a:r>
              <a:rPr lang="en-US" err="1"/>
              <a:t>Antx.com</a:t>
            </a:r>
            <a:r>
              <a:rPr lang="en-US"/>
              <a:t>)</a:t>
            </a:r>
          </a:p>
        </p:txBody>
      </p:sp>
      <p:pic>
        <p:nvPicPr>
          <p:cNvPr id="8" name="Immagine 7" descr="Immagine che contiene giocattolo, muro, interno&#10;&#10;Il contenuto generato dall&amp;#39;IA potrebbe non essere corretto.">
            <a:extLst>
              <a:ext uri="{FF2B5EF4-FFF2-40B4-BE49-F238E27FC236}">
                <a16:creationId xmlns:a16="http://schemas.microsoft.com/office/drawing/2014/main" id="{151140B0-8C98-7579-5784-DD1F15D571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89" r="26227" b="-1"/>
          <a:stretch>
            <a:fillRect/>
          </a:stretch>
        </p:blipFill>
        <p:spPr>
          <a:xfrm>
            <a:off x="7331075" y="800100"/>
            <a:ext cx="4525963" cy="5407025"/>
          </a:xfrm>
          <a:prstGeom prst="rect">
            <a:avLst/>
          </a:prstGeom>
          <a:noFill/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679D7100-B375-7A27-4CE1-85867C1E8A96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EC6E34D6-3A7F-0F6A-1E0B-38C7CE88A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55" y="1318906"/>
            <a:ext cx="5949986" cy="5029506"/>
          </a:xfrm>
          <a:prstGeom prst="rect">
            <a:avLst/>
          </a:prstGeom>
          <a:ln>
            <a:solidFill>
              <a:srgbClr val="3B35DE"/>
            </a:solidFill>
          </a:ln>
        </p:spPr>
      </p:pic>
    </p:spTree>
    <p:extLst>
      <p:ext uri="{BB962C8B-B14F-4D97-AF65-F5344CB8AC3E}">
        <p14:creationId xmlns:p14="http://schemas.microsoft.com/office/powerpoint/2010/main" val="5653645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97ED8-46AD-0F48-15A9-92ED52065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C20C8B07-FBEE-FE7F-98AA-9A9B85599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812653"/>
            <a:ext cx="9723437" cy="698096"/>
          </a:xfrm>
        </p:spPr>
        <p:txBody>
          <a:bodyPr/>
          <a:lstStyle/>
          <a:p>
            <a:r>
              <a:rPr lang="en-US" sz="1800" noProof="0">
                <a:ea typeface="+mj-lt"/>
                <a:cs typeface="+mj-lt"/>
              </a:rPr>
              <a:t>Design requirements </a:t>
            </a:r>
            <a:r>
              <a:rPr lang="en-US" sz="1800" b="0" noProof="0">
                <a:ea typeface="+mj-lt"/>
                <a:cs typeface="+mj-lt"/>
              </a:rPr>
              <a:t>for Nominal </a:t>
            </a:r>
            <a:r>
              <a:rPr lang="en-US" sz="1800" b="0" u="sng" noProof="0">
                <a:ea typeface="+mj-lt"/>
                <a:cs typeface="+mj-lt"/>
              </a:rPr>
              <a:t>controller design </a:t>
            </a:r>
            <a:r>
              <a:rPr lang="en-US" sz="1800" b="0" noProof="0">
                <a:ea typeface="+mj-lt"/>
                <a:cs typeface="+mj-lt"/>
              </a:rPr>
              <a:t>for</a:t>
            </a:r>
            <a:r>
              <a:rPr lang="en-US" sz="1800" b="0" i="1" noProof="0">
                <a:ea typeface="+mj-lt"/>
                <a:cs typeface="+mj-lt"/>
              </a:rPr>
              <a:t> </a:t>
            </a:r>
            <a:r>
              <a:rPr lang="en-US" sz="1800" b="0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Longitudinal</a:t>
            </a:r>
            <a:r>
              <a:rPr lang="en-US" sz="1800" b="0" i="1" noProof="0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 dynamics</a:t>
            </a:r>
            <a:endParaRPr lang="en-US" b="0" i="1" noProof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444823D-735D-D2E1-5222-D3C92C623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54944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AF28914-3A14-B647-0A4A-A53DF957B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39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9AEEE1D7-ABFB-07CD-BB09-3489FFFB8A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6753" y="1492514"/>
                <a:ext cx="8676516" cy="1071782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342900" indent="-342900">
                  <a:buAutoNum type="alphaUcPeriod"/>
                </a:pPr>
                <a:r>
                  <a:rPr lang="en-US" sz="1600"/>
                  <a:t>NOMINAL PERFORMANCE </a:t>
                </a:r>
              </a:p>
              <a:p>
                <a:endParaRPr lang="en-US" sz="1600" b="0"/>
              </a:p>
              <a:p>
                <a:r>
                  <a:rPr lang="en-US" sz="1600" b="0"/>
                  <a:t>Response of </a:t>
                </a:r>
                <a:r>
                  <a:rPr lang="en-US" sz="1600" b="0" err="1"/>
                  <a:t>th</a:t>
                </a:r>
                <a:r>
                  <a:rPr lang="en-US" sz="1600" b="0"/>
                  <a:t> to variations in th0: </a:t>
                </a:r>
              </a:p>
              <a:p>
                <a:r>
                  <a:rPr lang="en-US" sz="1600" b="0"/>
                  <a:t>equivalent to a second-order response with:</a:t>
                </a:r>
              </a:p>
              <a:p>
                <a:endParaRPr lang="en-US" sz="1600" b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b="0"/>
                  <a:t> ≥ 10 𝑟𝑎𝑑/𝑠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sz="1600" b="0"/>
                  <a:t> 𝜉 ≥ 0.9. </a:t>
                </a:r>
              </a:p>
              <a:p>
                <a:pPr marL="285750" indent="-285750">
                  <a:buFontTx/>
                  <a:buChar char="-"/>
                </a:pPr>
                <a:endParaRPr lang="en-US" sz="1600" b="0"/>
              </a:p>
              <a:p>
                <a:endParaRPr lang="en-US" sz="1800" b="0" noProof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9AEEE1D7-ABFB-07CD-BB09-3489FFFB8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53" y="1492514"/>
                <a:ext cx="8676516" cy="1071782"/>
              </a:xfrm>
              <a:prstGeom prst="rect">
                <a:avLst/>
              </a:prstGeom>
              <a:blipFill>
                <a:blip r:embed="rId2"/>
                <a:stretch>
                  <a:fillRect l="-1404" t="-6818" b="-698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magine 13" descr="Immagine che contiene linea, Diagramm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88D7C512-4124-775E-D9BE-32C12295B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211" y="1518747"/>
            <a:ext cx="5157428" cy="41175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0169A0F0-5732-9331-4F30-2BD9B6261FFE}"/>
                  </a:ext>
                </a:extLst>
              </p:cNvPr>
              <p:cNvSpPr txBox="1"/>
              <p:nvPr/>
            </p:nvSpPr>
            <p:spPr>
              <a:xfrm>
                <a:off x="3624847" y="2607581"/>
                <a:ext cx="2600327" cy="11666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0169A0F0-5732-9331-4F30-2BD9B6261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4847" y="2607581"/>
                <a:ext cx="2600327" cy="1166601"/>
              </a:xfrm>
              <a:prstGeom prst="rect">
                <a:avLst/>
              </a:prstGeom>
              <a:blipFill>
                <a:blip r:embed="rId4"/>
                <a:stretch>
                  <a:fillRect b="-8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54B8C160-5972-D9B8-000B-5997242279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8422" y="3577524"/>
                <a:ext cx="8676516" cy="1678192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1600" b="0"/>
              </a:p>
              <a:p>
                <a:pPr marL="285750" indent="-285750">
                  <a:buFontTx/>
                  <a:buChar char="-"/>
                </a:pPr>
                <a:endParaRPr lang="en-US" sz="1600" b="0"/>
              </a:p>
              <a:p>
                <a:pPr marL="285750" indent="-285750">
                  <a:buFontTx/>
                  <a:buChar char="-"/>
                </a:pPr>
                <a:r>
                  <a:rPr lang="en-US" sz="1600" b="0"/>
                  <a:t>DC gain: 0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sz="1600" b="0"/>
                  <a:t>Crossover frequency: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≃7.07</m:t>
                    </m:r>
                  </m:oMath>
                </a14:m>
                <a:r>
                  <a:rPr lang="en-US" sz="1600" b="0"/>
                  <a:t> rad/s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sz="1600" b="0"/>
                  <a:t>Peak: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endChr m:val="|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13.29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𝑟𝑎𝑑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b="0"/>
                  <a:t>1.18</a:t>
                </a:r>
              </a:p>
              <a:p>
                <a:pPr marL="285750" indent="-285750">
                  <a:buFontTx/>
                  <a:buChar char="-"/>
                </a:pPr>
                <a:endParaRPr lang="en-US" sz="1600" b="0"/>
              </a:p>
              <a:p>
                <a:endParaRPr lang="en-US" sz="1800" b="0" noProof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54B8C160-5972-D9B8-000B-599724227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422" y="3577524"/>
                <a:ext cx="8676516" cy="1678192"/>
              </a:xfrm>
              <a:prstGeom prst="rect">
                <a:avLst/>
              </a:prstGeom>
              <a:blipFill>
                <a:blip r:embed="rId5"/>
                <a:stretch>
                  <a:fillRect l="-1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BCF94B5B-6157-973E-E713-80D80082F8AE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E2BE604-69DF-57A4-0F39-8C348D87B9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14" y="4975031"/>
            <a:ext cx="5434951" cy="1715856"/>
          </a:xfrm>
          <a:prstGeom prst="rect">
            <a:avLst/>
          </a:prstGeom>
          <a:ln>
            <a:solidFill>
              <a:srgbClr val="3B35DE"/>
            </a:solidFill>
          </a:ln>
        </p:spPr>
      </p:pic>
    </p:spTree>
    <p:extLst>
      <p:ext uri="{BB962C8B-B14F-4D97-AF65-F5344CB8AC3E}">
        <p14:creationId xmlns:p14="http://schemas.microsoft.com/office/powerpoint/2010/main" val="13503531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8BB64-CE59-67F5-B1F7-FA0139DB7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5F7A8D3-D763-D73D-F9E1-C977B108F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812653"/>
            <a:ext cx="9723437" cy="698096"/>
          </a:xfrm>
        </p:spPr>
        <p:txBody>
          <a:bodyPr/>
          <a:lstStyle/>
          <a:p>
            <a:r>
              <a:rPr lang="en-US" sz="1800" noProof="0">
                <a:ea typeface="+mj-lt"/>
                <a:cs typeface="+mj-lt"/>
              </a:rPr>
              <a:t>Design requirements </a:t>
            </a:r>
            <a:r>
              <a:rPr lang="en-US" sz="1800" b="0" noProof="0">
                <a:ea typeface="+mj-lt"/>
                <a:cs typeface="+mj-lt"/>
              </a:rPr>
              <a:t>for Nominal </a:t>
            </a:r>
            <a:r>
              <a:rPr lang="en-US" sz="1800" b="0" u="sng" noProof="0">
                <a:ea typeface="+mj-lt"/>
                <a:cs typeface="+mj-lt"/>
              </a:rPr>
              <a:t>controller design </a:t>
            </a:r>
            <a:r>
              <a:rPr lang="en-US" sz="1800" b="0" noProof="0">
                <a:ea typeface="+mj-lt"/>
                <a:cs typeface="+mj-lt"/>
              </a:rPr>
              <a:t>for</a:t>
            </a:r>
            <a:r>
              <a:rPr lang="en-US" sz="1800" b="0" i="1" noProof="0">
                <a:ea typeface="+mj-lt"/>
                <a:cs typeface="+mj-lt"/>
              </a:rPr>
              <a:t> </a:t>
            </a:r>
            <a:r>
              <a:rPr lang="en-US" sz="1800" b="0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Longitudinal</a:t>
            </a:r>
            <a:r>
              <a:rPr lang="en-US" sz="1800" b="0" i="1" noProof="0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 dynamics</a:t>
            </a:r>
            <a:endParaRPr lang="en-US" b="0" i="1" noProof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C738F72-BADC-6553-EA20-53ABA906B8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54944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1EC6819-D73A-6D2D-D020-D4B5004C9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40</a:t>
            </a:fld>
            <a:endParaRPr lang="en-US"/>
          </a:p>
        </p:txBody>
      </p:sp>
      <p:pic>
        <p:nvPicPr>
          <p:cNvPr id="16" name="Immagine 15" descr="Immagine che contiene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FE4A7F1E-A518-CCF4-6288-9A85DADE2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842" y="2013758"/>
            <a:ext cx="4800264" cy="383240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319756B-BF67-09C4-7ADE-6E299432769D}"/>
              </a:ext>
            </a:extLst>
          </p:cNvPr>
          <p:cNvSpPr txBox="1"/>
          <p:nvPr/>
        </p:nvSpPr>
        <p:spPr>
          <a:xfrm>
            <a:off x="599606" y="1768839"/>
            <a:ext cx="5951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/>
              <a:t>Mapping of the dynamic performance requirements in terms of desired step response:</a:t>
            </a:r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7A5BEE83-442A-90DB-C9E9-96E900F30501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48BBF192-3AB2-D02A-48E0-60E07C7C2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40" y="2501592"/>
            <a:ext cx="5276404" cy="646330"/>
          </a:xfrm>
          <a:prstGeom prst="rect">
            <a:avLst/>
          </a:prstGeom>
          <a:ln>
            <a:solidFill>
              <a:srgbClr val="3B35DE"/>
            </a:solidFill>
          </a:ln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1FB30750-1A08-02D6-E498-128BEB41E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564" y="3429000"/>
            <a:ext cx="3943900" cy="1390844"/>
          </a:xfrm>
          <a:prstGeom prst="rect">
            <a:avLst/>
          </a:prstGeom>
          <a:ln>
            <a:solidFill>
              <a:srgbClr val="3B35DE"/>
            </a:solidFill>
          </a:ln>
        </p:spPr>
      </p:pic>
    </p:spTree>
    <p:extLst>
      <p:ext uri="{BB962C8B-B14F-4D97-AF65-F5344CB8AC3E}">
        <p14:creationId xmlns:p14="http://schemas.microsoft.com/office/powerpoint/2010/main" val="22280210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C7561-1939-ED3E-25A8-A3459C39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0C5C420-4CAD-680B-AECF-D31836F30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812653"/>
            <a:ext cx="9723437" cy="698096"/>
          </a:xfrm>
        </p:spPr>
        <p:txBody>
          <a:bodyPr/>
          <a:lstStyle/>
          <a:p>
            <a:r>
              <a:rPr lang="en-US" sz="1800" noProof="0">
                <a:ea typeface="+mj-lt"/>
                <a:cs typeface="+mj-lt"/>
              </a:rPr>
              <a:t>Design requirements </a:t>
            </a:r>
            <a:r>
              <a:rPr lang="en-US" sz="1800" b="0" noProof="0">
                <a:ea typeface="+mj-lt"/>
                <a:cs typeface="+mj-lt"/>
              </a:rPr>
              <a:t>for Nominal </a:t>
            </a:r>
            <a:r>
              <a:rPr lang="en-US" sz="1800" b="0" u="sng" noProof="0">
                <a:ea typeface="+mj-lt"/>
                <a:cs typeface="+mj-lt"/>
              </a:rPr>
              <a:t>controller design </a:t>
            </a:r>
            <a:r>
              <a:rPr lang="en-US" sz="1800" b="0" noProof="0">
                <a:ea typeface="+mj-lt"/>
                <a:cs typeface="+mj-lt"/>
              </a:rPr>
              <a:t>for</a:t>
            </a:r>
            <a:r>
              <a:rPr lang="en-US" sz="1800" b="0" i="1" noProof="0">
                <a:ea typeface="+mj-lt"/>
                <a:cs typeface="+mj-lt"/>
              </a:rPr>
              <a:t> </a:t>
            </a:r>
            <a:r>
              <a:rPr lang="en-US" sz="1800" b="0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Longitudinal</a:t>
            </a:r>
            <a:r>
              <a:rPr lang="en-US" sz="1800" b="0" i="1" noProof="0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 dynamics</a:t>
            </a:r>
            <a:endParaRPr lang="en-US" b="0" i="1" noProof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BDA2A6E-99DD-BFDA-DF07-1B473B5D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54944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68466A9-9553-C9A7-B884-082BE1D92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41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61037579-929A-0CC0-FE9B-DA3A86B3426A}"/>
                  </a:ext>
                </a:extLst>
              </p:cNvPr>
              <p:cNvSpPr txBox="1"/>
              <p:nvPr/>
            </p:nvSpPr>
            <p:spPr>
              <a:xfrm>
                <a:off x="579619" y="1275126"/>
                <a:ext cx="7030387" cy="3038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noProof="0"/>
                  <a:t>Design of a </a:t>
                </a:r>
                <a:r>
                  <a:rPr lang="en-US" b="1" noProof="0"/>
                  <a:t>performance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it-IT" b="1" i="1" noProof="0" smtClean="0"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noProof="0"/>
                  <a:t> </a:t>
                </a:r>
                <a:r>
                  <a:rPr lang="en-US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noProof="0"/>
                  <a:t> controller design </a:t>
                </a:r>
                <a:r>
                  <a:rPr lang="en-US" noProof="0" err="1"/>
                  <a:t>s.t.</a:t>
                </a:r>
                <a:r>
                  <a:rPr lang="en-US" noProof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it-IT" b="0" i="1" noProof="0" smtClean="0">
                                    <a:latin typeface="Cambria Math" panose="02040503050406030204" pitchFamily="18" charset="0"/>
                                  </a:rPr>
                                  <m:t>𝑡h</m:t>
                                </m:r>
                              </m:sub>
                            </m:sSub>
                          </m:e>
                        </m:acc>
                        <m:d>
                          <m:d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it-IT" b="0" i="1" noProof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𝑙𝑜𝑛</m:t>
                            </m:r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)|</m:t>
                        </m:r>
                      </m:den>
                    </m:f>
                  </m:oMath>
                </a14:m>
                <a:r>
                  <a:rPr lang="en-US" noProof="0"/>
                  <a:t>. Selected as n=1 order:</a:t>
                </a:r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𝑜𝑛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𝑙𝑜𝑛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/>
              </a:p>
              <a:p>
                <a:r>
                  <a:rPr lang="en-US"/>
                  <a:t> </a:t>
                </a:r>
                <a:r>
                  <a:rPr lang="en-US" err="1"/>
                  <a:t>s.t.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𝑙𝑜𝑛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has:</a:t>
                </a:r>
              </a:p>
              <a:p>
                <a:r>
                  <a:rPr lang="en-US" noProof="0"/>
                  <a:t>-   DC gain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it-IT" b="0" i="1" noProof="0" smtClean="0">
                            <a:latin typeface="Cambria Math" panose="02040503050406030204" pitchFamily="18" charset="0"/>
                          </a:rPr>
                          <m:t>𝑜𝑛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b="0" noProof="0"/>
              </a:p>
              <a:p>
                <a:r>
                  <a:rPr lang="en-US" noProof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noProof="0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𝑙𝑜𝑛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it-IT" b="0" i="0" noProof="0" smtClean="0"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nor/>
                      </m:rPr>
                      <a:rPr lang="en-US" smtClean="0"/>
                      <m:t>.</m:t>
                    </m:r>
                    <m:r>
                      <m:rPr>
                        <m:nor/>
                      </m:rPr>
                      <a:rPr lang="it-IT" b="0" i="0" smtClean="0"/>
                      <m:t>71752</m:t>
                    </m:r>
                  </m:oMath>
                </a14:m>
                <a:r>
                  <a:rPr lang="en-US"/>
                  <a:t> rad/s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/>
                  <a:t>HF gain: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𝑜𝑛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mtClean="0"/>
                      <m:t>1.</m:t>
                    </m:r>
                    <m:r>
                      <m:rPr>
                        <m:nor/>
                      </m:rPr>
                      <a:rPr lang="it-IT" b="0" i="0" smtClean="0"/>
                      <m:t>71</m:t>
                    </m:r>
                    <m:r>
                      <m:rPr>
                        <m:nor/>
                      </m:rPr>
                      <a:rPr lang="en-US" smtClean="0"/>
                      <m:t>65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61037579-929A-0CC0-FE9B-DA3A86B34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9" y="1275126"/>
                <a:ext cx="7030387" cy="3038139"/>
              </a:xfrm>
              <a:prstGeom prst="rect">
                <a:avLst/>
              </a:prstGeom>
              <a:blipFill>
                <a:blip r:embed="rId2"/>
                <a:stretch>
                  <a:fillRect l="-694" t="-1002" b="-2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97E500F2-DB9A-023E-F570-77177B22D1B7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EB231932-AB9C-5E06-D2F0-E643D2A9D7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739" y="5796752"/>
            <a:ext cx="3931516" cy="387576"/>
          </a:xfrm>
          <a:ln>
            <a:solidFill>
              <a:srgbClr val="102C5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1050"/>
              <a:t>When imposing weight functions, makeweight allows for better</a:t>
            </a:r>
          </a:p>
          <a:p>
            <a:pPr algn="ctr"/>
            <a:r>
              <a:rPr lang="en-US" sz="1050"/>
              <a:t>crossover frequency control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F6725E7-4C84-E949-02AA-55044F303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405" y="5441106"/>
            <a:ext cx="7030387" cy="1098868"/>
          </a:xfrm>
          <a:prstGeom prst="rect">
            <a:avLst/>
          </a:prstGeom>
          <a:ln>
            <a:solidFill>
              <a:srgbClr val="3B35DE"/>
            </a:solidFill>
          </a:ln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50D01BCA-CFA6-EDF1-3AE5-0C3D6409F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094" y="1161701"/>
            <a:ext cx="4345944" cy="400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2055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E99ED-B7FF-7E4C-F687-87DF2A9F9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CCDF7EC-3CB7-6935-F7E6-8C6DB35AD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812653"/>
            <a:ext cx="9723437" cy="698096"/>
          </a:xfrm>
        </p:spPr>
        <p:txBody>
          <a:bodyPr/>
          <a:lstStyle/>
          <a:p>
            <a:r>
              <a:rPr lang="en-US" sz="1800" noProof="0">
                <a:ea typeface="+mj-lt"/>
                <a:cs typeface="+mj-lt"/>
              </a:rPr>
              <a:t>Design requirements </a:t>
            </a:r>
            <a:r>
              <a:rPr lang="en-US" sz="1800" b="0" noProof="0">
                <a:ea typeface="+mj-lt"/>
                <a:cs typeface="+mj-lt"/>
              </a:rPr>
              <a:t>for Nominal </a:t>
            </a:r>
            <a:r>
              <a:rPr lang="en-US" sz="1800" b="0" u="sng" noProof="0">
                <a:ea typeface="+mj-lt"/>
                <a:cs typeface="+mj-lt"/>
              </a:rPr>
              <a:t>controller design </a:t>
            </a:r>
            <a:r>
              <a:rPr lang="en-US" sz="1800" b="0" noProof="0">
                <a:ea typeface="+mj-lt"/>
                <a:cs typeface="+mj-lt"/>
              </a:rPr>
              <a:t>for</a:t>
            </a:r>
            <a:r>
              <a:rPr lang="en-US" sz="1800" b="0" i="1" noProof="0">
                <a:ea typeface="+mj-lt"/>
                <a:cs typeface="+mj-lt"/>
              </a:rPr>
              <a:t> </a:t>
            </a:r>
            <a:r>
              <a:rPr lang="en-US" sz="1800" b="0" i="1" noProof="0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Longitudinal dynamics</a:t>
            </a:r>
            <a:endParaRPr lang="en-US" b="0" i="1" noProof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25423C7-1688-3CD2-9127-E8AB11B41E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54944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0F754B6-EBD3-69A1-152F-19C9D39A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42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1EA5DFFE-C89E-78FA-DD95-D88939BF69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CB8A389F-34C8-61C4-7869-B624CFB75F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6753" y="1492513"/>
                <a:ext cx="10460998" cy="98086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342900" indent="-342900">
                  <a:buAutoNum type="alphaUcPeriod" startAt="2"/>
                </a:pPr>
                <a:r>
                  <a:rPr lang="en-US" sz="1600" noProof="0"/>
                  <a:t>CONTROL EFFORT LIMITATION </a:t>
                </a:r>
              </a:p>
              <a:p>
                <a:pPr marL="342900" indent="-342900">
                  <a:buAutoNum type="alphaUcPeriod" startAt="2"/>
                </a:pPr>
                <a:endParaRPr lang="en-US" sz="1600" b="0" noProof="0"/>
              </a:p>
              <a:p>
                <a:r>
                  <a:rPr lang="en-US" sz="1600" b="0" noProof="0"/>
                  <a:t>Control effort limitation: </a:t>
                </a:r>
                <a14:m>
                  <m:oMath xmlns:m="http://schemas.openxmlformats.org/officeDocument/2006/math"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it-IT" sz="1600" b="0" i="1" noProof="0" smtClean="0">
                            <a:latin typeface="Cambria Math" panose="02040503050406030204" pitchFamily="18" charset="0"/>
                          </a:rPr>
                          <m:t>𝑜𝑛</m:t>
                        </m:r>
                      </m:sub>
                    </m:sSub>
                    <m:r>
                      <a:rPr lang="en-US" sz="1600" b="0" i="1" noProof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1600" b="0" noProof="0"/>
                  <a:t> ≤ 0.05 for the doublet change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sz="1600" b="0" i="1" noProof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b="0" noProof="0"/>
                  <a:t>  with 10 ° amplitude given by (in deg):</a:t>
                </a:r>
              </a:p>
            </p:txBody>
          </p:sp>
        </mc:Choice>
        <mc:Fallback xmlns="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CB8A389F-34C8-61C4-7869-B624CFB75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53" y="1492513"/>
                <a:ext cx="10460998" cy="980863"/>
              </a:xfrm>
              <a:prstGeom prst="rect">
                <a:avLst/>
              </a:prstGeom>
              <a:blipFill>
                <a:blip r:embed="rId2"/>
                <a:stretch>
                  <a:fillRect l="-1166" t="-7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magine 16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1724E726-AD2E-F19D-5695-4DF16B4612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657" y="2494620"/>
            <a:ext cx="4825522" cy="3853792"/>
          </a:xfrm>
          <a:prstGeom prst="rect">
            <a:avLst/>
          </a:prstGeom>
        </p:spPr>
      </p:pic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1BDCDDBF-7288-595A-30B8-D76D709DF2C6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27120389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9E822-A4E9-0098-E4A6-7E181F335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B84AB80-CA83-EB10-F3A0-3D65EFC09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812653"/>
            <a:ext cx="9723437" cy="698096"/>
          </a:xfrm>
        </p:spPr>
        <p:txBody>
          <a:bodyPr/>
          <a:lstStyle/>
          <a:p>
            <a:r>
              <a:rPr lang="en-US" sz="1800" noProof="0">
                <a:ea typeface="+mj-lt"/>
                <a:cs typeface="+mj-lt"/>
              </a:rPr>
              <a:t>Design requirements </a:t>
            </a:r>
            <a:r>
              <a:rPr lang="en-US" sz="1800" b="0" noProof="0">
                <a:ea typeface="+mj-lt"/>
                <a:cs typeface="+mj-lt"/>
              </a:rPr>
              <a:t>for Nominal </a:t>
            </a:r>
            <a:r>
              <a:rPr lang="en-US" sz="1800" b="0" u="sng" noProof="0">
                <a:ea typeface="+mj-lt"/>
                <a:cs typeface="+mj-lt"/>
              </a:rPr>
              <a:t>controller design </a:t>
            </a:r>
            <a:r>
              <a:rPr lang="en-US" sz="1800" b="0" noProof="0">
                <a:ea typeface="+mj-lt"/>
                <a:cs typeface="+mj-lt"/>
              </a:rPr>
              <a:t>for</a:t>
            </a:r>
            <a:r>
              <a:rPr lang="en-US" sz="1800" b="0" i="1" noProof="0">
                <a:ea typeface="+mj-lt"/>
                <a:cs typeface="+mj-lt"/>
              </a:rPr>
              <a:t> </a:t>
            </a:r>
            <a:r>
              <a:rPr lang="en-US" sz="1800" b="0" i="1" noProof="0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Longitudinal dynamics</a:t>
            </a:r>
            <a:endParaRPr lang="en-US" b="0" i="1" noProof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E0C2F49-4433-A17D-FEE9-51034B6D5C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2" y="54944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4C73F21C-AB5D-4C24-8CBA-4C4AFA0A4EF2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CF03770-9FDE-BBC0-B7DF-33357A06C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43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3A419E9-BAA8-E8F7-AF97-7A5C90069887}"/>
              </a:ext>
            </a:extLst>
          </p:cNvPr>
          <p:cNvSpPr txBox="1">
            <a:spLocks/>
          </p:cNvSpPr>
          <p:nvPr/>
        </p:nvSpPr>
        <p:spPr>
          <a:xfrm>
            <a:off x="586753" y="1492513"/>
            <a:ext cx="10460998" cy="403885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600" b="0" noProof="0"/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2C46D05F-2BB9-905D-1FFC-3AEAFA26F2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6486" y="1093478"/>
            <a:ext cx="5088828" cy="3816621"/>
          </a:xfrm>
          <a:prstGeom prst="rect">
            <a:avLst/>
          </a:prstGeom>
        </p:spPr>
      </p:pic>
      <p:cxnSp>
        <p:nvCxnSpPr>
          <p:cNvPr id="14" name="Connettore dritto 13">
            <a:extLst>
              <a:ext uri="{FF2B5EF4-FFF2-40B4-BE49-F238E27FC236}">
                <a16:creationId xmlns:a16="http://schemas.microsoft.com/office/drawing/2014/main" id="{5E5CE0E3-6897-D565-3724-746E2F7564DA}"/>
              </a:ext>
            </a:extLst>
          </p:cNvPr>
          <p:cNvCxnSpPr>
            <a:cxnSpLocks/>
          </p:cNvCxnSpPr>
          <p:nvPr/>
        </p:nvCxnSpPr>
        <p:spPr>
          <a:xfrm>
            <a:off x="7749806" y="3599564"/>
            <a:ext cx="385216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3FB6E38-7ACA-3C0C-3D67-7EDC6EFBE7C3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160EA9CE-467E-565C-93BE-2F4639B1C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7685" y="5272776"/>
            <a:ext cx="3589331" cy="807790"/>
          </a:xfrm>
          <a:prstGeom prst="rect">
            <a:avLst/>
          </a:prstGeom>
          <a:ln>
            <a:solidFill>
              <a:srgbClr val="0070C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B9C5CD99-ADB1-81DF-3A1F-93B845657B96}"/>
                  </a:ext>
                </a:extLst>
              </p:cNvPr>
              <p:cNvSpPr txBox="1"/>
              <p:nvPr/>
            </p:nvSpPr>
            <p:spPr>
              <a:xfrm>
                <a:off x="349863" y="1406446"/>
                <a:ext cx="6981212" cy="54127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noProof="0"/>
                  <a:t>Design of a </a:t>
                </a:r>
                <a:r>
                  <a:rPr lang="en-US" b="1" noProof="0"/>
                  <a:t>control sensitivity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it-IT" b="1" i="1" noProof="0" smtClean="0"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noProof="0"/>
                  <a:t> </a:t>
                </a:r>
                <a:r>
                  <a:rPr lang="en-US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noProof="0"/>
                  <a:t> controller design </a:t>
                </a:r>
                <a:r>
                  <a:rPr lang="en-US" noProof="0" err="1"/>
                  <a:t>s.t.</a:t>
                </a:r>
                <a:r>
                  <a:rPr lang="en-US" noProof="0"/>
                  <a:t> </a:t>
                </a:r>
                <a:r>
                  <a:rPr lang="en-US"/>
                  <a:t>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noProof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noProof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noProof="0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noProof="0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it-IT" b="0" i="1" noProof="0" dirty="0" smtClean="0">
                                <a:latin typeface="Cambria Math" panose="02040503050406030204" pitchFamily="18" charset="0"/>
                              </a:rPr>
                              <m:t>𝑜𝑛</m:t>
                            </m:r>
                          </m:sub>
                        </m:sSub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𝑙𝑜𝑛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)|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/>
                  <a:t> Selected as n=1 order: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𝑙𝑜𝑛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pPr marL="285750" indent="-285750">
                  <a:buFontTx/>
                  <a:buChar char="-"/>
                </a:pPr>
                <a:r>
                  <a:rPr lang="en-US"/>
                  <a:t>Choice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/>
                  <a:t> 30 rad/s</a:t>
                </a:r>
              </a:p>
              <a:p>
                <a:pPr marL="285750" indent="-285750">
                  <a:buFontTx/>
                  <a:buChar char="-"/>
                </a:pPr>
                <a:endParaRPr lang="en-US"/>
              </a:p>
              <a:p>
                <a:pPr marL="285750" indent="-285750">
                  <a:buFontTx/>
                  <a:buChar char="-"/>
                </a:pPr>
                <a:r>
                  <a:rPr lang="en-US"/>
                  <a:t>Choice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/>
                  <a:t>    consider an equivalent step of magnitude A= 20° and consider peak control effort at t=0. For the IVT, then</a:t>
                </a:r>
              </a:p>
              <a:p>
                <a:pPr algn="just"/>
                <a:endParaRPr lang="en-US"/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𝑜𝑛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𝑙𝑜𝑛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𝑜𝑛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a:rPr lang="en-US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a:rPr lang="en-US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a:rPr lang="en-US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/>
                  <a:t> </a:t>
                </a:r>
              </a:p>
              <a:p>
                <a:endParaRPr lang="en-US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𝑜𝑛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20°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180°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/0.05=</m:t>
                    </m:r>
                  </m:oMath>
                </a14:m>
                <a:r>
                  <a:rPr lang="en-US"/>
                  <a:t> 6.9813  </a:t>
                </a:r>
              </a:p>
              <a:p>
                <a:pPr marL="285750" indent="-285750">
                  <a:buFont typeface="Wingdings" pitchFamily="2" charset="2"/>
                  <a:buChar char="è"/>
                </a:pPr>
                <a:r>
                  <a:rPr lang="en-US"/>
                  <a:t>-&gt; relaxed control constraint: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it-IT" b="0" i="0" smtClean="0"/>
                      <m:t>5.1713</m:t>
                    </m:r>
                  </m:oMath>
                </a14:m>
                <a:r>
                  <a:rPr lang="en-US"/>
                  <a:t>.</a:t>
                </a:r>
              </a:p>
              <a:p>
                <a:pPr marL="285750" indent="-285750">
                  <a:buFont typeface="Wingdings" pitchFamily="2" charset="2"/>
                  <a:buChar char="è"/>
                </a:pP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B9C5CD99-ADB1-81DF-3A1F-93B845657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63" y="1406446"/>
                <a:ext cx="6981212" cy="5412764"/>
              </a:xfrm>
              <a:prstGeom prst="rect">
                <a:avLst/>
              </a:prstGeom>
              <a:blipFill>
                <a:blip r:embed="rId4"/>
                <a:stretch>
                  <a:fillRect l="-698" t="-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17079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E85E9-F6A3-FA6E-C38C-1D11C2246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231D5F-79F8-A820-A672-BC05B9B7B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163688" cy="840083"/>
          </a:xfrm>
        </p:spPr>
        <p:txBody>
          <a:bodyPr/>
          <a:lstStyle/>
          <a:p>
            <a:r>
              <a:rPr lang="en-US"/>
              <a:t>Mixed-sensitivity synthesis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AB07DD0-4078-E089-21AD-A007136E5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C7EA7E6-A685-BDDD-464B-444393E66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70FFFF08-93EB-7961-410C-6655FC20F9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2" y="2060575"/>
            <a:ext cx="2479489" cy="4429125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Define augmented plant</a:t>
            </a:r>
          </a:p>
          <a:p>
            <a:pPr marL="342900" indent="-342900">
              <a:buAutoNum type="arabicPeriod"/>
            </a:pPr>
            <a:r>
              <a:rPr lang="en-US"/>
              <a:t>Optimization problem</a:t>
            </a:r>
          </a:p>
          <a:p>
            <a:endParaRPr lang="en-US"/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6F58322F-4F5D-0023-4C24-3F1ED444E3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16275" y="1474402"/>
            <a:ext cx="8640763" cy="5015298"/>
          </a:xfrm>
        </p:spPr>
        <p:txBody>
          <a:bodyPr>
            <a:normAutofit/>
          </a:bodyPr>
          <a:lstStyle/>
          <a:p>
            <a:pPr algn="ctr"/>
            <a:endParaRPr lang="en-US" b="0" i="1">
              <a:latin typeface="Cambria Math" panose="02040503050406030204" pitchFamily="18" charset="0"/>
            </a:endParaRPr>
          </a:p>
          <a:p>
            <a:pPr algn="just"/>
            <a:r>
              <a:rPr lang="en-US" b="1"/>
              <a:t>1) </a:t>
            </a: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Augmented plant</a:t>
            </a:r>
            <a:r>
              <a:rPr lang="en-US" b="1"/>
              <a:t>:</a:t>
            </a:r>
          </a:p>
          <a:p>
            <a:pPr marL="342900" indent="-342900" algn="just">
              <a:buAutoNum type="arabicPeriod"/>
            </a:pPr>
            <a:endParaRPr lang="en-US" b="1"/>
          </a:p>
          <a:p>
            <a:pPr marL="342900" indent="-342900" algn="just">
              <a:buAutoNum type="arabicPeriod"/>
            </a:pPr>
            <a:endParaRPr lang="en-US" b="1"/>
          </a:p>
          <a:p>
            <a:pPr marL="342900" indent="-342900" algn="just">
              <a:buAutoNum type="arabicPeriod"/>
            </a:pPr>
            <a:endParaRPr lang="en-US" b="1"/>
          </a:p>
          <a:p>
            <a:pPr marL="342900" indent="-342900" algn="just">
              <a:buAutoNum type="arabicPeriod"/>
            </a:pPr>
            <a:endParaRPr lang="en-US" b="1"/>
          </a:p>
          <a:p>
            <a:pPr algn="just"/>
            <a:endParaRPr lang="en-US" b="1"/>
          </a:p>
          <a:p>
            <a:pPr algn="just"/>
            <a:endParaRPr lang="en-US" b="1"/>
          </a:p>
          <a:p>
            <a:pPr algn="just"/>
            <a:endParaRPr lang="en-US" b="1"/>
          </a:p>
          <a:p>
            <a:pPr algn="just"/>
            <a:endParaRPr lang="en-US" b="1"/>
          </a:p>
          <a:p>
            <a:pPr algn="just"/>
            <a:endParaRPr lang="en-US" b="1"/>
          </a:p>
          <a:p>
            <a:pPr algn="just"/>
            <a:endParaRPr lang="en-US" b="1"/>
          </a:p>
          <a:p>
            <a:pPr algn="just"/>
            <a:endParaRPr lang="en-US" b="1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CE90C18-26B9-6E9D-DA19-E9C2677EEDD1}"/>
              </a:ext>
            </a:extLst>
          </p:cNvPr>
          <p:cNvSpPr txBox="1">
            <a:spLocks/>
          </p:cNvSpPr>
          <p:nvPr/>
        </p:nvSpPr>
        <p:spPr>
          <a:xfrm>
            <a:off x="3452917" y="806676"/>
            <a:ext cx="840412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>
                <a:ea typeface="+mj-lt"/>
                <a:cs typeface="+mj-lt"/>
              </a:rPr>
              <a:t>Mixed-sensitivity synthesis </a:t>
            </a:r>
            <a:r>
              <a:rPr lang="en-US" sz="1800" b="0">
                <a:ea typeface="+mj-lt"/>
                <a:cs typeface="+mj-lt"/>
              </a:rPr>
              <a:t>for Nominal </a:t>
            </a:r>
            <a:r>
              <a:rPr lang="en-US" sz="1800" b="0" u="sng">
                <a:ea typeface="+mj-lt"/>
                <a:cs typeface="+mj-lt"/>
              </a:rPr>
              <a:t>controller design </a:t>
            </a:r>
            <a:r>
              <a:rPr lang="en-US" sz="1800" b="0">
                <a:ea typeface="+mj-lt"/>
                <a:cs typeface="+mj-lt"/>
              </a:rPr>
              <a:t>for</a:t>
            </a:r>
            <a:r>
              <a:rPr lang="en-US" sz="1800" b="0" i="1">
                <a:ea typeface="+mj-lt"/>
                <a:cs typeface="+mj-lt"/>
              </a:rPr>
              <a:t> </a:t>
            </a:r>
            <a:r>
              <a:rPr lang="en-US" sz="1800" b="0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Longitudinal dynamics</a:t>
            </a:r>
            <a:endParaRPr lang="en-US" b="0" i="1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505F9A6C-3AF1-DF94-9C84-BE237561B5A5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678A1D3-9D60-C0D4-0DA6-250B707DA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69"/>
          <a:stretch>
            <a:fillRect/>
          </a:stretch>
        </p:blipFill>
        <p:spPr>
          <a:xfrm>
            <a:off x="4375681" y="1509182"/>
            <a:ext cx="7717998" cy="309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6802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E8169-BD9E-5398-4A00-138E2EE0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359AF5-3BD1-E113-4C02-EE9EB9E8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163688" cy="840083"/>
          </a:xfrm>
        </p:spPr>
        <p:txBody>
          <a:bodyPr/>
          <a:lstStyle/>
          <a:p>
            <a:r>
              <a:rPr lang="en-US"/>
              <a:t>Mixed-sensitivity synthesis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454ED24-4BAD-373E-3C74-EE04FA3E8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33C8452-8101-846D-DF9A-40B5D2A08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12B21F7F-9806-6E2E-EDF6-3830A2975A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526990" cy="4429125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/>
              <a:t>Define augmented plant</a:t>
            </a: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Optimization problem</a:t>
            </a:r>
          </a:p>
          <a:p>
            <a:endParaRPr lang="en-US"/>
          </a:p>
          <a:p>
            <a:pPr marL="342900" indent="-342900">
              <a:buAutoNum type="arabicPeriod"/>
            </a:pP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CC877F91-1BCB-E544-FD44-FBEC075BD968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</p:spPr>
            <p:txBody>
              <a:bodyPr>
                <a:normAutofit lnSpcReduction="10000"/>
              </a:bodyPr>
              <a:lstStyle/>
              <a:p>
                <a:pPr algn="ctr"/>
                <a:endParaRPr lang="en-US" b="0" i="1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b="1"/>
                  <a:t>1) Augmented plant:</a:t>
                </a:r>
              </a:p>
              <a:p>
                <a:pPr marL="342900" indent="-342900" algn="just">
                  <a:buAutoNum type="arabicPeriod"/>
                </a:pPr>
                <a:endParaRPr lang="en-US" b="1"/>
              </a:p>
              <a:p>
                <a:pPr marL="342900" indent="-342900" algn="just">
                  <a:buAutoNum type="arabicPeriod"/>
                </a:pPr>
                <a:endParaRPr lang="en-US" b="1"/>
              </a:p>
              <a:p>
                <a:pPr marL="342900" indent="-342900" algn="just">
                  <a:buAutoNum type="arabicPeriod"/>
                </a:pPr>
                <a:endParaRPr lang="en-US" b="1"/>
              </a:p>
              <a:p>
                <a:pPr marL="342900" indent="-342900" algn="just">
                  <a:buAutoNum type="arabicPeriod"/>
                </a:pPr>
                <a:endParaRPr lang="en-US" b="1"/>
              </a:p>
              <a:p>
                <a:pPr algn="just"/>
                <a:endParaRPr lang="en-US" b="1"/>
              </a:p>
              <a:p>
                <a:pPr algn="just"/>
                <a:endParaRPr lang="en-US" b="1"/>
              </a:p>
              <a:p>
                <a:pPr algn="just"/>
                <a:endParaRPr lang="en-US" b="1"/>
              </a:p>
              <a:p>
                <a:pPr algn="just"/>
                <a:endParaRPr lang="en-US" b="1"/>
              </a:p>
              <a:p>
                <a:pPr algn="just"/>
                <a:endParaRPr lang="en-US" b="1"/>
              </a:p>
              <a:p>
                <a:pPr algn="just"/>
                <a:endParaRPr lang="en-US" b="1"/>
              </a:p>
              <a:p>
                <a:pPr algn="just"/>
                <a:endParaRPr lang="en-US" b="1"/>
              </a:p>
              <a:p>
                <a:pPr algn="just"/>
                <a:r>
                  <a:rPr lang="en-US" b="1"/>
                  <a:t>2) </a:t>
                </a: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Optimization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𝑙𝑜𝑛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2,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𝑙𝑜𝑛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𝑊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𝑙𝑜𝑛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</m:d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𝐹</m:t>
                                              </m:r>
                                            </m:e>
                                          </m:acc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𝑊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𝑄</m:t>
                                              </m:r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𝑙𝑜𝑛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</m:d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𝑄</m:t>
                                              </m:r>
                                            </m:e>
                                          </m:acc>
                                          <m:d>
                                            <m:d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/>
                  <a:t> </a:t>
                </a:r>
              </a:p>
              <a:p>
                <a:pPr algn="ctr"/>
                <a:endParaRPr lang="en-US"/>
              </a:p>
              <a:p>
                <a:r>
                  <a:rPr lang="en-US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/>
                  <a:t> imposing </a:t>
                </a:r>
                <a:r>
                  <a:rPr lang="en-US" b="1"/>
                  <a:t>Performance</a:t>
                </a:r>
                <a:r>
                  <a:rPr lang="en-US"/>
                  <a:t> and </a:t>
                </a:r>
                <a:r>
                  <a:rPr lang="en-US" b="1"/>
                  <a:t>control effort limitation</a:t>
                </a:r>
                <a:r>
                  <a:rPr lang="en-US"/>
                  <a:t>; </a:t>
                </a:r>
                <a:r>
                  <a:rPr lang="en-US" b="1"/>
                  <a:t>R.S.</a:t>
                </a:r>
                <a:r>
                  <a:rPr lang="en-US"/>
                  <a:t> is checked </a:t>
                </a:r>
                <a:r>
                  <a:rPr lang="en-US" b="1"/>
                  <a:t>a posteriori</a:t>
                </a:r>
                <a:r>
                  <a:rPr lang="en-US"/>
                  <a:t>; </a:t>
                </a:r>
                <a:r>
                  <a:rPr lang="en-US" b="1"/>
                  <a:t>R.S. </a:t>
                </a:r>
                <a:r>
                  <a:rPr lang="en-US"/>
                  <a:t>will be verified via MC campaign (Task 4).</a:t>
                </a:r>
              </a:p>
            </p:txBody>
          </p:sp>
        </mc:Choice>
        <mc:Fallback xmlns="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CC877F91-1BCB-E544-FD44-FBEC075BD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  <a:blipFill>
                <a:blip r:embed="rId2"/>
                <a:stretch>
                  <a:fillRect l="-1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0FF19766-7229-E18B-FFDF-D70F9D35FA52}"/>
              </a:ext>
            </a:extLst>
          </p:cNvPr>
          <p:cNvSpPr txBox="1">
            <a:spLocks/>
          </p:cNvSpPr>
          <p:nvPr/>
        </p:nvSpPr>
        <p:spPr>
          <a:xfrm>
            <a:off x="3452917" y="806676"/>
            <a:ext cx="840412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>
                <a:ea typeface="+mj-lt"/>
                <a:cs typeface="+mj-lt"/>
              </a:rPr>
              <a:t>Mixed-sensitivity synthesis </a:t>
            </a:r>
            <a:r>
              <a:rPr lang="en-US" sz="1800" b="0">
                <a:ea typeface="+mj-lt"/>
                <a:cs typeface="+mj-lt"/>
              </a:rPr>
              <a:t>for Nominal </a:t>
            </a:r>
            <a:r>
              <a:rPr lang="en-US" sz="1800" b="0" u="sng">
                <a:ea typeface="+mj-lt"/>
                <a:cs typeface="+mj-lt"/>
              </a:rPr>
              <a:t>controller design </a:t>
            </a:r>
            <a:r>
              <a:rPr lang="en-US" sz="1800" b="0">
                <a:ea typeface="+mj-lt"/>
                <a:cs typeface="+mj-lt"/>
              </a:rPr>
              <a:t>for</a:t>
            </a:r>
            <a:r>
              <a:rPr lang="en-US" sz="1800" b="0" i="1">
                <a:ea typeface="+mj-lt"/>
                <a:cs typeface="+mj-lt"/>
              </a:rPr>
              <a:t> </a:t>
            </a:r>
            <a:r>
              <a:rPr lang="en-US" sz="1800" b="0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Longitudinal dynamics</a:t>
            </a:r>
            <a:endParaRPr lang="en-US" b="0" i="1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DDA3BD0-E6B6-4673-2CCE-87F47E8D464C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4324789B-49E8-C3CC-0254-2DC500721C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69"/>
          <a:stretch>
            <a:fillRect/>
          </a:stretch>
        </p:blipFill>
        <p:spPr>
          <a:xfrm>
            <a:off x="4375681" y="1509182"/>
            <a:ext cx="7717998" cy="309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2759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999C4-668C-8593-928C-544E13FA3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EA3E2-8549-4481-0B55-AEFAC6C0E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163688" cy="840083"/>
          </a:xfrm>
        </p:spPr>
        <p:txBody>
          <a:bodyPr/>
          <a:lstStyle/>
          <a:p>
            <a:r>
              <a:rPr lang="en-US"/>
              <a:t>Mixed-sensitivity synthesis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01607D4-A9AF-6A53-9F33-B0574F8A5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89CEF98-C8AA-A9DC-FDB2-EAFE11F15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25353DEE-B25B-5D49-ABB0-E8E4091EDE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383298" cy="4429125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/>
              <a:t>Define augmented plant</a:t>
            </a:r>
          </a:p>
          <a:p>
            <a:pPr marL="342900" indent="-342900">
              <a:buAutoNum type="arabicPeriod"/>
            </a:pP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Optimization problem</a:t>
            </a:r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12491A7-A4EB-9DAE-AB2E-E898AF25436E}"/>
              </a:ext>
            </a:extLst>
          </p:cNvPr>
          <p:cNvSpPr txBox="1">
            <a:spLocks/>
          </p:cNvSpPr>
          <p:nvPr/>
        </p:nvSpPr>
        <p:spPr>
          <a:xfrm>
            <a:off x="3452917" y="806676"/>
            <a:ext cx="8404120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>
                <a:ea typeface="+mj-lt"/>
                <a:cs typeface="+mj-lt"/>
              </a:rPr>
              <a:t>Mixed-sensitivity synthesis </a:t>
            </a:r>
            <a:r>
              <a:rPr lang="en-US" sz="1800" b="0">
                <a:ea typeface="+mj-lt"/>
                <a:cs typeface="+mj-lt"/>
              </a:rPr>
              <a:t>for Nominal </a:t>
            </a:r>
            <a:r>
              <a:rPr lang="en-US" sz="1800" b="0" u="sng">
                <a:ea typeface="+mj-lt"/>
                <a:cs typeface="+mj-lt"/>
              </a:rPr>
              <a:t>controller design </a:t>
            </a:r>
            <a:r>
              <a:rPr lang="en-US" sz="1800" b="0">
                <a:ea typeface="+mj-lt"/>
                <a:cs typeface="+mj-lt"/>
              </a:rPr>
              <a:t>for</a:t>
            </a:r>
            <a:r>
              <a:rPr lang="en-US" sz="1800" b="0" i="1">
                <a:ea typeface="+mj-lt"/>
                <a:cs typeface="+mj-lt"/>
              </a:rPr>
              <a:t> </a:t>
            </a:r>
            <a:r>
              <a:rPr lang="en-US" sz="1800" b="0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Longitudinal dynamics</a:t>
            </a:r>
            <a:endParaRPr lang="en-US" b="0" i="1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4" name="Immagine 13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F7282377-50BA-B7B1-BE20-72BD2CC53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29" y="4720261"/>
            <a:ext cx="4371192" cy="1983566"/>
          </a:xfrm>
          <a:prstGeom prst="rect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</p:pic>
      <p:sp>
        <p:nvSpPr>
          <p:cNvPr id="17" name="Segnaposto testo 5">
            <a:extLst>
              <a:ext uri="{FF2B5EF4-FFF2-40B4-BE49-F238E27FC236}">
                <a16:creationId xmlns:a16="http://schemas.microsoft.com/office/drawing/2014/main" id="{C1EDA85A-E9C9-43E7-5C48-8488407F62CB}"/>
              </a:ext>
            </a:extLst>
          </p:cNvPr>
          <p:cNvSpPr txBox="1">
            <a:spLocks/>
          </p:cNvSpPr>
          <p:nvPr/>
        </p:nvSpPr>
        <p:spPr>
          <a:xfrm>
            <a:off x="334963" y="4400121"/>
            <a:ext cx="2509208" cy="365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MATLAB  documentation 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/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ACE1C78-0F51-8B1E-EE20-D3491F417852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31B75F3-1632-E363-32BB-FE144C8EB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880" y="1460102"/>
            <a:ext cx="7505908" cy="1200946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FE610262-1D35-79D0-CEA5-0134AA37E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001" y="3138901"/>
            <a:ext cx="7153473" cy="291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7649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2F178-2529-1074-28D4-3E1BF1AEC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6CF3C8-5F91-0175-6F1E-F82956B77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Analysis of the results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332DA4B-132C-6338-BAA3-305EDA185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38D3AC5-E950-8A5B-79AF-CB8B32841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9AC8F602-D291-CE5D-1B87-42253B9E95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383298" cy="4429125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Peak gain 1-value limit satisfaction</a:t>
            </a:r>
          </a:p>
          <a:p>
            <a:pPr marL="342900" indent="-342900">
              <a:buAutoNum type="arabicPeriod"/>
            </a:pPr>
            <a:r>
              <a:rPr lang="en-US" noProof="0"/>
              <a:t>Tuned controller</a:t>
            </a:r>
          </a:p>
          <a:p>
            <a:pPr marL="342900" indent="-342900">
              <a:buAutoNum type="arabicPeriod"/>
            </a:pPr>
            <a:r>
              <a:rPr lang="en-US" noProof="0"/>
              <a:t>Nominal performance satisfaction</a:t>
            </a:r>
          </a:p>
          <a:p>
            <a:pPr marL="342900" indent="-342900">
              <a:buAutoNum type="arabicPeriod"/>
            </a:pPr>
            <a:r>
              <a:rPr lang="en-US" noProof="0"/>
              <a:t>Nominal control effort limitation satisfaction</a:t>
            </a:r>
          </a:p>
          <a:p>
            <a:pPr marL="342900" indent="-342900">
              <a:buAutoNum type="arabicPeriod"/>
            </a:pPr>
            <a:r>
              <a:rPr lang="en-US" noProof="0"/>
              <a:t>Reiterate?</a:t>
            </a:r>
          </a:p>
          <a:p>
            <a:endParaRPr lang="en-US" noProof="0"/>
          </a:p>
          <a:p>
            <a:pPr marL="342900" indent="-342900">
              <a:buAutoNum type="arabicPeriod"/>
            </a:pPr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E84CB6C3-D18B-F715-7B1D-7B8A7F019E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23760" y="669099"/>
                <a:ext cx="6661614" cy="84008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800">
                    <a:ea typeface="+mj-lt"/>
                    <a:cs typeface="+mj-lt"/>
                  </a:rPr>
                  <a:t>Analysis of results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𝑯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800">
                    <a:ea typeface="+mj-lt"/>
                    <a:cs typeface="+mj-lt"/>
                  </a:rPr>
                  <a:t> synthesis </a:t>
                </a:r>
                <a:r>
                  <a:rPr lang="en-US" sz="1800" b="0">
                    <a:ea typeface="+mj-lt"/>
                    <a:cs typeface="+mj-lt"/>
                  </a:rPr>
                  <a:t>of a </a:t>
                </a:r>
              </a:p>
              <a:p>
                <a:r>
                  <a:rPr lang="en-US" sz="1800" b="0">
                    <a:ea typeface="+mj-lt"/>
                    <a:cs typeface="+mj-lt"/>
                  </a:rPr>
                  <a:t>Nominal </a:t>
                </a:r>
                <a:r>
                  <a:rPr lang="en-US" sz="1800" b="0" u="sng">
                    <a:ea typeface="+mj-lt"/>
                    <a:cs typeface="+mj-lt"/>
                  </a:rPr>
                  <a:t>controller design </a:t>
                </a:r>
                <a:r>
                  <a:rPr lang="en-US" sz="1800" b="0">
                    <a:ea typeface="+mj-lt"/>
                    <a:cs typeface="+mj-lt"/>
                  </a:rPr>
                  <a:t>for</a:t>
                </a:r>
                <a:r>
                  <a:rPr lang="en-US" sz="1800" b="0" i="1">
                    <a:ea typeface="+mj-lt"/>
                    <a:cs typeface="+mj-lt"/>
                  </a:rPr>
                  <a:t> </a:t>
                </a:r>
                <a:r>
                  <a:rPr lang="en-US" sz="1800" b="0" i="1">
                    <a:solidFill>
                      <a:schemeClr val="tx2">
                        <a:lumMod val="50000"/>
                        <a:lumOff val="50000"/>
                      </a:schemeClr>
                    </a:solidFill>
                    <a:ea typeface="+mj-lt"/>
                    <a:cs typeface="+mj-lt"/>
                  </a:rPr>
                  <a:t>Longitudinal dynamics</a:t>
                </a:r>
                <a:endParaRPr lang="en-US" b="0" i="1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E84CB6C3-D18B-F715-7B1D-7B8A7F019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760" y="669099"/>
                <a:ext cx="6661614" cy="840083"/>
              </a:xfrm>
              <a:prstGeom prst="rect">
                <a:avLst/>
              </a:prstGeom>
              <a:blipFill>
                <a:blip r:embed="rId2"/>
                <a:stretch>
                  <a:fillRect l="-2196" t="-9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92CDD47B-6C34-2113-2318-2A5860DB73D2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</p:spPr>
            <p:txBody>
              <a:bodyPr>
                <a:normAutofit/>
              </a:bodyPr>
              <a:lstStyle/>
              <a:p>
                <a:pPr algn="ctr"/>
                <a:endParaRPr lang="en-US" b="0" i="1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b="1"/>
                  <a:t>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𝑙𝑜𝑛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2,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𝑙𝑜𝑛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𝑊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𝑙𝑜𝑛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</m:d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𝐹</m:t>
                                              </m:r>
                                            </m:e>
                                          </m:acc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𝑊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𝑄</m:t>
                                              </m:r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𝑙𝑜𝑛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</m:d>
                                          <m: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𝑄</m:t>
                                              </m:r>
                                            </m:e>
                                          </m:acc>
                                          <m:d>
                                            <m:d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/>
                  <a:t> = </a:t>
                </a:r>
                <a:r>
                  <a:rPr lang="en-US" b="1">
                    <a:solidFill>
                      <a:srgbClr val="0070C0"/>
                    </a:solidFill>
                  </a:rPr>
                  <a:t>0.9787  &lt; 1</a:t>
                </a:r>
              </a:p>
              <a:p>
                <a:pPr algn="just"/>
                <a:r>
                  <a:rPr lang="en-US" b="1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92CDD47B-6C34-2113-2318-2A5860DB73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  <a:blipFill>
                <a:blip r:embed="rId3"/>
                <a:stretch>
                  <a:fillRect l="-1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7E45720-4EAF-CF1F-4084-EE0F3C2FBE19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16910729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A53C4-78B1-5672-0B81-1477F318B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E46416-AFC1-EFBB-6F47-5E03A2FBD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Analysis of the results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B7902C8-1518-5265-1F79-23A225C4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06433C1-7E5A-94E9-04FC-760A54394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C619338B-581D-0282-A09F-5B7C2A6EE0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383298" cy="4429125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noProof="0"/>
              <a:t>Peak gain 1-value limit satisfaction and nominal CL stability</a:t>
            </a:r>
          </a:p>
          <a:p>
            <a:pPr marL="342900" indent="-342900">
              <a:buAutoNum type="arabicPeriod"/>
            </a:pPr>
            <a:r>
              <a:rPr lang="en-US" b="1" noProof="0">
                <a:solidFill>
                  <a:srgbClr val="0070C0"/>
                </a:solidFill>
              </a:rPr>
              <a:t>Tuned controller</a:t>
            </a:r>
          </a:p>
          <a:p>
            <a:pPr marL="342900" indent="-342900">
              <a:buAutoNum type="arabicPeriod"/>
            </a:pPr>
            <a:r>
              <a:rPr lang="en-US" noProof="0"/>
              <a:t>Nominal performance satisfaction</a:t>
            </a:r>
          </a:p>
          <a:p>
            <a:pPr marL="342900" indent="-342900">
              <a:buAutoNum type="arabicPeriod"/>
            </a:pPr>
            <a:r>
              <a:rPr lang="en-US" noProof="0"/>
              <a:t>Nominal control effort limitation satisfaction</a:t>
            </a:r>
          </a:p>
          <a:p>
            <a:pPr marL="342900" indent="-342900">
              <a:buAutoNum type="arabicPeriod"/>
            </a:pPr>
            <a:r>
              <a:rPr lang="en-US" noProof="0"/>
              <a:t>Reiterate?</a:t>
            </a:r>
          </a:p>
          <a:p>
            <a:endParaRPr lang="en-US" noProof="0"/>
          </a:p>
          <a:p>
            <a:pPr marL="342900" indent="-342900">
              <a:buAutoNum type="arabicPeriod"/>
            </a:pPr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BD6E3ACF-5EFA-C284-C676-96E0A4FB31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23760" y="669099"/>
                <a:ext cx="6661614" cy="84008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800">
                    <a:ea typeface="+mj-lt"/>
                    <a:cs typeface="+mj-lt"/>
                  </a:rPr>
                  <a:t>Analysis of results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𝑯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800">
                    <a:ea typeface="+mj-lt"/>
                    <a:cs typeface="+mj-lt"/>
                  </a:rPr>
                  <a:t> synthesis </a:t>
                </a:r>
                <a:r>
                  <a:rPr lang="en-US" sz="1800" b="0">
                    <a:ea typeface="+mj-lt"/>
                    <a:cs typeface="+mj-lt"/>
                  </a:rPr>
                  <a:t>of a </a:t>
                </a:r>
              </a:p>
              <a:p>
                <a:r>
                  <a:rPr lang="en-US" sz="1800" b="0">
                    <a:ea typeface="+mj-lt"/>
                    <a:cs typeface="+mj-lt"/>
                  </a:rPr>
                  <a:t>Nominal </a:t>
                </a:r>
                <a:r>
                  <a:rPr lang="en-US" sz="1800" b="0" u="sng">
                    <a:ea typeface="+mj-lt"/>
                    <a:cs typeface="+mj-lt"/>
                  </a:rPr>
                  <a:t>controller design </a:t>
                </a:r>
                <a:r>
                  <a:rPr lang="en-US" sz="1800" b="0">
                    <a:ea typeface="+mj-lt"/>
                    <a:cs typeface="+mj-lt"/>
                  </a:rPr>
                  <a:t>for</a:t>
                </a:r>
                <a:r>
                  <a:rPr lang="en-US" sz="1800" b="0" i="1">
                    <a:ea typeface="+mj-lt"/>
                    <a:cs typeface="+mj-lt"/>
                  </a:rPr>
                  <a:t> </a:t>
                </a:r>
                <a:r>
                  <a:rPr lang="en-US" sz="1800" b="0" i="1">
                    <a:solidFill>
                      <a:schemeClr val="tx2">
                        <a:lumMod val="50000"/>
                        <a:lumOff val="50000"/>
                      </a:schemeClr>
                    </a:solidFill>
                    <a:ea typeface="+mj-lt"/>
                    <a:cs typeface="+mj-lt"/>
                  </a:rPr>
                  <a:t>Longitudinal dynamics</a:t>
                </a:r>
                <a:endParaRPr lang="en-US" b="0" i="1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BD6E3ACF-5EFA-C284-C676-96E0A4FB3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760" y="669099"/>
                <a:ext cx="6661614" cy="840083"/>
              </a:xfrm>
              <a:prstGeom prst="rect">
                <a:avLst/>
              </a:prstGeom>
              <a:blipFill>
                <a:blip r:embed="rId2"/>
                <a:stretch>
                  <a:fillRect l="-2196" t="-9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4C3EDBDD-0FA3-03D0-D1EA-D61EBC918FDF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</p:spPr>
            <p:txBody>
              <a:bodyPr>
                <a:normAutofit/>
              </a:bodyPr>
              <a:lstStyle/>
              <a:p>
                <a:pPr algn="ctr"/>
                <a:endParaRPr lang="en-US" b="0" i="1">
                  <a:latin typeface="Cambria Math" panose="02040503050406030204" pitchFamily="18" charset="0"/>
                </a:endParaRPr>
              </a:p>
              <a:p>
                <a:pPr marL="342900" indent="-342900" algn="just">
                  <a:buAutoNum type="arabicParenR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  <m:brk m:alnAt="7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it-IT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lon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s</m:t>
                                          </m:r>
                                          <m: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2,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</m:t>
                                              </m:r>
                                              <m: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𝑜𝑛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s</m:t>
                                          </m:r>
                                          <m: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i="0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  <m:brk m:alnAt="7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W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  <m:brk m:alnAt="7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p</m:t>
                                              </m:r>
                                              <m: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</m:t>
                                              </m:r>
                                              <m: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𝑜𝑛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</m:d>
                                          <m: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F</m:t>
                                              </m:r>
                                            </m:e>
                                          </m:acc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mr>
                                  <m:m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  <m:brk m:alnAt="7"/>
                                                </m:rPr>
                                                <a:rPr lang="en-US" i="0" smtClean="0">
                                                  <a:latin typeface="Cambria Math" panose="02040503050406030204" pitchFamily="18" charset="0"/>
                                                </a:rPr>
                                                <m:t>W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Q</m:t>
                                              </m:r>
                                              <m:r>
                                                <a:rPr lang="en-US" i="0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i="0" smtClean="0">
                                                  <a:latin typeface="Cambria Math" panose="02040503050406030204" pitchFamily="18" charset="0"/>
                                                </a:rPr>
                                                <m:t>l</m:t>
                                              </m:r>
                                              <m: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𝑜𝑛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i="0" smtClean="0">
                                                  <a:latin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</m:d>
                                          <m:r>
                                            <a:rPr lang="en-US" i="0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Q</m:t>
                                              </m:r>
                                            </m:e>
                                          </m:acc>
                                          <m:d>
                                            <m:d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i="0" smtClean="0">
                                                  <a:latin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mr>
                                </m:m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</m:oMath>
                </a14:m>
                <a:r>
                  <a:rPr lang="en-US"/>
                  <a:t> = </a:t>
                </a:r>
                <a:r>
                  <a:rPr lang="en-US" b="1">
                    <a:solidFill>
                      <a:srgbClr val="0070C0"/>
                    </a:solidFill>
                  </a:rPr>
                  <a:t>0.9787  &lt; 1.           </a:t>
                </a:r>
              </a:p>
              <a:p>
                <a:pPr marL="342900" indent="-342900" algn="just">
                  <a:buAutoNum type="arabicParenR"/>
                </a:pPr>
                <a:endParaRPr lang="en-US"/>
              </a:p>
              <a:p>
                <a:pPr marL="342900" indent="-342900" algn="just">
                  <a:buAutoNum type="arabicParenR"/>
                </a:pPr>
                <a:r>
                  <a:rPr lang="en-US"/>
                  <a:t>The tuned controllers have:</a:t>
                </a:r>
              </a:p>
              <a:p>
                <a:pPr algn="just"/>
                <a:endParaRPr lang="en-US"/>
              </a:p>
              <a:p>
                <a:pPr marL="342900" indent="-342900" algn="just">
                  <a:buAutoNum type="arabicParenR"/>
                </a:pPr>
                <a:endParaRPr lang="en-US"/>
              </a:p>
              <a:p>
                <a:pPr algn="just"/>
                <a:r>
                  <a:rPr lang="en-US" b="1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4C3EDBDD-0FA3-03D0-D1EA-D61EBC918F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  <a:blipFill>
                <a:blip r:embed="rId3"/>
                <a:stretch>
                  <a:fillRect l="-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3F3B852-FB06-54C0-7AEA-42EE7353027E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1C932248-6791-1AFD-423E-F6AABBAC5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9601" y="1301023"/>
            <a:ext cx="2287674" cy="1736101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42B96F6C-A964-DD27-A0F1-19216918FF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514" y="3157575"/>
            <a:ext cx="6652837" cy="350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9530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5A9B8-9233-FE7C-5434-91E6BDC04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7863AC97-A384-6BCD-E64A-4507635DC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63" y="4927954"/>
            <a:ext cx="5094699" cy="1574205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C3D09211-7BCF-0FE9-B302-8E0DACF92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Analysis of the results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FD2202B-8C77-F08D-B90F-D29F835B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E6DC1CA-BB4F-EFAF-830C-6778378D0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A286206-D753-B6D9-23AC-74388CCBF5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383298" cy="4429125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noProof="0"/>
              <a:t>Peak gain 1-value limit satisfaction</a:t>
            </a:r>
          </a:p>
          <a:p>
            <a:pPr marL="342900" indent="-342900">
              <a:buAutoNum type="arabicPeriod"/>
            </a:pPr>
            <a:r>
              <a:rPr lang="en-US" noProof="0"/>
              <a:t>Tuned controller</a:t>
            </a:r>
          </a:p>
          <a:p>
            <a:pPr marL="342900" indent="-342900">
              <a:buAutoNum type="arabicPeriod"/>
            </a:pPr>
            <a:r>
              <a:rPr lang="en-US" b="1" noProof="0">
                <a:solidFill>
                  <a:srgbClr val="0070C0"/>
                </a:solidFill>
              </a:rPr>
              <a:t>Nominal performance satisfaction</a:t>
            </a:r>
          </a:p>
          <a:p>
            <a:pPr marL="342900" indent="-342900">
              <a:buAutoNum type="arabicPeriod"/>
            </a:pPr>
            <a:r>
              <a:rPr lang="en-US" noProof="0"/>
              <a:t>Nominal control effort limitation satisfaction</a:t>
            </a:r>
          </a:p>
          <a:p>
            <a:pPr marL="342900" indent="-342900">
              <a:buAutoNum type="arabicPeriod"/>
            </a:pPr>
            <a:r>
              <a:rPr lang="en-US" noProof="0"/>
              <a:t>Reiterate?</a:t>
            </a:r>
          </a:p>
          <a:p>
            <a:endParaRPr lang="en-US" noProof="0"/>
          </a:p>
          <a:p>
            <a:pPr marL="342900" indent="-342900">
              <a:buAutoNum type="arabicPeriod"/>
            </a:pPr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DC76934F-1747-1346-AB34-F94A8A07F6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23760" y="669099"/>
                <a:ext cx="6661614" cy="84008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800">
                    <a:ea typeface="+mj-lt"/>
                    <a:cs typeface="+mj-lt"/>
                  </a:rPr>
                  <a:t>Analysis of results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𝑯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800">
                    <a:ea typeface="+mj-lt"/>
                    <a:cs typeface="+mj-lt"/>
                  </a:rPr>
                  <a:t> synthesis </a:t>
                </a:r>
                <a:r>
                  <a:rPr lang="en-US" sz="1800" b="0">
                    <a:ea typeface="+mj-lt"/>
                    <a:cs typeface="+mj-lt"/>
                  </a:rPr>
                  <a:t>of a </a:t>
                </a:r>
              </a:p>
              <a:p>
                <a:r>
                  <a:rPr lang="en-US" sz="1800" b="0">
                    <a:ea typeface="+mj-lt"/>
                    <a:cs typeface="+mj-lt"/>
                  </a:rPr>
                  <a:t>Nominal </a:t>
                </a:r>
                <a:r>
                  <a:rPr lang="en-US" sz="1800" b="0" u="sng">
                    <a:ea typeface="+mj-lt"/>
                    <a:cs typeface="+mj-lt"/>
                  </a:rPr>
                  <a:t>controller design </a:t>
                </a:r>
                <a:r>
                  <a:rPr lang="en-US" sz="1800" b="0">
                    <a:ea typeface="+mj-lt"/>
                    <a:cs typeface="+mj-lt"/>
                  </a:rPr>
                  <a:t>for</a:t>
                </a:r>
                <a:r>
                  <a:rPr lang="en-US" sz="1800" b="0" i="1">
                    <a:ea typeface="+mj-lt"/>
                    <a:cs typeface="+mj-lt"/>
                  </a:rPr>
                  <a:t> </a:t>
                </a:r>
                <a:r>
                  <a:rPr lang="en-US" sz="1800" b="0" i="1">
                    <a:solidFill>
                      <a:schemeClr val="tx2">
                        <a:lumMod val="50000"/>
                        <a:lumOff val="50000"/>
                      </a:schemeClr>
                    </a:solidFill>
                    <a:ea typeface="+mj-lt"/>
                    <a:cs typeface="+mj-lt"/>
                  </a:rPr>
                  <a:t>Longitudinal dynamics</a:t>
                </a:r>
                <a:endParaRPr lang="en-US" b="0" i="1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DC76934F-1747-1346-AB34-F94A8A07F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760" y="669099"/>
                <a:ext cx="6661614" cy="840083"/>
              </a:xfrm>
              <a:prstGeom prst="rect">
                <a:avLst/>
              </a:prstGeom>
              <a:blipFill>
                <a:blip r:embed="rId3"/>
                <a:stretch>
                  <a:fillRect l="-2196" t="-9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8035213F-C778-A92C-30F6-B3A5968A05F3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Segnaposto testo 8">
                <a:extLst>
                  <a:ext uri="{FF2B5EF4-FFF2-40B4-BE49-F238E27FC236}">
                    <a16:creationId xmlns:a16="http://schemas.microsoft.com/office/drawing/2014/main" id="{F6769868-884C-13BB-03E6-01AFDF0ED431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3095514" y="1764663"/>
                <a:ext cx="8640763" cy="4429125"/>
              </a:xfrm>
            </p:spPr>
            <p:txBody>
              <a:bodyPr/>
              <a:lstStyle/>
              <a:p>
                <a:r>
                  <a:rPr lang="en-US"/>
                  <a:t>3) Nominal performance:</a:t>
                </a:r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Imposed S Peak via relaxed </a:t>
                </a:r>
              </a:p>
              <a:p>
                <a:r>
                  <a:rPr lang="en-US"/>
                  <a:t>requirement  (</a:t>
                </a:r>
                <a:r>
                  <a:rPr lang="en-US" err="1"/>
                  <a:t>M_lat</a:t>
                </a:r>
                <a:r>
                  <a:rPr lang="en-US"/>
                  <a:t>):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1.</m:t>
                    </m:r>
                    <m:r>
                      <m:rPr>
                        <m:nor/>
                      </m:rPr>
                      <a:rPr lang="it-IT"/>
                      <m:t>71</m:t>
                    </m:r>
                    <m:r>
                      <m:rPr>
                        <m:nor/>
                      </m:rPr>
                      <a:rPr lang="en-US"/>
                      <m:t>65</m:t>
                    </m:r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Original function S Peak: 1.1838</a:t>
                </a:r>
              </a:p>
              <a:p>
                <a:r>
                  <a:rPr lang="en-US"/>
                  <a:t>Actual obtained S Peak: 1.2560</a:t>
                </a:r>
              </a:p>
              <a:p>
                <a:endParaRPr lang="en-US">
                  <a:solidFill>
                    <a:srgbClr val="00B050"/>
                  </a:solidFill>
                </a:endParaRPr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9" name="Segnaposto testo 8">
                <a:extLst>
                  <a:ext uri="{FF2B5EF4-FFF2-40B4-BE49-F238E27FC236}">
                    <a16:creationId xmlns:a16="http://schemas.microsoft.com/office/drawing/2014/main" id="{F6769868-884C-13BB-03E6-01AFDF0ED4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3095514" y="1764663"/>
                <a:ext cx="8640763" cy="4429125"/>
              </a:xfrm>
              <a:blipFill>
                <a:blip r:embed="rId4"/>
                <a:stretch>
                  <a:fillRect l="-1270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tangolo 3">
            <a:extLst>
              <a:ext uri="{FF2B5EF4-FFF2-40B4-BE49-F238E27FC236}">
                <a16:creationId xmlns:a16="http://schemas.microsoft.com/office/drawing/2014/main" id="{34E9EF78-BF49-8A75-E946-A8466F31C2A6}"/>
              </a:ext>
            </a:extLst>
          </p:cNvPr>
          <p:cNvSpPr/>
          <p:nvPr/>
        </p:nvSpPr>
        <p:spPr>
          <a:xfrm>
            <a:off x="2967528" y="3328302"/>
            <a:ext cx="2705139" cy="586362"/>
          </a:xfrm>
          <a:prstGeom prst="rect">
            <a:avLst/>
          </a:prstGeom>
          <a:solidFill>
            <a:srgbClr val="FF0000">
              <a:alpha val="18954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695023FC-3E1A-328E-D692-01392357C349}"/>
              </a:ext>
            </a:extLst>
          </p:cNvPr>
          <p:cNvSpPr/>
          <p:nvPr/>
        </p:nvSpPr>
        <p:spPr>
          <a:xfrm>
            <a:off x="2967529" y="2525919"/>
            <a:ext cx="2705138" cy="586362"/>
          </a:xfrm>
          <a:prstGeom prst="rect">
            <a:avLst/>
          </a:prstGeom>
          <a:solidFill>
            <a:srgbClr val="00B050">
              <a:alpha val="18954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B8DF2972-8FE8-1D32-2F45-DA298B0925EE}"/>
              </a:ext>
            </a:extLst>
          </p:cNvPr>
          <p:cNvSpPr/>
          <p:nvPr/>
        </p:nvSpPr>
        <p:spPr>
          <a:xfrm>
            <a:off x="455723" y="6134421"/>
            <a:ext cx="3055430" cy="358289"/>
          </a:xfrm>
          <a:prstGeom prst="rect">
            <a:avLst/>
          </a:prstGeom>
          <a:solidFill>
            <a:srgbClr val="FF0000">
              <a:alpha val="18954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198C989F-5FFB-E3D2-410F-C4DEE5415C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9920" y="1812848"/>
            <a:ext cx="5777004" cy="433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8786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A67F2-4C9D-DEE7-5158-D2C0F7742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52BD5BE3-A97B-7378-667B-CD58586AA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840" y="4431032"/>
            <a:ext cx="4610500" cy="1798476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EF4F4FA-3AD9-5A90-35C1-EE20294CA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Analysis of the results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ADB7201-6BF7-33B0-2614-F3049D7DC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D85A3DF-F725-0B5E-3608-41641609E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57B7DB55-B051-88D4-1FD2-BB4F5D8E0F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383298" cy="4429125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noProof="0"/>
              <a:t>Peak gain 1-value limit satisfaction</a:t>
            </a:r>
          </a:p>
          <a:p>
            <a:pPr marL="342900" indent="-342900">
              <a:buAutoNum type="arabicPeriod"/>
            </a:pPr>
            <a:r>
              <a:rPr lang="en-US" noProof="0"/>
              <a:t>Tuned controller</a:t>
            </a:r>
          </a:p>
          <a:p>
            <a:pPr marL="342900" indent="-342900">
              <a:buAutoNum type="arabicPeriod"/>
            </a:pPr>
            <a:r>
              <a:rPr lang="en-US" b="1" noProof="0">
                <a:solidFill>
                  <a:srgbClr val="0070C0"/>
                </a:solidFill>
              </a:rPr>
              <a:t>Nominal performance satisfaction</a:t>
            </a:r>
          </a:p>
          <a:p>
            <a:pPr marL="342900" indent="-342900">
              <a:buAutoNum type="arabicPeriod"/>
            </a:pPr>
            <a:r>
              <a:rPr lang="en-US" noProof="0"/>
              <a:t>Nominal control effort limitation satisfaction</a:t>
            </a:r>
          </a:p>
          <a:p>
            <a:pPr marL="342900" indent="-342900">
              <a:buAutoNum type="arabicPeriod"/>
            </a:pPr>
            <a:r>
              <a:rPr lang="en-US" noProof="0"/>
              <a:t>Reiterate?</a:t>
            </a:r>
          </a:p>
          <a:p>
            <a:endParaRPr lang="en-US" noProof="0"/>
          </a:p>
          <a:p>
            <a:pPr marL="342900" indent="-342900">
              <a:buAutoNum type="arabicPeriod"/>
            </a:pPr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1FB9081A-FBBE-FBC0-5E3A-6EB57C4005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23760" y="669099"/>
                <a:ext cx="6661614" cy="84008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800">
                    <a:ea typeface="+mj-lt"/>
                    <a:cs typeface="+mj-lt"/>
                  </a:rPr>
                  <a:t>Analysis of results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𝑯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800">
                    <a:ea typeface="+mj-lt"/>
                    <a:cs typeface="+mj-lt"/>
                  </a:rPr>
                  <a:t> synthesis </a:t>
                </a:r>
                <a:r>
                  <a:rPr lang="en-US" sz="1800" b="0">
                    <a:ea typeface="+mj-lt"/>
                    <a:cs typeface="+mj-lt"/>
                  </a:rPr>
                  <a:t>of a </a:t>
                </a:r>
              </a:p>
              <a:p>
                <a:r>
                  <a:rPr lang="en-US" sz="1800" b="0">
                    <a:ea typeface="+mj-lt"/>
                    <a:cs typeface="+mj-lt"/>
                  </a:rPr>
                  <a:t>Nominal </a:t>
                </a:r>
                <a:r>
                  <a:rPr lang="en-US" sz="1800" b="0" u="sng">
                    <a:ea typeface="+mj-lt"/>
                    <a:cs typeface="+mj-lt"/>
                  </a:rPr>
                  <a:t>controller design </a:t>
                </a:r>
                <a:r>
                  <a:rPr lang="en-US" sz="1800" b="0">
                    <a:ea typeface="+mj-lt"/>
                    <a:cs typeface="+mj-lt"/>
                  </a:rPr>
                  <a:t>for</a:t>
                </a:r>
                <a:r>
                  <a:rPr lang="en-US" sz="1800" b="0" i="1">
                    <a:ea typeface="+mj-lt"/>
                    <a:cs typeface="+mj-lt"/>
                  </a:rPr>
                  <a:t> </a:t>
                </a:r>
                <a:r>
                  <a:rPr lang="en-US" sz="1800" b="0" i="1">
                    <a:solidFill>
                      <a:schemeClr val="tx2">
                        <a:lumMod val="50000"/>
                        <a:lumOff val="50000"/>
                      </a:schemeClr>
                    </a:solidFill>
                    <a:ea typeface="+mj-lt"/>
                    <a:cs typeface="+mj-lt"/>
                  </a:rPr>
                  <a:t>Longitudinal dynamics</a:t>
                </a:r>
                <a:endParaRPr lang="en-US" b="0" i="1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1FB9081A-FBBE-FBC0-5E3A-6EB57C400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760" y="669099"/>
                <a:ext cx="6661614" cy="840083"/>
              </a:xfrm>
              <a:prstGeom prst="rect">
                <a:avLst/>
              </a:prstGeom>
              <a:blipFill>
                <a:blip r:embed="rId3"/>
                <a:stretch>
                  <a:fillRect l="-2196" t="-9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A775D45-AE1E-FE1E-740B-52831632A31B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B1D7C564-0F15-D1C7-4B47-A2CEE94DD1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95514" y="1764663"/>
            <a:ext cx="8640763" cy="4429125"/>
          </a:xfrm>
        </p:spPr>
        <p:txBody>
          <a:bodyPr/>
          <a:lstStyle/>
          <a:p>
            <a:r>
              <a:rPr lang="en-US"/>
              <a:t>3) Dynamic performance </a:t>
            </a:r>
          </a:p>
          <a:p>
            <a:r>
              <a:rPr lang="en-US"/>
              <a:t>expressed in terms </a:t>
            </a:r>
          </a:p>
          <a:p>
            <a:r>
              <a:rPr lang="en-US"/>
              <a:t>of step response: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26589BBF-804A-4DF7-3161-60E567E7262A}"/>
              </a:ext>
            </a:extLst>
          </p:cNvPr>
          <p:cNvSpPr/>
          <p:nvPr/>
        </p:nvSpPr>
        <p:spPr>
          <a:xfrm>
            <a:off x="3260580" y="5219358"/>
            <a:ext cx="2360044" cy="862660"/>
          </a:xfrm>
          <a:prstGeom prst="rect">
            <a:avLst/>
          </a:prstGeom>
          <a:solidFill>
            <a:srgbClr val="92D050">
              <a:alpha val="18954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65D05C08-4E15-CCD8-0084-F6B51EE914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651" y="1846448"/>
            <a:ext cx="5502626" cy="412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8070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29F9D-DA55-D195-63D3-AD3F33C73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3442D8-6B9D-F15F-94D2-B9E85418A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Analysis of the results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C008AD5-AC51-8F0E-083C-3529DA853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1D059B8-04B5-436D-51D6-6A40159CA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72CB2EA8-6CC5-B013-947B-9E49CA2AE0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383298" cy="4429125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noProof="0"/>
              <a:t>Peak gain 1-value limit satisfaction</a:t>
            </a:r>
          </a:p>
          <a:p>
            <a:pPr marL="342900" indent="-342900">
              <a:buAutoNum type="arabicPeriod"/>
            </a:pPr>
            <a:r>
              <a:rPr lang="en-US" noProof="0"/>
              <a:t>Tuned controller</a:t>
            </a:r>
          </a:p>
          <a:p>
            <a:pPr marL="342900" indent="-342900">
              <a:buAutoNum type="arabicPeriod"/>
            </a:pPr>
            <a:r>
              <a:rPr lang="en-US" noProof="0"/>
              <a:t>Nominal performance satisfaction</a:t>
            </a:r>
          </a:p>
          <a:p>
            <a:pPr marL="342900" indent="-342900">
              <a:buAutoNum type="arabicPeriod"/>
            </a:pPr>
            <a:r>
              <a:rPr lang="en-US" b="1" noProof="0">
                <a:solidFill>
                  <a:srgbClr val="0070C0"/>
                </a:solidFill>
              </a:rPr>
              <a:t>Nominal control effort limitation satisfaction</a:t>
            </a:r>
          </a:p>
          <a:p>
            <a:pPr marL="342900" indent="-342900">
              <a:buAutoNum type="arabicPeriod"/>
            </a:pPr>
            <a:r>
              <a:rPr lang="en-US" noProof="0"/>
              <a:t>Reiterate?</a:t>
            </a:r>
          </a:p>
          <a:p>
            <a:endParaRPr lang="en-US" noProof="0"/>
          </a:p>
          <a:p>
            <a:pPr marL="342900" indent="-342900">
              <a:buAutoNum type="arabicPeriod"/>
            </a:pPr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B6C75AD8-265D-5C87-B6C0-C5B5958ED8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23760" y="669099"/>
                <a:ext cx="6661614" cy="84008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800">
                    <a:ea typeface="+mj-lt"/>
                    <a:cs typeface="+mj-lt"/>
                  </a:rPr>
                  <a:t>Analysis of results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𝑯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800">
                    <a:ea typeface="+mj-lt"/>
                    <a:cs typeface="+mj-lt"/>
                  </a:rPr>
                  <a:t> synthesis </a:t>
                </a:r>
                <a:r>
                  <a:rPr lang="en-US" sz="1800" b="0">
                    <a:ea typeface="+mj-lt"/>
                    <a:cs typeface="+mj-lt"/>
                  </a:rPr>
                  <a:t>of a </a:t>
                </a:r>
              </a:p>
              <a:p>
                <a:r>
                  <a:rPr lang="en-US" sz="1800" b="0">
                    <a:ea typeface="+mj-lt"/>
                    <a:cs typeface="+mj-lt"/>
                  </a:rPr>
                  <a:t>Nominal </a:t>
                </a:r>
                <a:r>
                  <a:rPr lang="en-US" sz="1800" b="0" u="sng">
                    <a:ea typeface="+mj-lt"/>
                    <a:cs typeface="+mj-lt"/>
                  </a:rPr>
                  <a:t>controller design </a:t>
                </a:r>
                <a:r>
                  <a:rPr lang="en-US" sz="1800" b="0">
                    <a:ea typeface="+mj-lt"/>
                    <a:cs typeface="+mj-lt"/>
                  </a:rPr>
                  <a:t>for</a:t>
                </a:r>
                <a:r>
                  <a:rPr lang="en-US" sz="1800" b="0" i="1">
                    <a:ea typeface="+mj-lt"/>
                    <a:cs typeface="+mj-lt"/>
                  </a:rPr>
                  <a:t> </a:t>
                </a:r>
                <a:r>
                  <a:rPr lang="en-US" sz="1800" b="0" i="1">
                    <a:solidFill>
                      <a:schemeClr val="tx2">
                        <a:lumMod val="50000"/>
                        <a:lumOff val="50000"/>
                      </a:schemeClr>
                    </a:solidFill>
                    <a:ea typeface="+mj-lt"/>
                    <a:cs typeface="+mj-lt"/>
                  </a:rPr>
                  <a:t>Longitudinal dynamics</a:t>
                </a:r>
                <a:endParaRPr lang="en-US" b="0" i="1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B6C75AD8-265D-5C87-B6C0-C5B5958ED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760" y="669099"/>
                <a:ext cx="6661614" cy="840083"/>
              </a:xfrm>
              <a:prstGeom prst="rect">
                <a:avLst/>
              </a:prstGeom>
              <a:blipFill>
                <a:blip r:embed="rId2"/>
                <a:stretch>
                  <a:fillRect l="-2196" t="-9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2A1A39E-B25D-D05E-73DF-88FA14F418E6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F98A4C2D-D933-6C43-5985-9AF55E8C79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95514" y="1764663"/>
            <a:ext cx="8640763" cy="4429125"/>
          </a:xfrm>
        </p:spPr>
        <p:txBody>
          <a:bodyPr/>
          <a:lstStyle/>
          <a:p>
            <a:r>
              <a:rPr lang="en-US" noProof="0"/>
              <a:t>4) Control effort limitation in doublet response: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BA1E28CA-C3D7-A8A1-CAEF-E98F88B202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610" y="2190450"/>
            <a:ext cx="5732333" cy="4299250"/>
          </a:xfrm>
          <a:prstGeom prst="rect">
            <a:avLst/>
          </a:prstGeom>
        </p:spPr>
      </p:pic>
      <p:cxnSp>
        <p:nvCxnSpPr>
          <p:cNvPr id="13" name="Connettore dritto 12">
            <a:extLst>
              <a:ext uri="{FF2B5EF4-FFF2-40B4-BE49-F238E27FC236}">
                <a16:creationId xmlns:a16="http://schemas.microsoft.com/office/drawing/2014/main" id="{428AB761-4EEF-5C33-840F-3D99CAC847F6}"/>
              </a:ext>
            </a:extLst>
          </p:cNvPr>
          <p:cNvCxnSpPr/>
          <p:nvPr/>
        </p:nvCxnSpPr>
        <p:spPr>
          <a:xfrm>
            <a:off x="7286302" y="3861585"/>
            <a:ext cx="404948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ritto 14">
            <a:extLst>
              <a:ext uri="{FF2B5EF4-FFF2-40B4-BE49-F238E27FC236}">
                <a16:creationId xmlns:a16="http://schemas.microsoft.com/office/drawing/2014/main" id="{12D23502-1D86-8795-BE47-FE2681835425}"/>
              </a:ext>
            </a:extLst>
          </p:cNvPr>
          <p:cNvCxnSpPr/>
          <p:nvPr/>
        </p:nvCxnSpPr>
        <p:spPr>
          <a:xfrm>
            <a:off x="7286302" y="4688554"/>
            <a:ext cx="404948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magine 15">
            <a:extLst>
              <a:ext uri="{FF2B5EF4-FFF2-40B4-BE49-F238E27FC236}">
                <a16:creationId xmlns:a16="http://schemas.microsoft.com/office/drawing/2014/main" id="{ED21E59C-91FA-6EB7-DF5D-C55ED0461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2130" y="4599232"/>
            <a:ext cx="4222262" cy="1341577"/>
          </a:xfrm>
          <a:prstGeom prst="rect">
            <a:avLst/>
          </a:prstGeom>
        </p:spPr>
      </p:pic>
      <p:sp>
        <p:nvSpPr>
          <p:cNvPr id="10" name="Rettangolo 9">
            <a:extLst>
              <a:ext uri="{FF2B5EF4-FFF2-40B4-BE49-F238E27FC236}">
                <a16:creationId xmlns:a16="http://schemas.microsoft.com/office/drawing/2014/main" id="{A737F689-8151-0D54-D5CD-7E6D90722F96}"/>
              </a:ext>
            </a:extLst>
          </p:cNvPr>
          <p:cNvSpPr/>
          <p:nvPr/>
        </p:nvSpPr>
        <p:spPr>
          <a:xfrm>
            <a:off x="1898598" y="5404861"/>
            <a:ext cx="3629747" cy="459044"/>
          </a:xfrm>
          <a:prstGeom prst="rect">
            <a:avLst/>
          </a:prstGeom>
          <a:solidFill>
            <a:srgbClr val="92D050">
              <a:alpha val="18954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0432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7F8F5-5E75-0C0D-4C96-90FA0719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287147-5AFE-EE80-39B1-00465F37F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Analysis of the results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1C22CB8-31F5-BF57-F181-6036D42ED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DBCB325-FEC9-3259-805C-F99B65C4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11ED7FB7-4ACF-BCA8-9B45-CF9F3138B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383298" cy="4429125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noProof="0"/>
              <a:t>Peak gain 1-value limit satisfaction</a:t>
            </a:r>
          </a:p>
          <a:p>
            <a:pPr marL="342900" indent="-342900">
              <a:buAutoNum type="arabicPeriod"/>
            </a:pPr>
            <a:r>
              <a:rPr lang="en-US" noProof="0"/>
              <a:t>Tuned controller</a:t>
            </a:r>
          </a:p>
          <a:p>
            <a:pPr marL="342900" indent="-342900">
              <a:buAutoNum type="arabicPeriod"/>
            </a:pPr>
            <a:r>
              <a:rPr lang="en-US" noProof="0"/>
              <a:t>Nominal performance satisfaction</a:t>
            </a:r>
          </a:p>
          <a:p>
            <a:pPr marL="342900" indent="-342900">
              <a:buAutoNum type="arabicPeriod"/>
            </a:pPr>
            <a:r>
              <a:rPr lang="en-US" noProof="0"/>
              <a:t>Nominal control effort limitation satisfaction</a:t>
            </a:r>
          </a:p>
          <a:p>
            <a:pPr marL="342900" indent="-342900"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Reiterate?</a:t>
            </a:r>
          </a:p>
          <a:p>
            <a:endParaRPr lang="en-US" noProof="0"/>
          </a:p>
          <a:p>
            <a:pPr marL="342900" indent="-342900">
              <a:buAutoNum type="arabicPeriod"/>
            </a:pPr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0D6C7F90-5DE2-972F-DA72-8B7510A87C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95514" y="808250"/>
                <a:ext cx="7866400" cy="84008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800">
                    <a:ea typeface="+mj-lt"/>
                    <a:cs typeface="+mj-lt"/>
                  </a:rPr>
                  <a:t>Motivation for the relaxation of requirements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</m:ctrlPr>
                      </m:sSubPr>
                      <m:e>
                        <m:r>
                          <a:rPr lang="it-IT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𝑯</m:t>
                        </m:r>
                      </m:e>
                      <m:sub>
                        <m:r>
                          <a:rPr lang="it-IT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800">
                    <a:ea typeface="+mj-lt"/>
                    <a:cs typeface="+mj-lt"/>
                  </a:rPr>
                  <a:t> synthesis </a:t>
                </a:r>
                <a:r>
                  <a:rPr lang="en-US" sz="1800" b="0">
                    <a:ea typeface="+mj-lt"/>
                    <a:cs typeface="+mj-lt"/>
                  </a:rPr>
                  <a:t>of the </a:t>
                </a:r>
              </a:p>
              <a:p>
                <a:r>
                  <a:rPr lang="en-US" sz="1800" b="0">
                    <a:ea typeface="+mj-lt"/>
                    <a:cs typeface="+mj-lt"/>
                  </a:rPr>
                  <a:t>Nominal </a:t>
                </a:r>
                <a:r>
                  <a:rPr lang="en-US" sz="1800" b="0" u="sng">
                    <a:ea typeface="+mj-lt"/>
                    <a:cs typeface="+mj-lt"/>
                  </a:rPr>
                  <a:t>controller design </a:t>
                </a:r>
                <a:r>
                  <a:rPr lang="en-US" sz="1800" b="0">
                    <a:ea typeface="+mj-lt"/>
                    <a:cs typeface="+mj-lt"/>
                  </a:rPr>
                  <a:t>for</a:t>
                </a:r>
                <a:r>
                  <a:rPr lang="en-US" sz="1800" b="0" i="1">
                    <a:ea typeface="+mj-lt"/>
                    <a:cs typeface="+mj-lt"/>
                  </a:rPr>
                  <a:t> </a:t>
                </a:r>
                <a:r>
                  <a:rPr lang="en-US" sz="1800" b="0" i="1">
                    <a:solidFill>
                      <a:schemeClr val="tx2">
                        <a:lumMod val="50000"/>
                        <a:lumOff val="50000"/>
                      </a:schemeClr>
                    </a:solidFill>
                    <a:ea typeface="+mj-lt"/>
                    <a:cs typeface="+mj-lt"/>
                  </a:rPr>
                  <a:t>Longitudinal dynamics</a:t>
                </a:r>
                <a:endParaRPr lang="en-US" b="0" i="1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0D6C7F90-5DE2-972F-DA72-8B7510A87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14" y="808250"/>
                <a:ext cx="7866400" cy="840083"/>
              </a:xfrm>
              <a:prstGeom prst="rect">
                <a:avLst/>
              </a:prstGeom>
              <a:blipFill>
                <a:blip r:embed="rId2"/>
                <a:stretch>
                  <a:fillRect l="-1860" t="-9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0810043-1701-EA5C-522A-556132B7033E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4099A2B0-25C1-78CE-E902-7CC901C6E934}"/>
              </a:ext>
            </a:extLst>
          </p:cNvPr>
          <p:cNvSpPr txBox="1">
            <a:spLocks/>
          </p:cNvSpPr>
          <p:nvPr/>
        </p:nvSpPr>
        <p:spPr>
          <a:xfrm>
            <a:off x="3095514" y="1455912"/>
            <a:ext cx="8886827" cy="1177349"/>
          </a:xfrm>
          <a:prstGeom prst="rect">
            <a:avLst/>
          </a:prstGeom>
        </p:spPr>
        <p:txBody>
          <a:bodyPr vert="horz" lIns="0" tIns="0" rIns="0" bIns="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/>
              <a:t>It is physically impossible to strictly satisfy all design requirements of the 2nd order function simultaneously, in terms of desired tranfer functions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>
                <a:solidFill>
                  <a:schemeClr val="tx2">
                    <a:lumMod val="75000"/>
                    <a:lumOff val="25000"/>
                  </a:schemeClr>
                </a:solidFill>
              </a:rPr>
              <a:t>3D Parameter </a:t>
            </a:r>
            <a:r>
              <a:rPr lang="pt-PT" err="1">
                <a:solidFill>
                  <a:schemeClr val="tx2">
                    <a:lumMod val="75000"/>
                    <a:lumOff val="25000"/>
                  </a:schemeClr>
                </a:solidFill>
              </a:rPr>
              <a:t>Sweep</a:t>
            </a:r>
            <a:r>
              <a:rPr lang="pt-PT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pt-PT" err="1">
                <a:solidFill>
                  <a:schemeClr val="tx2">
                    <a:lumMod val="75000"/>
                    <a:lumOff val="25000"/>
                  </a:schemeClr>
                </a:solidFill>
              </a:rPr>
              <a:t>Study</a:t>
            </a:r>
            <a:r>
              <a:rPr lang="pt-PT">
                <a:solidFill>
                  <a:schemeClr val="tx2">
                    <a:lumMod val="75000"/>
                    <a:lumOff val="25000"/>
                  </a:schemeClr>
                </a:solidFill>
              </a:rPr>
              <a:t>:</a:t>
            </a:r>
            <a:endParaRPr lang="en-US" sz="18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310CB90F-CC9C-CF33-6322-8E1DD77EC601}"/>
                  </a:ext>
                </a:extLst>
              </p:cNvPr>
              <p:cNvSpPr txBox="1"/>
              <p:nvPr/>
            </p:nvSpPr>
            <p:spPr>
              <a:xfrm>
                <a:off x="6910386" y="2627790"/>
                <a:ext cx="6096000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it-IT"/>
                </a:defPPr>
                <a:lvl1pPr>
                  <a:buNone/>
                  <a:defRPr>
                    <a:effectLst/>
                  </a:defRPr>
                </a:lvl1pPr>
              </a:lstStyle>
              <a:p>
                <a:r>
                  <a:rPr lang="pt-PT" sz="1600"/>
                  <a:t>- M (</a:t>
                </a:r>
                <a:r>
                  <a:rPr lang="pt-PT" sz="1600" err="1"/>
                  <a:t>Sensitivity</a:t>
                </a:r>
                <a:r>
                  <a:rPr lang="pt-PT" sz="1600"/>
                  <a:t> </a:t>
                </a:r>
                <a:r>
                  <a:rPr lang="pt-PT" sz="1600" err="1"/>
                  <a:t>Peak</a:t>
                </a:r>
                <a:r>
                  <a:rPr lang="pt-PT" sz="1600"/>
                  <a:t>)</a:t>
                </a:r>
              </a:p>
              <a:p>
                <a:r>
                  <a:rPr lang="pt-PT" sz="160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pt-PT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pt-PT" sz="1600"/>
                  <a:t>(</a:t>
                </a:r>
                <a:r>
                  <a:rPr lang="pt-PT" sz="1600" err="1"/>
                  <a:t>Bandwidth</a:t>
                </a:r>
                <a:r>
                  <a:rPr lang="pt-PT" sz="1600"/>
                  <a:t>)</a:t>
                </a:r>
              </a:p>
              <a:p>
                <a:r>
                  <a:rPr lang="pt-PT" sz="1600"/>
                  <a:t>- </a:t>
                </a:r>
                <a14:m>
                  <m:oMath xmlns:m="http://schemas.openxmlformats.org/officeDocument/2006/math">
                    <m:r>
                      <a:rPr lang="en-US" sz="1600" b="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6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PT" sz="1600"/>
                  <a:t> (</a:t>
                </a:r>
                <a:r>
                  <a:rPr lang="pt-PT" sz="1600" err="1"/>
                  <a:t>Actuator</a:t>
                </a:r>
                <a:r>
                  <a:rPr lang="pt-PT" sz="1600"/>
                  <a:t> </a:t>
                </a:r>
                <a:r>
                  <a:rPr lang="pt-PT" sz="1600" err="1"/>
                  <a:t>constraint</a:t>
                </a:r>
                <a:r>
                  <a:rPr lang="pt-PT" sz="1600"/>
                  <a:t> </a:t>
                </a:r>
                <a:r>
                  <a:rPr lang="pt-PT" sz="1600" err="1"/>
                  <a:t>factor</a:t>
                </a:r>
                <a:r>
                  <a:rPr lang="pt-PT" sz="1600"/>
                  <a:t>)</a:t>
                </a: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310CB90F-CC9C-CF33-6322-8E1DD77EC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386" y="2627790"/>
                <a:ext cx="6096000" cy="861774"/>
              </a:xfrm>
              <a:prstGeom prst="rect">
                <a:avLst/>
              </a:prstGeom>
              <a:blipFill>
                <a:blip r:embed="rId3"/>
                <a:stretch>
                  <a:fillRect l="-600" t="-2837"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0FB090B-CE24-5910-19C6-71F04A29F4B5}"/>
              </a:ext>
            </a:extLst>
          </p:cNvPr>
          <p:cNvSpPr txBox="1">
            <a:spLocks/>
          </p:cNvSpPr>
          <p:nvPr/>
        </p:nvSpPr>
        <p:spPr>
          <a:xfrm>
            <a:off x="3637833" y="2435369"/>
            <a:ext cx="8886827" cy="1177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pt-PT" sz="600"/>
          </a:p>
          <a:p>
            <a:pPr>
              <a:lnSpc>
                <a:spcPct val="150000"/>
              </a:lnSpc>
            </a:pPr>
            <a:r>
              <a:rPr lang="pt-PT"/>
              <a:t>- </a:t>
            </a:r>
            <a:r>
              <a:rPr lang="pt-PT" err="1"/>
              <a:t>Explored</a:t>
            </a:r>
            <a:r>
              <a:rPr lang="pt-PT"/>
              <a:t> a grid of design </a:t>
            </a:r>
            <a:r>
              <a:rPr lang="pt-PT" err="1"/>
              <a:t>weights</a:t>
            </a:r>
            <a:r>
              <a:rPr lang="pt-PT"/>
              <a:t>: </a:t>
            </a:r>
            <a:endParaRPr lang="en-US" sz="18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FF97D03B-FFB4-D655-18B3-A71167391B7F}"/>
              </a:ext>
            </a:extLst>
          </p:cNvPr>
          <p:cNvSpPr txBox="1">
            <a:spLocks/>
          </p:cNvSpPr>
          <p:nvPr/>
        </p:nvSpPr>
        <p:spPr>
          <a:xfrm>
            <a:off x="3637833" y="3271453"/>
            <a:ext cx="8886827" cy="1177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pt-PT" sz="600"/>
          </a:p>
          <a:p>
            <a:pPr>
              <a:lnSpc>
                <a:spcPct val="150000"/>
              </a:lnSpc>
            </a:pPr>
            <a:r>
              <a:rPr lang="pt-PT"/>
              <a:t>- </a:t>
            </a:r>
            <a:r>
              <a:rPr lang="pt-PT" err="1"/>
              <a:t>Evaluated</a:t>
            </a:r>
            <a:r>
              <a:rPr lang="pt-PT"/>
              <a:t> </a:t>
            </a:r>
            <a:r>
              <a:rPr lang="pt-PT" err="1"/>
              <a:t>Metrics</a:t>
            </a:r>
            <a:r>
              <a:rPr lang="pt-PT"/>
              <a:t>:</a:t>
            </a:r>
            <a:endParaRPr lang="en-US" sz="18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204B86DD-EF91-DCCB-BEB3-309EE59603A9}"/>
                  </a:ext>
                </a:extLst>
              </p:cNvPr>
              <p:cNvSpPr txBox="1"/>
              <p:nvPr/>
            </p:nvSpPr>
            <p:spPr>
              <a:xfrm>
                <a:off x="3862386" y="3727038"/>
                <a:ext cx="6096000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it-IT"/>
                </a:defPPr>
                <a:lvl1pPr>
                  <a:buNone/>
                  <a:defRPr>
                    <a:effectLst/>
                  </a:defRPr>
                </a:lvl1pPr>
              </a:lstStyle>
              <a:p>
                <a:r>
                  <a:rPr lang="pt-PT" sz="160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pt-PT" sz="1600" b="0" i="1" smtClean="0">
                            <a:latin typeface="Cambria Math" panose="02040503050406030204" pitchFamily="18" charset="0"/>
                          </a:rPr>
                          <m:t>𝑠𝑒𝑡</m:t>
                        </m:r>
                      </m:sub>
                    </m:sSub>
                  </m:oMath>
                </a14:m>
                <a:r>
                  <a:rPr lang="pt-PT" sz="1600"/>
                  <a:t> (</a:t>
                </a:r>
                <a:r>
                  <a:rPr lang="pt-PT" sz="1600" err="1"/>
                  <a:t>Settling</a:t>
                </a:r>
                <a:r>
                  <a:rPr lang="pt-PT" sz="1600"/>
                  <a:t> Time)</a:t>
                </a:r>
              </a:p>
              <a:p>
                <a:r>
                  <a:rPr lang="pt-PT" sz="160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pt-PT" sz="16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𝑜𝑛</m:t>
                        </m:r>
                        <m:r>
                          <a:rPr lang="pt-PT" sz="16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pt-PT" sz="16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pt-PT" sz="1600"/>
                  <a:t> (Max </a:t>
                </a:r>
                <a:r>
                  <a:rPr lang="pt-PT" sz="1600" err="1"/>
                  <a:t>Actuator</a:t>
                </a:r>
                <a:r>
                  <a:rPr lang="pt-PT" sz="1600"/>
                  <a:t> </a:t>
                </a:r>
                <a:r>
                  <a:rPr lang="pt-PT" sz="1600" err="1"/>
                  <a:t>Deflection</a:t>
                </a:r>
                <a:r>
                  <a:rPr lang="pt-PT" sz="1600"/>
                  <a:t>)</a:t>
                </a:r>
              </a:p>
              <a:p>
                <a:r>
                  <a:rPr lang="pt-PT" sz="1600"/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PT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pt-PT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𝑝𝑒𝑎𝑘</m:t>
                        </m:r>
                      </m:sub>
                    </m:sSub>
                  </m:oMath>
                </a14:m>
                <a:r>
                  <a:rPr lang="pt-PT" sz="1600"/>
                  <a:t> (Sensitivity </a:t>
                </a:r>
                <a:r>
                  <a:rPr lang="pt-PT" sz="1600" err="1"/>
                  <a:t>Peak</a:t>
                </a:r>
                <a:r>
                  <a:rPr lang="pt-PT" sz="1600"/>
                  <a:t> )</a:t>
                </a:r>
              </a:p>
              <a:p>
                <a:r>
                  <a:rPr lang="pt-PT" sz="1600"/>
                  <a:t>- </a:t>
                </a:r>
                <a14:m>
                  <m:oMath xmlns:m="http://schemas.openxmlformats.org/officeDocument/2006/math">
                    <m:r>
                      <a:rPr lang="pt-PT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pt-PT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PT" sz="160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PT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pt-PT" sz="1600"/>
                  <a:t> )</a:t>
                </a: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204B86DD-EF91-DCCB-BEB3-309EE5960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2386" y="3727038"/>
                <a:ext cx="6096000" cy="1107996"/>
              </a:xfrm>
              <a:prstGeom prst="rect">
                <a:avLst/>
              </a:prstGeom>
              <a:blipFill>
                <a:blip r:embed="rId4"/>
                <a:stretch>
                  <a:fillRect l="-600" t="-2198" b="-5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5">
                <a:extLst>
                  <a:ext uri="{FF2B5EF4-FFF2-40B4-BE49-F238E27FC236}">
                    <a16:creationId xmlns:a16="http://schemas.microsoft.com/office/drawing/2014/main" id="{CAFF56F6-CE05-19F2-62E3-DE6DF798B7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68565" y="6355758"/>
                <a:ext cx="8886827" cy="1177349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6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pt-PT" sz="1400" err="1"/>
                  <a:t>Neglecting</a:t>
                </a:r>
                <a:r>
                  <a:rPr lang="pt-PT" sz="14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1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PT" sz="1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pt-PT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𝑝𝑒𝑎𝑘</m:t>
                        </m:r>
                      </m:sub>
                    </m:sSub>
                  </m:oMath>
                </a14:m>
                <a:r>
                  <a:rPr lang="pt-PT" sz="1400"/>
                  <a:t> </a:t>
                </a:r>
              </a:p>
            </p:txBody>
          </p:sp>
        </mc:Choice>
        <mc:Fallback xmlns="">
          <p:sp>
            <p:nvSpPr>
              <p:cNvPr id="7" name="Content Placeholder 5">
                <a:extLst>
                  <a:ext uri="{FF2B5EF4-FFF2-40B4-BE49-F238E27FC236}">
                    <a16:creationId xmlns:a16="http://schemas.microsoft.com/office/drawing/2014/main" id="{CAFF56F6-CE05-19F2-62E3-DE6DF798B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8565" y="6355758"/>
                <a:ext cx="8886827" cy="1177349"/>
              </a:xfrm>
              <a:prstGeom prst="rect">
                <a:avLst/>
              </a:prstGeom>
              <a:blipFill>
                <a:blip r:embed="rId5"/>
                <a:stretch>
                  <a:fillRect l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B5E6D32D-D824-F377-3EC5-9BF22479A6F0}"/>
                  </a:ext>
                </a:extLst>
              </p:cNvPr>
              <p:cNvSpPr txBox="1"/>
              <p:nvPr/>
            </p:nvSpPr>
            <p:spPr>
              <a:xfrm>
                <a:off x="3095514" y="5033258"/>
                <a:ext cx="4598850" cy="1236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PT" sz="1600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Decision</a:t>
                </a:r>
                <a:r>
                  <a:rPr lang="pt-PT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: </a:t>
                </a:r>
                <a:r>
                  <a:rPr lang="pt-PT" sz="1600" err="1"/>
                  <a:t>Parameters</a:t>
                </a:r>
                <a:r>
                  <a:rPr lang="pt-PT" sz="1600"/>
                  <a:t> </a:t>
                </a:r>
                <a:r>
                  <a:rPr lang="pt-PT" sz="1600" err="1"/>
                  <a:t>selected</a:t>
                </a:r>
                <a:r>
                  <a:rPr lang="pt-PT" sz="1600"/>
                  <a:t> to </a:t>
                </a:r>
                <a:r>
                  <a:rPr lang="pt-PT" sz="1600" err="1"/>
                  <a:t>satisfy</a:t>
                </a:r>
                <a:r>
                  <a:rPr lang="pt-PT" sz="1600"/>
                  <a:t> </a:t>
                </a:r>
                <a:r>
                  <a:rPr lang="pt-PT" sz="1600" err="1"/>
                  <a:t>all</a:t>
                </a:r>
                <a:r>
                  <a:rPr lang="pt-PT" sz="1600"/>
                  <a:t>  </a:t>
                </a:r>
                <a:r>
                  <a:rPr lang="pt-PT" sz="1600" err="1"/>
                  <a:t>constraints</a:t>
                </a:r>
                <a:r>
                  <a:rPr lang="pt-PT" sz="1600"/>
                  <a:t> </a:t>
                </a:r>
                <a:r>
                  <a:rPr lang="pt-PT" sz="1600" err="1"/>
                  <a:t>while</a:t>
                </a:r>
                <a:r>
                  <a:rPr lang="pt-PT" sz="1600"/>
                  <a:t> </a:t>
                </a:r>
                <a:r>
                  <a:rPr lang="pt-PT" sz="1600" err="1"/>
                  <a:t>minimizing</a:t>
                </a:r>
                <a:r>
                  <a:rPr lang="pt-PT" sz="16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PT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pt-P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𝑝𝑒𝑎𝑘</m:t>
                        </m:r>
                      </m:sub>
                    </m:sSub>
                    <m:r>
                      <a:rPr lang="pt-P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PT" sz="1600"/>
                  <a:t>for optimal robustness.</a:t>
                </a:r>
                <a:endParaRPr lang="en-US" sz="180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B5E6D32D-D824-F377-3EC5-9BF22479A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14" y="5033258"/>
                <a:ext cx="4598850" cy="1236685"/>
              </a:xfrm>
              <a:prstGeom prst="rect">
                <a:avLst/>
              </a:prstGeom>
              <a:blipFill>
                <a:blip r:embed="rId6"/>
                <a:stretch>
                  <a:fillRect l="-531" r="-928" b="-4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Immagine 24">
            <a:extLst>
              <a:ext uri="{FF2B5EF4-FFF2-40B4-BE49-F238E27FC236}">
                <a16:creationId xmlns:a16="http://schemas.microsoft.com/office/drawing/2014/main" id="{83D0F165-73E0-1654-D3D5-3D45CD4D12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358" y="3468448"/>
            <a:ext cx="3218055" cy="290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8236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D1F11-AC52-266F-3DDD-108870EA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FEC88B-359B-54D3-29C5-64025CE82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Analysis of the results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A207554-3128-A55A-4FFD-C05E964E3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51E7A9A-556F-5798-84ED-E150DE841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50F2E88-4427-D8C6-E172-BDF849822D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383298" cy="4429125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noProof="0"/>
              <a:t>Peak gain 1-value limit satisfaction</a:t>
            </a:r>
          </a:p>
          <a:p>
            <a:pPr marL="342900" indent="-342900">
              <a:buAutoNum type="arabicPeriod"/>
            </a:pPr>
            <a:r>
              <a:rPr lang="en-US" noProof="0"/>
              <a:t>Tuned controller</a:t>
            </a:r>
          </a:p>
          <a:p>
            <a:pPr marL="342900" indent="-342900">
              <a:buAutoNum type="arabicPeriod"/>
            </a:pPr>
            <a:r>
              <a:rPr lang="en-US" noProof="0"/>
              <a:t>Nominal performance satisfaction</a:t>
            </a:r>
          </a:p>
          <a:p>
            <a:pPr marL="342900" indent="-342900">
              <a:buAutoNum type="arabicPeriod"/>
            </a:pPr>
            <a:r>
              <a:rPr lang="en-US" noProof="0"/>
              <a:t>Nominal control effort limitation satisfaction</a:t>
            </a:r>
          </a:p>
          <a:p>
            <a:pPr marL="342900" indent="-342900"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Reiterate?</a:t>
            </a:r>
          </a:p>
          <a:p>
            <a:endParaRPr lang="en-US" noProof="0"/>
          </a:p>
          <a:p>
            <a:pPr marL="342900" indent="-342900">
              <a:buAutoNum type="arabicPeriod"/>
            </a:pPr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846641E4-ADAD-88C3-427D-B30963556A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95514" y="808250"/>
                <a:ext cx="7866400" cy="84008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800">
                    <a:ea typeface="+mj-lt"/>
                    <a:cs typeface="+mj-lt"/>
                  </a:rPr>
                  <a:t>Motivation for the relaxation of requirements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</m:ctrlPr>
                      </m:sSubPr>
                      <m:e>
                        <m:r>
                          <a:rPr lang="it-IT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𝑯</m:t>
                        </m:r>
                      </m:e>
                      <m:sub>
                        <m:r>
                          <a:rPr lang="it-IT" sz="1800" b="1" i="1" smtClean="0">
                            <a:latin typeface="Cambria Math" panose="02040503050406030204" pitchFamily="18" charset="0"/>
                            <a:ea typeface="+mj-lt"/>
                            <a:cs typeface="+mj-lt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800">
                    <a:ea typeface="+mj-lt"/>
                    <a:cs typeface="+mj-lt"/>
                  </a:rPr>
                  <a:t> synthesis </a:t>
                </a:r>
                <a:r>
                  <a:rPr lang="en-US" sz="1800" b="0">
                    <a:ea typeface="+mj-lt"/>
                    <a:cs typeface="+mj-lt"/>
                  </a:rPr>
                  <a:t>of the </a:t>
                </a:r>
              </a:p>
              <a:p>
                <a:r>
                  <a:rPr lang="en-US" sz="1800" b="0">
                    <a:ea typeface="+mj-lt"/>
                    <a:cs typeface="+mj-lt"/>
                  </a:rPr>
                  <a:t>Nominal </a:t>
                </a:r>
                <a:r>
                  <a:rPr lang="en-US" sz="1800" b="0" u="sng">
                    <a:ea typeface="+mj-lt"/>
                    <a:cs typeface="+mj-lt"/>
                  </a:rPr>
                  <a:t>controller design </a:t>
                </a:r>
                <a:r>
                  <a:rPr lang="en-US" sz="1800" b="0">
                    <a:ea typeface="+mj-lt"/>
                    <a:cs typeface="+mj-lt"/>
                  </a:rPr>
                  <a:t>for</a:t>
                </a:r>
                <a:r>
                  <a:rPr lang="en-US" sz="1800" b="0" i="1">
                    <a:ea typeface="+mj-lt"/>
                    <a:cs typeface="+mj-lt"/>
                  </a:rPr>
                  <a:t> </a:t>
                </a:r>
                <a:r>
                  <a:rPr lang="en-US" sz="1800" b="0" i="1">
                    <a:solidFill>
                      <a:schemeClr val="tx2">
                        <a:lumMod val="50000"/>
                        <a:lumOff val="50000"/>
                      </a:schemeClr>
                    </a:solidFill>
                    <a:ea typeface="+mj-lt"/>
                    <a:cs typeface="+mj-lt"/>
                  </a:rPr>
                  <a:t>Longitudinal dynamics</a:t>
                </a:r>
                <a:endParaRPr lang="en-US" b="0" i="1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846641E4-ADAD-88C3-427D-B30963556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14" y="808250"/>
                <a:ext cx="7866400" cy="840083"/>
              </a:xfrm>
              <a:prstGeom prst="rect">
                <a:avLst/>
              </a:prstGeom>
              <a:blipFill>
                <a:blip r:embed="rId2"/>
                <a:stretch>
                  <a:fillRect l="-1860" t="-9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8F746008-A6E1-B4A4-F542-C5D3CD9A4255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AE4371A-2B01-B65E-0359-BBDE14ED7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928" y="1512050"/>
            <a:ext cx="4205622" cy="2371746"/>
          </a:xfrm>
          <a:prstGeom prst="rect">
            <a:avLst/>
          </a:prstGeom>
          <a:ln>
            <a:solidFill>
              <a:srgbClr val="3B35DE"/>
            </a:solidFill>
          </a:ln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1757A9B3-9863-1E75-1456-077AABF4E8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648" y="4016665"/>
            <a:ext cx="3671499" cy="2677135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A3275072-8C97-7803-47B7-BDE062084A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5110" y="4015149"/>
            <a:ext cx="3673579" cy="2678651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DDD69264-B4A8-5B31-B315-22346E11B1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705" y="1638944"/>
            <a:ext cx="2853384" cy="220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767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C8716-4BE4-F5E1-80C6-FBDA4A2B7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84FBFF-5FC5-9932-097B-20275442B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Uncertain modeling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C7E1BE9-1CDB-522A-EDF8-59E1BA067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26D3B-03D2-4B47-B87E-FB37B34FF9BC}" type="datetime1">
              <a:rPr lang="en-US" smtClean="0"/>
              <a:t>6/27/2026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0F0E57A-B25F-F7CB-9137-CF5043A6E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110573" cy="497690"/>
          </a:xfrm>
        </p:spPr>
        <p:txBody>
          <a:bodyPr/>
          <a:lstStyle/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</a:endParaRPr>
          </a:p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C7ED881-7153-6F86-EDBA-9C16BB90A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A34946C-C5CE-E4D7-0FC1-03CCF12330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3600"/>
              <a:t>TASK</a:t>
            </a:r>
            <a:endParaRPr lang="en-US"/>
          </a:p>
          <a:p>
            <a:r>
              <a:rPr lang="en-US"/>
              <a:t>2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F401C59-39D6-61CF-DC3D-0A1A5727C37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-5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68458" y="2596443"/>
            <a:ext cx="6545986" cy="480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7643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A4804-B64B-CD09-8848-2F3C3667C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E4B09C17-CBA3-F9EC-F0F1-084AA865E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-56000"/>
                    </a14:imgEffect>
                  </a14:imgLayer>
                </a14:imgProps>
              </a:ext>
            </a:extLst>
          </a:blip>
          <a:srcRect l="18314" t="-591" r="44477"/>
          <a:stretch>
            <a:fillRect/>
          </a:stretch>
        </p:blipFill>
        <p:spPr>
          <a:xfrm>
            <a:off x="1940" y="779078"/>
            <a:ext cx="2892452" cy="5710446"/>
          </a:xfrm>
          <a:prstGeom prst="rect">
            <a:avLst/>
          </a:prstGeom>
          <a:noFill/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082DEBF-7BFC-1BA5-4125-06174DD87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255" y="778016"/>
            <a:ext cx="5761038" cy="840083"/>
          </a:xfrm>
        </p:spPr>
        <p:txBody>
          <a:bodyPr anchor="t">
            <a:normAutofit/>
          </a:bodyPr>
          <a:lstStyle/>
          <a:p>
            <a:r>
              <a:rPr lang="en-US"/>
              <a:t>Uncertain Modelling: Lateral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96FB794-252C-1215-8579-FF4A0423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C526D3B-03D2-4B47-B87E-FB37B34FF9BC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78BA639-A161-EDBD-9EC9-124C512BB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204381" cy="365125"/>
          </a:xfrm>
        </p:spPr>
        <p:txBody>
          <a:bodyPr anchor="b">
            <a:normAutofit/>
          </a:bodyPr>
          <a:lstStyle/>
          <a:p>
            <a:pPr lvl="0"/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E8B84F4-E6F0-975F-475D-E68794A33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55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F3561F92-035A-4774-AC4E-5B762F013B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2060575"/>
            <a:ext cx="5761038" cy="4429125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57641AA-BFB6-555A-32C4-7A8AF0172831}"/>
              </a:ext>
            </a:extLst>
          </p:cNvPr>
          <p:cNvGrpSpPr/>
          <p:nvPr/>
        </p:nvGrpSpPr>
        <p:grpSpPr>
          <a:xfrm>
            <a:off x="3293630" y="885665"/>
            <a:ext cx="8732486" cy="892552"/>
            <a:chOff x="3294890" y="1400327"/>
            <a:chExt cx="8732486" cy="8925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F1F2A383-86CA-72BA-E0DC-855B69E00184}"/>
                    </a:ext>
                  </a:extLst>
                </p:cNvPr>
                <p:cNvSpPr txBox="1"/>
                <p:nvPr/>
              </p:nvSpPr>
              <p:spPr>
                <a:xfrm>
                  <a:off x="6043974" y="1400327"/>
                  <a:ext cx="587374" cy="8925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br>
                    <a:rPr lang="en-US" sz="1100" b="0" i="0" u="none" strike="noStrike">
                      <a:effectLst/>
                      <a:latin typeface="STIXGeneral-Regular"/>
                    </a:rPr>
                  </a:br>
                  <a:endParaRPr lang="en-US" sz="1100" b="0" i="0" u="none" strike="noStrike">
                    <a:effectLst/>
                    <a:latin typeface="STIXGeneral-Regular"/>
                  </a:endParaRPr>
                </a:p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US" i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i="0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/>
                </a:p>
                <a:p>
                  <a:pPr>
                    <a:buNone/>
                  </a:pPr>
                  <a:r>
                    <a:rPr lang="en-US" sz="1200" b="0" i="0">
                      <a:effectLst/>
                      <a:latin typeface="Aptos" panose="020B0004020202020204" pitchFamily="34" charset="0"/>
                    </a:rPr>
                    <a:t> </a:t>
                  </a:r>
                  <a:endParaRPr lang="en-US"/>
                </a:p>
              </p:txBody>
            </p:sp>
          </mc:Choice>
          <mc:Fallback xmlns=""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F1F2A383-86CA-72BA-E0DC-855B69E001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3974" y="1400327"/>
                  <a:ext cx="587374" cy="89255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Content Placeholder 5">
              <a:extLst>
                <a:ext uri="{FF2B5EF4-FFF2-40B4-BE49-F238E27FC236}">
                  <a16:creationId xmlns:a16="http://schemas.microsoft.com/office/drawing/2014/main" id="{34799018-7D93-1E7D-7303-8A2FC88A9B3A}"/>
                </a:ext>
              </a:extLst>
            </p:cNvPr>
            <p:cNvSpPr txBox="1">
              <a:spLocks/>
            </p:cNvSpPr>
            <p:nvPr/>
          </p:nvSpPr>
          <p:spPr>
            <a:xfrm>
              <a:off x="3294890" y="1709229"/>
              <a:ext cx="8732486" cy="554749"/>
            </a:xfrm>
            <a:prstGeom prst="rect">
              <a:avLst/>
            </a:prstGeom>
          </p:spPr>
          <p:txBody>
            <a:bodyPr vert="horz" lIns="0" tIns="0" rIns="0" bIns="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it-IT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lang="it-IT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lang="it-IT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lang="it-IT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lang="it-IT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800">
                  <a:solidFill>
                    <a:srgbClr val="102C53"/>
                  </a:solidFill>
                </a:rPr>
                <a:t>Parametric Uncertainty:            </a:t>
              </a:r>
              <a:r>
                <a:rPr lang="en-US" sz="1800"/>
                <a:t>ranges as deterministic bounds 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1800">
                <a:solidFill>
                  <a:srgbClr val="102C53"/>
                </a:solidFill>
              </a:endParaRPr>
            </a:p>
          </p:txBody>
        </p:sp>
      </p:grpSp>
      <p:pic>
        <p:nvPicPr>
          <p:cNvPr id="16" name="Imagem 15">
            <a:extLst>
              <a:ext uri="{FF2B5EF4-FFF2-40B4-BE49-F238E27FC236}">
                <a16:creationId xmlns:a16="http://schemas.microsoft.com/office/drawing/2014/main" id="{5918FF6F-0233-FFC4-C431-A1CEA5D9A1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630" y="1618099"/>
            <a:ext cx="5219749" cy="2732039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712A4234-9612-ACB0-2D47-095C5A8B73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324" y="2239373"/>
            <a:ext cx="3441124" cy="2110765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EFE23AA6-6F16-B088-E60C-A5A476EB60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088" y="4417303"/>
            <a:ext cx="5521567" cy="2076199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805299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8D404-093B-3042-2DA6-16FF6FD6D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8E559CD9-643F-DC58-1F76-4EC5FBF97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-56000"/>
                    </a14:imgEffect>
                  </a14:imgLayer>
                </a14:imgProps>
              </a:ext>
            </a:extLst>
          </a:blip>
          <a:srcRect l="18314" t="-591" r="44477"/>
          <a:stretch>
            <a:fillRect/>
          </a:stretch>
        </p:blipFill>
        <p:spPr>
          <a:xfrm>
            <a:off x="1940" y="779078"/>
            <a:ext cx="2892452" cy="5710446"/>
          </a:xfrm>
          <a:prstGeom prst="rect">
            <a:avLst/>
          </a:prstGeom>
          <a:noFill/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F20FB91C-6E89-23B4-C3B7-35B47DE2D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255" y="778016"/>
            <a:ext cx="5761038" cy="840083"/>
          </a:xfrm>
        </p:spPr>
        <p:txBody>
          <a:bodyPr anchor="t">
            <a:normAutofit/>
          </a:bodyPr>
          <a:lstStyle/>
          <a:p>
            <a:r>
              <a:rPr lang="en-US"/>
              <a:t>Uncertain Modelling: Lateral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1C38065-4F2C-CCEE-3D62-DBDF36D6DE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C526D3B-03D2-4B47-B87E-FB37B34FF9BC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1CD77E8-8B92-3EFB-E9A6-0B1C6468C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56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2CD9BF01-4B3C-88F9-009C-CA07ACF663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2060575"/>
            <a:ext cx="5761038" cy="4429125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2C32AD4B-559D-FA34-6378-3BE9B100ED38}"/>
              </a:ext>
            </a:extLst>
          </p:cNvPr>
          <p:cNvSpPr txBox="1">
            <a:spLocks/>
          </p:cNvSpPr>
          <p:nvPr/>
        </p:nvSpPr>
        <p:spPr>
          <a:xfrm>
            <a:off x="3293630" y="1289875"/>
            <a:ext cx="8732486" cy="5547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>
              <a:solidFill>
                <a:srgbClr val="102C53"/>
              </a:solidFill>
            </a:endParaRP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685EDAE4-450A-9554-ED9D-4E8F24EFB321}"/>
              </a:ext>
            </a:extLst>
          </p:cNvPr>
          <p:cNvSpPr txBox="1">
            <a:spLocks/>
          </p:cNvSpPr>
          <p:nvPr/>
        </p:nvSpPr>
        <p:spPr>
          <a:xfrm>
            <a:off x="3293630" y="1192924"/>
            <a:ext cx="8732486" cy="5547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102C53"/>
                </a:solidFill>
              </a:rPr>
              <a:t>Model Analysis: Poles and Zeros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B1978B59-2552-B851-6856-BBFF6E5039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790" y="1715050"/>
            <a:ext cx="3677769" cy="1681576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E934576A-FCDD-98B4-28EF-00502BB76A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873" y="1915098"/>
            <a:ext cx="3823484" cy="1373898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2EA765DE-4F2A-1E30-BBD7-4E319FF141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391" y="3461375"/>
            <a:ext cx="4493793" cy="3086793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0CA25963-ADCE-3E91-3FA5-69009F6181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143" y="3461375"/>
            <a:ext cx="4255895" cy="3157481"/>
          </a:xfrm>
          <a:prstGeom prst="rect">
            <a:avLst/>
          </a:prstGeom>
        </p:spPr>
      </p:pic>
      <p:sp>
        <p:nvSpPr>
          <p:cNvPr id="7" name="Segnaposto piè di pagina 3">
            <a:extLst>
              <a:ext uri="{FF2B5EF4-FFF2-40B4-BE49-F238E27FC236}">
                <a16:creationId xmlns:a16="http://schemas.microsoft.com/office/drawing/2014/main" id="{E6506027-1047-0794-11FE-955B9CFEE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204381" cy="365125"/>
          </a:xfrm>
        </p:spPr>
        <p:txBody>
          <a:bodyPr anchor="b">
            <a:normAutofit/>
          </a:bodyPr>
          <a:lstStyle/>
          <a:p>
            <a:pPr lvl="0"/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2410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167FB-D3E9-53C1-681D-770C1A8B0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20CA5BBE-C074-1B34-35B9-6F4A3C00E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-56000"/>
                    </a14:imgEffect>
                  </a14:imgLayer>
                </a14:imgProps>
              </a:ext>
            </a:extLst>
          </a:blip>
          <a:srcRect l="18314" t="-591" r="44477"/>
          <a:stretch>
            <a:fillRect/>
          </a:stretch>
        </p:blipFill>
        <p:spPr>
          <a:xfrm>
            <a:off x="1940" y="779078"/>
            <a:ext cx="2892452" cy="5710446"/>
          </a:xfrm>
          <a:prstGeom prst="rect">
            <a:avLst/>
          </a:prstGeom>
          <a:noFill/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F61398B2-01D3-018D-39F6-E66AA87A9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255" y="778016"/>
            <a:ext cx="5761038" cy="840083"/>
          </a:xfrm>
        </p:spPr>
        <p:txBody>
          <a:bodyPr anchor="t">
            <a:normAutofit/>
          </a:bodyPr>
          <a:lstStyle/>
          <a:p>
            <a:r>
              <a:rPr lang="it-IT" err="1"/>
              <a:t>Uncertain</a:t>
            </a:r>
            <a:r>
              <a:rPr lang="it-IT"/>
              <a:t> </a:t>
            </a:r>
            <a:r>
              <a:rPr lang="it-IT" err="1"/>
              <a:t>Modelling</a:t>
            </a:r>
            <a:r>
              <a:rPr lang="it-IT"/>
              <a:t>: </a:t>
            </a:r>
            <a:r>
              <a:rPr lang="it-IT" err="1"/>
              <a:t>Lateral</a:t>
            </a:r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606754-578B-EE3B-A86A-78106EB458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C526D3B-03D2-4B47-B87E-FB37B34FF9BC}" type="datetime1">
              <a:rPr lang="it-IT" smtClean="0"/>
              <a:pPr>
                <a:spcAft>
                  <a:spcPts val="600"/>
                </a:spcAft>
              </a:pPr>
              <a:t>27/06/2026</a:t>
            </a:fld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AFBFC56-838E-B35E-87A2-7B8CB8592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it-IT" smtClean="0"/>
              <a:pPr>
                <a:spcAft>
                  <a:spcPts val="600"/>
                </a:spcAft>
              </a:pPr>
              <a:t>57</a:t>
            </a:fld>
            <a:endParaRPr lang="it-IT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39D6FC05-FE1C-357E-A446-8C2BEE62B0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2060575"/>
            <a:ext cx="5761038" cy="4429125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spcAft>
                <a:spcPts val="600"/>
              </a:spcAft>
            </a:pPr>
            <a:endParaRPr lang="it-IT"/>
          </a:p>
          <a:p>
            <a:pPr>
              <a:spcAft>
                <a:spcPts val="600"/>
              </a:spcAft>
            </a:pPr>
            <a:endParaRPr lang="it-IT"/>
          </a:p>
          <a:p>
            <a:pPr>
              <a:spcAft>
                <a:spcPts val="600"/>
              </a:spcAft>
            </a:pPr>
            <a:endParaRPr lang="it-IT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BAFA77-A0C4-9667-04CB-35FA371DFB58}"/>
              </a:ext>
            </a:extLst>
          </p:cNvPr>
          <p:cNvSpPr txBox="1">
            <a:spLocks/>
          </p:cNvSpPr>
          <p:nvPr/>
        </p:nvSpPr>
        <p:spPr>
          <a:xfrm>
            <a:off x="3293630" y="1289875"/>
            <a:ext cx="8732486" cy="5547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8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>
              <a:solidFill>
                <a:srgbClr val="102C53"/>
              </a:solidFill>
            </a:endParaRP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FCE47067-4415-23BA-48AE-803A39C2FC67}"/>
              </a:ext>
            </a:extLst>
          </p:cNvPr>
          <p:cNvSpPr txBox="1">
            <a:spLocks/>
          </p:cNvSpPr>
          <p:nvPr/>
        </p:nvSpPr>
        <p:spPr>
          <a:xfrm>
            <a:off x="3293630" y="1192924"/>
            <a:ext cx="8732486" cy="116480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102C53"/>
                </a:solidFill>
              </a:rPr>
              <a:t>Model Analysis: Frequency Response Functions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6C3BED4-4700-5D8D-8BB7-3B5E7DC208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0213" y="3510120"/>
            <a:ext cx="4483583" cy="303324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A57E42B-1DF3-4F00-A88F-FF6ABBF0F1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426" y="3456283"/>
            <a:ext cx="4483583" cy="3033241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BFC8F7F8-58C0-7F9E-674A-6361D0673E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5140" y="1016278"/>
            <a:ext cx="3400976" cy="22673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21">
                <a:extLst>
                  <a:ext uri="{FF2B5EF4-FFF2-40B4-BE49-F238E27FC236}">
                    <a16:creationId xmlns:a16="http://schemas.microsoft.com/office/drawing/2014/main" id="{CE1729FE-D4C9-EDCB-C631-EF09ED8365CA}"/>
                  </a:ext>
                </a:extLst>
              </p:cNvPr>
              <p:cNvSpPr txBox="1"/>
              <p:nvPr/>
            </p:nvSpPr>
            <p:spPr>
              <a:xfrm>
                <a:off x="3214255" y="1738496"/>
                <a:ext cx="4687503" cy="978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𝑙𝑎𝑡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sz="1400"/>
                                  <m:t>170.2</m:t>
                                </m:r>
                                <m:f>
                                  <m:f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1−0.378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s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sz="1400"/>
                                  <m:t>170.2</m:t>
                                </m:r>
                                <m:f>
                                  <m:f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s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(1−0.378 )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s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1400"/>
              </a:p>
            </p:txBody>
          </p:sp>
        </mc:Choice>
        <mc:Fallback xmlns="">
          <p:sp>
            <p:nvSpPr>
              <p:cNvPr id="9" name="CasellaDiTesto 21">
                <a:extLst>
                  <a:ext uri="{FF2B5EF4-FFF2-40B4-BE49-F238E27FC236}">
                    <a16:creationId xmlns:a16="http://schemas.microsoft.com/office/drawing/2014/main" id="{CE1729FE-D4C9-EDCB-C631-EF09ED836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255" y="1738496"/>
                <a:ext cx="4687503" cy="9781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egnaposto piè di pagina 3">
            <a:extLst>
              <a:ext uri="{FF2B5EF4-FFF2-40B4-BE49-F238E27FC236}">
                <a16:creationId xmlns:a16="http://schemas.microsoft.com/office/drawing/2014/main" id="{20028DAA-624C-83C8-657A-C52AC0B3E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204381" cy="365125"/>
          </a:xfrm>
        </p:spPr>
        <p:txBody>
          <a:bodyPr anchor="b">
            <a:normAutofit/>
          </a:bodyPr>
          <a:lstStyle/>
          <a:p>
            <a:pPr lvl="0"/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24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4A6B2-5755-21EF-6E94-A84E59550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F556FE41-3D1F-929F-3A88-E8DA4F770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-56000"/>
                    </a14:imgEffect>
                  </a14:imgLayer>
                </a14:imgProps>
              </a:ext>
            </a:extLst>
          </a:blip>
          <a:srcRect l="18314" t="-591" r="44477"/>
          <a:stretch>
            <a:fillRect/>
          </a:stretch>
        </p:blipFill>
        <p:spPr>
          <a:xfrm>
            <a:off x="1940" y="779078"/>
            <a:ext cx="2892452" cy="5710446"/>
          </a:xfrm>
          <a:prstGeom prst="rect">
            <a:avLst/>
          </a:prstGeom>
          <a:noFill/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AC39C17C-15A9-5A71-DA55-B5CAB42A1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255" y="778016"/>
            <a:ext cx="5761038" cy="840083"/>
          </a:xfrm>
        </p:spPr>
        <p:txBody>
          <a:bodyPr anchor="t">
            <a:normAutofit/>
          </a:bodyPr>
          <a:lstStyle/>
          <a:p>
            <a:r>
              <a:rPr lang="en-US"/>
              <a:t>Uncertain Modelling: Longitudinal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2282660-F9E4-9950-095D-81A962B4AF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C526D3B-03D2-4B47-B87E-FB37B34FF9BC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C3D668B-DAE0-9E92-5EA5-7AD413ABF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58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453D5EE-9A4E-B6C1-9970-3BB3128B58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2060575"/>
            <a:ext cx="5761038" cy="4429125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13E5FC48-8761-0469-2A74-75065E9C1EDB}"/>
              </a:ext>
            </a:extLst>
          </p:cNvPr>
          <p:cNvGrpSpPr/>
          <p:nvPr/>
        </p:nvGrpSpPr>
        <p:grpSpPr>
          <a:xfrm>
            <a:off x="3293630" y="835992"/>
            <a:ext cx="8732486" cy="892552"/>
            <a:chOff x="3294890" y="1400327"/>
            <a:chExt cx="8732486" cy="8925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A99AD8EA-D740-ED77-91E9-FB2B8508491B}"/>
                    </a:ext>
                  </a:extLst>
                </p:cNvPr>
                <p:cNvSpPr txBox="1"/>
                <p:nvPr/>
              </p:nvSpPr>
              <p:spPr>
                <a:xfrm>
                  <a:off x="6043974" y="1400327"/>
                  <a:ext cx="587374" cy="8925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br>
                    <a:rPr lang="en-US" sz="1100" b="0" i="0" u="none" strike="noStrike">
                      <a:effectLst/>
                      <a:latin typeface="STIXGeneral-Regular"/>
                    </a:rPr>
                  </a:br>
                  <a:endParaRPr lang="en-US" sz="1100" b="0" i="0" u="none" strike="noStrike">
                    <a:effectLst/>
                    <a:latin typeface="STIXGeneral-Regular"/>
                  </a:endParaRPr>
                </a:p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US" i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i="0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/>
                </a:p>
                <a:p>
                  <a:pPr>
                    <a:buNone/>
                  </a:pPr>
                  <a:r>
                    <a:rPr lang="en-US" sz="1200" b="0" i="0">
                      <a:effectLst/>
                      <a:latin typeface="Aptos" panose="020B0004020202020204" pitchFamily="34" charset="0"/>
                    </a:rPr>
                    <a:t> </a:t>
                  </a:r>
                  <a:endParaRPr lang="en-US"/>
                </a:p>
              </p:txBody>
            </p:sp>
          </mc:Choice>
          <mc:Fallback xmlns=""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A99AD8EA-D740-ED77-91E9-FB2B850849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3974" y="1400327"/>
                  <a:ext cx="587374" cy="89255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Content Placeholder 5">
              <a:extLst>
                <a:ext uri="{FF2B5EF4-FFF2-40B4-BE49-F238E27FC236}">
                  <a16:creationId xmlns:a16="http://schemas.microsoft.com/office/drawing/2014/main" id="{CB055C04-2539-6238-BD35-3C0B9A616987}"/>
                </a:ext>
              </a:extLst>
            </p:cNvPr>
            <p:cNvSpPr txBox="1">
              <a:spLocks/>
            </p:cNvSpPr>
            <p:nvPr/>
          </p:nvSpPr>
          <p:spPr>
            <a:xfrm>
              <a:off x="3294890" y="1677699"/>
              <a:ext cx="8732486" cy="554749"/>
            </a:xfrm>
            <a:prstGeom prst="rect">
              <a:avLst/>
            </a:prstGeom>
          </p:spPr>
          <p:txBody>
            <a:bodyPr vert="horz" lIns="0" tIns="0" rIns="0" bIns="0" rtlCol="0" anchor="t">
              <a:normAutofit/>
            </a:bodyPr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it-IT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lang="it-IT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lang="it-IT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lang="it-IT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lang="it-IT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800">
                  <a:solidFill>
                    <a:srgbClr val="102C53"/>
                  </a:solidFill>
                </a:rPr>
                <a:t>Parametric Uncertainty:            </a:t>
              </a:r>
              <a:r>
                <a:rPr lang="en-US" sz="1800"/>
                <a:t>ranges as deterministic bounds 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1800">
                <a:solidFill>
                  <a:srgbClr val="102C53"/>
                </a:solidFill>
              </a:endParaRPr>
            </a:p>
          </p:txBody>
        </p:sp>
      </p:grpSp>
      <p:pic>
        <p:nvPicPr>
          <p:cNvPr id="16" name="Imagem 15">
            <a:extLst>
              <a:ext uri="{FF2B5EF4-FFF2-40B4-BE49-F238E27FC236}">
                <a16:creationId xmlns:a16="http://schemas.microsoft.com/office/drawing/2014/main" id="{24DF7DF7-0BC2-62EB-99A3-CED8DC7EEE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60176" y="1618099"/>
            <a:ext cx="5192274" cy="2690240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579C90F2-174A-4CD1-2AA9-7C4EFE9D80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538" y="2103471"/>
            <a:ext cx="3594538" cy="2204868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</p:pic>
      <p:sp>
        <p:nvSpPr>
          <p:cNvPr id="7" name="Segnaposto piè di pagina 3">
            <a:extLst>
              <a:ext uri="{FF2B5EF4-FFF2-40B4-BE49-F238E27FC236}">
                <a16:creationId xmlns:a16="http://schemas.microsoft.com/office/drawing/2014/main" id="{22C5CF7F-0DF1-A87F-3F84-D56C39718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204381" cy="365125"/>
          </a:xfrm>
        </p:spPr>
        <p:txBody>
          <a:bodyPr anchor="b">
            <a:normAutofit/>
          </a:bodyPr>
          <a:lstStyle/>
          <a:p>
            <a:pPr lvl="0"/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1319831-5EA2-5525-8DCA-58241DB9D7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5"/>
          <a:stretch>
            <a:fillRect/>
          </a:stretch>
        </p:blipFill>
        <p:spPr>
          <a:xfrm>
            <a:off x="4545200" y="4464869"/>
            <a:ext cx="5618987" cy="2067915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250458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BA312-5FFF-CCFD-F609-736BC9DC9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039AE1A9-2F4A-7B43-3EBA-157FA04CD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-56000"/>
                    </a14:imgEffect>
                  </a14:imgLayer>
                </a14:imgProps>
              </a:ext>
            </a:extLst>
          </a:blip>
          <a:srcRect l="18314" t="-591" r="44477"/>
          <a:stretch>
            <a:fillRect/>
          </a:stretch>
        </p:blipFill>
        <p:spPr>
          <a:xfrm>
            <a:off x="1940" y="779078"/>
            <a:ext cx="2892452" cy="5710446"/>
          </a:xfrm>
          <a:prstGeom prst="rect">
            <a:avLst/>
          </a:prstGeom>
          <a:noFill/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4485A951-51EE-BE84-5BE2-4EB3AC31A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255" y="778016"/>
            <a:ext cx="5761038" cy="840083"/>
          </a:xfrm>
        </p:spPr>
        <p:txBody>
          <a:bodyPr anchor="t">
            <a:normAutofit/>
          </a:bodyPr>
          <a:lstStyle/>
          <a:p>
            <a:r>
              <a:rPr lang="en-US"/>
              <a:t>Uncertain Modelling: Longitudinal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2D3B510-9D1A-6474-F0EF-0516072957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C526D3B-03D2-4B47-B87E-FB37B34FF9BC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11A06CC-B1BE-B8BA-BA1C-AAFB765C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59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0657C768-43A0-C671-C7A1-D5885598F4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2060575"/>
            <a:ext cx="5761038" cy="4429125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70405E83-FE67-1C80-5A62-91C9BA170A97}"/>
              </a:ext>
            </a:extLst>
          </p:cNvPr>
          <p:cNvSpPr txBox="1">
            <a:spLocks/>
          </p:cNvSpPr>
          <p:nvPr/>
        </p:nvSpPr>
        <p:spPr>
          <a:xfrm>
            <a:off x="3293630" y="1289875"/>
            <a:ext cx="8732486" cy="5547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>
              <a:solidFill>
                <a:srgbClr val="102C53"/>
              </a:solidFill>
            </a:endParaRP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56C9826A-39EE-FA89-D6DE-5D0B6E430907}"/>
              </a:ext>
            </a:extLst>
          </p:cNvPr>
          <p:cNvSpPr txBox="1">
            <a:spLocks/>
          </p:cNvSpPr>
          <p:nvPr/>
        </p:nvSpPr>
        <p:spPr>
          <a:xfrm>
            <a:off x="3293630" y="1192924"/>
            <a:ext cx="8732486" cy="5547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102C53"/>
                </a:solidFill>
              </a:rPr>
              <a:t>Model Analysis: Poles and Zeros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7EA27322-C3A2-373D-4270-2E3A67E19D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50147" y="1618099"/>
            <a:ext cx="3647054" cy="1681576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EB127F0-E73A-782E-B493-B27AA97577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11283" y="1896294"/>
            <a:ext cx="4100751" cy="1286886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586FEDFD-209C-1869-46C4-A74930B12E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92" y="3518021"/>
            <a:ext cx="4436684" cy="3012274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31A9E621-556A-E8B7-BB68-967A3CF6C4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87248" y="3518022"/>
            <a:ext cx="4369791" cy="2966858"/>
          </a:xfrm>
          <a:prstGeom prst="rect">
            <a:avLst/>
          </a:prstGeom>
        </p:spPr>
      </p:pic>
      <p:sp>
        <p:nvSpPr>
          <p:cNvPr id="7" name="Segnaposto piè di pagina 3">
            <a:extLst>
              <a:ext uri="{FF2B5EF4-FFF2-40B4-BE49-F238E27FC236}">
                <a16:creationId xmlns:a16="http://schemas.microsoft.com/office/drawing/2014/main" id="{3E02D2CC-8F5D-561F-8C96-CD1080A5D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204381" cy="365125"/>
          </a:xfrm>
        </p:spPr>
        <p:txBody>
          <a:bodyPr anchor="b">
            <a:normAutofit/>
          </a:bodyPr>
          <a:lstStyle/>
          <a:p>
            <a:pPr lvl="0"/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50657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71523-9595-114D-FC0A-C0AE4C1DB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FC8E47CE-2025-A785-5A44-035F9E342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-56000"/>
                    </a14:imgEffect>
                  </a14:imgLayer>
                </a14:imgProps>
              </a:ext>
            </a:extLst>
          </a:blip>
          <a:srcRect l="18314" t="-591" r="44477"/>
          <a:stretch>
            <a:fillRect/>
          </a:stretch>
        </p:blipFill>
        <p:spPr>
          <a:xfrm>
            <a:off x="1940" y="779078"/>
            <a:ext cx="2892452" cy="5710446"/>
          </a:xfrm>
          <a:prstGeom prst="rect">
            <a:avLst/>
          </a:prstGeom>
          <a:noFill/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3AA4D35-6B00-70A6-8D5F-FDF5C05B5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255" y="778016"/>
            <a:ext cx="5761038" cy="840083"/>
          </a:xfrm>
        </p:spPr>
        <p:txBody>
          <a:bodyPr anchor="t">
            <a:normAutofit/>
          </a:bodyPr>
          <a:lstStyle/>
          <a:p>
            <a:r>
              <a:rPr lang="en-US"/>
              <a:t>Uncertain Modelling: Longitudinal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E533959-8EB5-FCB7-9608-085E5C155F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C526D3B-03D2-4B47-B87E-FB37B34FF9BC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53AEA19-D45F-4D25-01BE-8D889A187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60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3C8E8BA1-59EA-BC60-BC88-4FB62427CB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2060575"/>
            <a:ext cx="5761038" cy="4429125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BBA524E1-1DDF-527A-6953-CE9ABC192E25}"/>
              </a:ext>
            </a:extLst>
          </p:cNvPr>
          <p:cNvSpPr txBox="1">
            <a:spLocks/>
          </p:cNvSpPr>
          <p:nvPr/>
        </p:nvSpPr>
        <p:spPr>
          <a:xfrm>
            <a:off x="3293630" y="1289875"/>
            <a:ext cx="8732486" cy="5547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>
              <a:solidFill>
                <a:srgbClr val="102C53"/>
              </a:solidFill>
            </a:endParaRP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8F03EC9F-0CEA-B57F-958A-46BB6349E611}"/>
              </a:ext>
            </a:extLst>
          </p:cNvPr>
          <p:cNvSpPr txBox="1">
            <a:spLocks/>
          </p:cNvSpPr>
          <p:nvPr/>
        </p:nvSpPr>
        <p:spPr>
          <a:xfrm>
            <a:off x="3293630" y="1192924"/>
            <a:ext cx="8732486" cy="116480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102C53"/>
                </a:solidFill>
              </a:rPr>
              <a:t>Model Analysis: Frequency Response Functions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C8A6154-8D77-A07C-5523-824E7071AD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90213" y="3532213"/>
            <a:ext cx="4483583" cy="298905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749FEAF-55FA-04BA-108B-85FE5ADDD4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23284" y="3456283"/>
            <a:ext cx="4463867" cy="3033241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CAC60F05-5B1A-FA06-31F5-6A0CC8985A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86895" y="1254327"/>
            <a:ext cx="3375418" cy="2246317"/>
          </a:xfrm>
          <a:prstGeom prst="rect">
            <a:avLst/>
          </a:prstGeom>
        </p:spPr>
      </p:pic>
      <p:sp>
        <p:nvSpPr>
          <p:cNvPr id="9" name="Segnaposto piè di pagina 3">
            <a:extLst>
              <a:ext uri="{FF2B5EF4-FFF2-40B4-BE49-F238E27FC236}">
                <a16:creationId xmlns:a16="http://schemas.microsoft.com/office/drawing/2014/main" id="{DC1E6B5C-E416-45A9-A97E-F06932ED0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204381" cy="365125"/>
          </a:xfrm>
        </p:spPr>
        <p:txBody>
          <a:bodyPr anchor="b">
            <a:normAutofit/>
          </a:bodyPr>
          <a:lstStyle/>
          <a:p>
            <a:pPr lvl="0"/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21">
                <a:extLst>
                  <a:ext uri="{FF2B5EF4-FFF2-40B4-BE49-F238E27FC236}">
                    <a16:creationId xmlns:a16="http://schemas.microsoft.com/office/drawing/2014/main" id="{E02C9A24-3597-49DD-900B-D0438ACF4BBD}"/>
                  </a:ext>
                </a:extLst>
              </p:cNvPr>
              <p:cNvSpPr txBox="1"/>
              <p:nvPr/>
            </p:nvSpPr>
            <p:spPr>
              <a:xfrm>
                <a:off x="3293630" y="2161377"/>
                <a:ext cx="4687503" cy="978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it-IT" sz="1400" b="0" i="1" smtClean="0">
                                        <a:latin typeface="Cambria Math" panose="02040503050406030204" pitchFamily="18" charset="0"/>
                                      </a:rPr>
                                      <m:t>𝑡h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sz="1400"/>
                                  <m:t>170.2</m:t>
                                </m:r>
                                <m:f>
                                  <m:f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it-IT" sz="1400" b="0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sz="1400" b="0" i="0" smtClean="0"/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0.378 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s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sz="1400"/>
                                  <m:t>170.2</m:t>
                                </m:r>
                                <m:f>
                                  <m:f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s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sz="1400" b="0" i="0" smtClean="0"/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1−0.378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400"/>
                                      <m:t>s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pt-PT" sz="1400" b="0" i="0" smtClean="0"/>
                                      <m:t>)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4" name="CasellaDiTesto 21">
                <a:extLst>
                  <a:ext uri="{FF2B5EF4-FFF2-40B4-BE49-F238E27FC236}">
                    <a16:creationId xmlns:a16="http://schemas.microsoft.com/office/drawing/2014/main" id="{E02C9A24-3597-49DD-900B-D0438ACF4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3630" y="2161377"/>
                <a:ext cx="4687503" cy="9781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ixaDeTexto 10">
            <a:extLst>
              <a:ext uri="{FF2B5EF4-FFF2-40B4-BE49-F238E27FC236}">
                <a16:creationId xmlns:a16="http://schemas.microsoft.com/office/drawing/2014/main" id="{6A29291B-C312-4D2E-AF94-255A371D0866}"/>
              </a:ext>
            </a:extLst>
          </p:cNvPr>
          <p:cNvSpPr txBox="1"/>
          <p:nvPr/>
        </p:nvSpPr>
        <p:spPr>
          <a:xfrm>
            <a:off x="9480848" y="776766"/>
            <a:ext cx="44835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50"/>
              <a:t>Longitudinal Step Response</a:t>
            </a:r>
          </a:p>
        </p:txBody>
      </p:sp>
    </p:spTree>
    <p:extLst>
      <p:ext uri="{BB962C8B-B14F-4D97-AF65-F5344CB8AC3E}">
        <p14:creationId xmlns:p14="http://schemas.microsoft.com/office/powerpoint/2010/main" val="14977605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C3B23-F5A5-8C4B-4C59-930D44A75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4CCA1A-9ED2-9E53-211A-7A6DEE465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Robust stability (R.S.) analysis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A4C5C64-F553-E2A5-0004-5318A15EE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26D3B-03D2-4B47-B87E-FB37B34FF9BC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A1533A2-3DF3-B104-8A5C-39C21642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51C8093A-F39B-B452-78A5-AA05EF24A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3600"/>
              <a:t>TASK</a:t>
            </a:r>
            <a:endParaRPr lang="en-US"/>
          </a:p>
          <a:p>
            <a:r>
              <a:rPr lang="en-US"/>
              <a:t>3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865FFB13-E1A6-4C25-EA22-0B781F03494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-5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68458" y="2596443"/>
            <a:ext cx="6545986" cy="4809068"/>
          </a:xfrm>
          <a:prstGeom prst="rect">
            <a:avLst/>
          </a:prstGeom>
        </p:spPr>
      </p:pic>
      <p:sp>
        <p:nvSpPr>
          <p:cNvPr id="7" name="Segnaposto piè di pagina 3">
            <a:extLst>
              <a:ext uri="{FF2B5EF4-FFF2-40B4-BE49-F238E27FC236}">
                <a16:creationId xmlns:a16="http://schemas.microsoft.com/office/drawing/2014/main" id="{F3A56EE8-9929-781E-3E44-2F119F53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204381" cy="365125"/>
          </a:xfrm>
        </p:spPr>
        <p:txBody>
          <a:bodyPr anchor="b">
            <a:normAutofit/>
          </a:bodyPr>
          <a:lstStyle/>
          <a:p>
            <a:pPr lvl="0"/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3022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F3060-40C9-6212-BF0F-FDF61DEC4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63D406-CEBA-DE82-7C67-AD20A814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3B72238-175E-D737-9269-F22AAC941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4D51920-226C-0935-637A-17D5987C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62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egnaposto testo 5">
                <a:extLst>
                  <a:ext uri="{FF2B5EF4-FFF2-40B4-BE49-F238E27FC236}">
                    <a16:creationId xmlns:a16="http://schemas.microsoft.com/office/drawing/2014/main" id="{A1DFA97F-034E-F245-0D69-493A3E981E4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34963" y="2060575"/>
                <a:ext cx="2383298" cy="4429125"/>
              </a:xfrm>
            </p:spPr>
            <p:txBody>
              <a:bodyPr vert="horz" lIns="0" tIns="0" rIns="0" bIns="0" rtlCol="0" anchor="t">
                <a:normAutofit/>
              </a:bodyPr>
              <a:lstStyle/>
              <a:p>
                <a:pPr marL="342900" indent="-342900"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Define the uncertain system</a:t>
                </a:r>
              </a:p>
              <a:p>
                <a:pPr marL="342900" indent="-342900">
                  <a:buAutoNum type="arabicPeriod"/>
                </a:pPr>
                <a:r>
                  <a:rPr lang="en-US" noProof="0"/>
                  <a:t>Decompose in uncertainty from the known plant</a:t>
                </a:r>
              </a:p>
              <a:p>
                <a:pPr marL="342900" indent="-342900">
                  <a:buAutoNum type="arabicPeriod"/>
                </a:pPr>
                <a:r>
                  <a:rPr lang="en-US"/>
                  <a:t>Get P-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noProof="0"/>
                  <a:t> form</a:t>
                </a:r>
              </a:p>
              <a:p>
                <a:pPr marL="342900" indent="-342900">
                  <a:buAutoNum type="arabicPeriod"/>
                </a:pPr>
                <a:r>
                  <a:rPr lang="en-US"/>
                  <a:t>Get N</a:t>
                </a:r>
                <a:endParaRPr lang="en-US" noProof="0"/>
              </a:p>
              <a:p>
                <a:pPr marL="342900" indent="-342900">
                  <a:buAutoNum type="arabicPeriod"/>
                </a:pPr>
                <a:r>
                  <a:rPr lang="en-US" noProof="0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Test R.S.</a:t>
                </a:r>
              </a:p>
              <a:p>
                <a:pPr marL="342900" indent="-342900">
                  <a:buAutoNum type="arabicPeriod"/>
                </a:pPr>
                <a:endParaRPr lang="en-US" noProof="0"/>
              </a:p>
              <a:p>
                <a:endParaRPr lang="en-US" noProof="0"/>
              </a:p>
              <a:p>
                <a:pPr marL="342900" indent="-342900">
                  <a:buAutoNum type="arabicPeriod"/>
                </a:pPr>
                <a:endParaRPr lang="en-US" noProof="0"/>
              </a:p>
            </p:txBody>
          </p:sp>
        </mc:Choice>
        <mc:Fallback xmlns="">
          <p:sp>
            <p:nvSpPr>
              <p:cNvPr id="6" name="Segnaposto testo 5">
                <a:extLst>
                  <a:ext uri="{FF2B5EF4-FFF2-40B4-BE49-F238E27FC236}">
                    <a16:creationId xmlns:a16="http://schemas.microsoft.com/office/drawing/2014/main" id="{A1DFA97F-034E-F245-0D69-493A3E981E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34963" y="2060575"/>
                <a:ext cx="2383298" cy="4429125"/>
              </a:xfrm>
              <a:blipFill>
                <a:blip r:embed="rId2"/>
                <a:stretch>
                  <a:fillRect l="-4604" t="-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87435A2B-5F83-2AEA-9F23-43856D8236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16275" y="1474402"/>
            <a:ext cx="8640763" cy="5015298"/>
          </a:xfrm>
        </p:spPr>
        <p:txBody>
          <a:bodyPr>
            <a:normAutofit/>
          </a:bodyPr>
          <a:lstStyle/>
          <a:p>
            <a:pPr algn="ctr"/>
            <a:endParaRPr lang="en-US" b="0" i="1">
              <a:latin typeface="Cambria Math" panose="02040503050406030204" pitchFamily="18" charset="0"/>
            </a:endParaRPr>
          </a:p>
          <a:p>
            <a:pPr algn="just"/>
            <a:r>
              <a:rPr lang="en-US" b="1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CCAEB5BD-569B-011A-BAB5-790316598722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47BDB920-CA42-E27E-F681-0FF611C679F4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/>
          </a:p>
        </p:txBody>
      </p:sp>
      <p:pic>
        <p:nvPicPr>
          <p:cNvPr id="10" name="Immagine 9" descr="Immagine che contiene testo, schermata, Biglietto Post-it, Carattere&#10;&#10;Il contenuto generato dall'IA potrebbe non essere corretto.">
            <a:extLst>
              <a:ext uri="{FF2B5EF4-FFF2-40B4-BE49-F238E27FC236}">
                <a16:creationId xmlns:a16="http://schemas.microsoft.com/office/drawing/2014/main" id="{8B9162AE-855C-B509-81C2-161CB0E13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5" b="50386"/>
          <a:stretch>
            <a:fillRect/>
          </a:stretch>
        </p:blipFill>
        <p:spPr>
          <a:xfrm>
            <a:off x="3537807" y="2569966"/>
            <a:ext cx="7797981" cy="303333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99A1C18-836C-9D39-77CD-F4795E3B1B9D}"/>
              </a:ext>
            </a:extLst>
          </p:cNvPr>
          <p:cNvSpPr txBox="1"/>
          <p:nvPr/>
        </p:nvSpPr>
        <p:spPr>
          <a:xfrm>
            <a:off x="3216275" y="1691243"/>
            <a:ext cx="7466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1) We define the </a:t>
            </a:r>
            <a:r>
              <a:rPr lang="en-US" b="1"/>
              <a:t>tuned </a:t>
            </a:r>
            <a:r>
              <a:rPr lang="en-US"/>
              <a:t> and </a:t>
            </a:r>
            <a:r>
              <a:rPr lang="en-US" b="1"/>
              <a:t>uncertain</a:t>
            </a:r>
            <a:r>
              <a:rPr lang="en-US"/>
              <a:t> system:</a:t>
            </a:r>
          </a:p>
        </p:txBody>
      </p:sp>
    </p:spTree>
    <p:extLst>
      <p:ext uri="{BB962C8B-B14F-4D97-AF65-F5344CB8AC3E}">
        <p14:creationId xmlns:p14="http://schemas.microsoft.com/office/powerpoint/2010/main" val="31101453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BC4A8-23DC-017C-060C-CF64CD7D3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77EED58-98CB-7F9F-9EE4-FB3062239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B666C65-24F3-6309-B751-5F5A23D4B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E627E769-6EA1-4A6A-893F-B4EFEC33B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16275" y="1474402"/>
            <a:ext cx="8640763" cy="5015298"/>
          </a:xfrm>
        </p:spPr>
        <p:txBody>
          <a:bodyPr>
            <a:normAutofit/>
          </a:bodyPr>
          <a:lstStyle/>
          <a:p>
            <a:pPr algn="ctr"/>
            <a:endParaRPr lang="en-US" b="0" i="1">
              <a:latin typeface="Cambria Math" panose="02040503050406030204" pitchFamily="18" charset="0"/>
            </a:endParaRPr>
          </a:p>
          <a:p>
            <a:pPr algn="just"/>
            <a:r>
              <a:rPr lang="en-US" b="1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D83B6136-2993-CCA4-61C6-82B6948EB975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B0BB6F5D-404E-17A4-747F-84ACC983A6D0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/>
          </a:p>
        </p:txBody>
      </p:sp>
      <p:pic>
        <p:nvPicPr>
          <p:cNvPr id="8" name="Immagine 7" descr="Immagine che contiene testo, Carattere, bianco, tipografia&#10;&#10;Il contenuto generato dall'IA potrebbe non essere corretto.">
            <a:extLst>
              <a:ext uri="{FF2B5EF4-FFF2-40B4-BE49-F238E27FC236}">
                <a16:creationId xmlns:a16="http://schemas.microsoft.com/office/drawing/2014/main" id="{3158BB05-30EF-F29A-D5D1-5EE22B2DC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897" y="4901907"/>
            <a:ext cx="2713175" cy="664451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11" name="Immagine 10" descr="Immagine che contiene testo, schermata, Biglietto Post-it, Carattere&#10;&#10;Il contenuto generato dall'IA potrebbe non essere corretto.">
            <a:extLst>
              <a:ext uri="{FF2B5EF4-FFF2-40B4-BE49-F238E27FC236}">
                <a16:creationId xmlns:a16="http://schemas.microsoft.com/office/drawing/2014/main" id="{0793BB50-2854-6AE9-A25C-B882042A93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5" b="50386"/>
          <a:stretch>
            <a:fillRect/>
          </a:stretch>
        </p:blipFill>
        <p:spPr>
          <a:xfrm>
            <a:off x="4172561" y="1606885"/>
            <a:ext cx="6203950" cy="2413274"/>
          </a:xfrm>
          <a:prstGeom prst="rect">
            <a:avLst/>
          </a:prstGeom>
        </p:spPr>
      </p:pic>
      <p:pic>
        <p:nvPicPr>
          <p:cNvPr id="12" name="Immagine 11" descr="Immagine che contiene testo, Carattere, schermata, bianco&#10;&#10;Il contenuto generato dall'IA potrebbe non essere corretto.">
            <a:extLst>
              <a:ext uri="{FF2B5EF4-FFF2-40B4-BE49-F238E27FC236}">
                <a16:creationId xmlns:a16="http://schemas.microsoft.com/office/drawing/2014/main" id="{CAF4F025-1EEC-0F16-F81E-579997B6FC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1209" y="3978722"/>
            <a:ext cx="5266255" cy="2413274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  <p:cxnSp>
        <p:nvCxnSpPr>
          <p:cNvPr id="13" name="Connettore diritto a freccia 12">
            <a:extLst>
              <a:ext uri="{FF2B5EF4-FFF2-40B4-BE49-F238E27FC236}">
                <a16:creationId xmlns:a16="http://schemas.microsoft.com/office/drawing/2014/main" id="{FD394129-DD3C-CB3A-C53A-DA16A7A4C342}"/>
              </a:ext>
            </a:extLst>
          </p:cNvPr>
          <p:cNvCxnSpPr/>
          <p:nvPr/>
        </p:nvCxnSpPr>
        <p:spPr>
          <a:xfrm flipH="1">
            <a:off x="5038759" y="2856522"/>
            <a:ext cx="977900" cy="1282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diritto a freccia 13">
            <a:extLst>
              <a:ext uri="{FF2B5EF4-FFF2-40B4-BE49-F238E27FC236}">
                <a16:creationId xmlns:a16="http://schemas.microsoft.com/office/drawing/2014/main" id="{193BD8B6-CE3F-EC1C-0BD9-20429CAD8060}"/>
              </a:ext>
            </a:extLst>
          </p:cNvPr>
          <p:cNvCxnSpPr>
            <a:cxnSpLocks/>
          </p:cNvCxnSpPr>
          <p:nvPr/>
        </p:nvCxnSpPr>
        <p:spPr>
          <a:xfrm flipH="1">
            <a:off x="5191159" y="2856522"/>
            <a:ext cx="2197100" cy="1435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a freccia 14">
            <a:extLst>
              <a:ext uri="{FF2B5EF4-FFF2-40B4-BE49-F238E27FC236}">
                <a16:creationId xmlns:a16="http://schemas.microsoft.com/office/drawing/2014/main" id="{97616822-DA1C-FEBF-FCEF-F68A6A0C7329}"/>
              </a:ext>
            </a:extLst>
          </p:cNvPr>
          <p:cNvCxnSpPr>
            <a:cxnSpLocks/>
          </p:cNvCxnSpPr>
          <p:nvPr/>
        </p:nvCxnSpPr>
        <p:spPr>
          <a:xfrm>
            <a:off x="9134509" y="2856522"/>
            <a:ext cx="628650" cy="1888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olo 1">
            <a:extLst>
              <a:ext uri="{FF2B5EF4-FFF2-40B4-BE49-F238E27FC236}">
                <a16:creationId xmlns:a16="http://schemas.microsoft.com/office/drawing/2014/main" id="{ED6B18B4-832E-6EE3-4D7B-959F225E9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DAEE03B8-598A-3049-925E-BB782B3A5C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Decompose in uncertainty from the known plant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P-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/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Test R.S.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DAEE03B8-598A-3049-925E-BB782B3A5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6"/>
                <a:stretch>
                  <a:fillRect l="-4604" t="-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F9D0C9CD-0D3A-B80E-4320-C813B183031D}"/>
              </a:ext>
            </a:extLst>
          </p:cNvPr>
          <p:cNvSpPr txBox="1"/>
          <p:nvPr/>
        </p:nvSpPr>
        <p:spPr>
          <a:xfrm>
            <a:off x="3335942" y="3601893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From </a:t>
            </a:r>
            <a:r>
              <a:rPr lang="en-US" b="1">
                <a:solidFill>
                  <a:schemeClr val="tx2">
                    <a:lumMod val="50000"/>
                    <a:lumOff val="50000"/>
                  </a:schemeClr>
                </a:solidFill>
              </a:rPr>
              <a:t>Task 1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AB5A55D4-D9F1-E4DA-8C6A-DC45CC2DB195}"/>
              </a:ext>
            </a:extLst>
          </p:cNvPr>
          <p:cNvSpPr txBox="1"/>
          <p:nvPr/>
        </p:nvSpPr>
        <p:spPr>
          <a:xfrm>
            <a:off x="9791872" y="4456130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From </a:t>
            </a:r>
            <a:r>
              <a:rPr lang="en-US" b="1">
                <a:solidFill>
                  <a:schemeClr val="tx2">
                    <a:lumMod val="50000"/>
                    <a:lumOff val="50000"/>
                  </a:schemeClr>
                </a:solidFill>
              </a:rPr>
              <a:t>Task 2</a:t>
            </a:r>
          </a:p>
        </p:txBody>
      </p:sp>
    </p:spTree>
    <p:extLst>
      <p:ext uri="{BB962C8B-B14F-4D97-AF65-F5344CB8AC3E}">
        <p14:creationId xmlns:p14="http://schemas.microsoft.com/office/powerpoint/2010/main" val="39286934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3775B-BB67-A34B-9288-D4F5D68D0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A325C97-3520-4D01-8891-1FB0817F9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EB3AFED-1EE4-8360-D164-3ED19D8D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7BED224B-D7D6-E49E-12CC-B3FDF354E3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16275" y="1474402"/>
            <a:ext cx="8640763" cy="5015298"/>
          </a:xfrm>
        </p:spPr>
        <p:txBody>
          <a:bodyPr>
            <a:normAutofit/>
          </a:bodyPr>
          <a:lstStyle/>
          <a:p>
            <a:pPr algn="ctr"/>
            <a:endParaRPr lang="en-US" b="0" i="1">
              <a:latin typeface="Cambria Math" panose="02040503050406030204" pitchFamily="18" charset="0"/>
            </a:endParaRPr>
          </a:p>
          <a:p>
            <a:pPr algn="just"/>
            <a:r>
              <a:rPr lang="en-US" b="1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00B7C46-15D2-5AE3-3229-0A1F45DC0226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35610ACF-50A8-42F1-5691-1143279444FF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DD55D175-6BDB-8847-B910-CAFF6999B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28D7BF23-2EA5-6D4A-5A71-EF47A60AB6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Decompose uncertainty  from  known plant: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160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endParaRPr lang="en-US" sz="1600" b="1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P-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/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Test R.S.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28D7BF23-2EA5-6D4A-5A71-EF47A60AB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3"/>
                <a:stretch>
                  <a:fillRect l="-4604" t="-825" r="-7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magine 5" descr="Immagine che contiene testo, Carattere, schermata, bianco&#10;&#10;Il contenuto generato dall'IA potrebbe non essere corretto.">
            <a:extLst>
              <a:ext uri="{FF2B5EF4-FFF2-40B4-BE49-F238E27FC236}">
                <a16:creationId xmlns:a16="http://schemas.microsoft.com/office/drawing/2014/main" id="{1DD1BFB9-3B41-033F-0212-97A6D37E0C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341" y="4760112"/>
            <a:ext cx="7772400" cy="1923641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16" name="Immagine 15" descr="Immagine che contiene testo, line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37868BC0-5F65-B41B-653F-16EBCAB546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301" y="1280349"/>
            <a:ext cx="6922978" cy="3285710"/>
          </a:xfrm>
          <a:prstGeom prst="rect">
            <a:avLst/>
          </a:prstGeom>
        </p:spPr>
      </p:pic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CAFDFD36-09B2-D6D9-1131-76EE08F33647}"/>
              </a:ext>
            </a:extLst>
          </p:cNvPr>
          <p:cNvCxnSpPr>
            <a:cxnSpLocks/>
          </p:cNvCxnSpPr>
          <p:nvPr/>
        </p:nvCxnSpPr>
        <p:spPr>
          <a:xfrm>
            <a:off x="6163734" y="3285068"/>
            <a:ext cx="2201333" cy="0"/>
          </a:xfrm>
          <a:prstGeom prst="line">
            <a:avLst/>
          </a:prstGeom>
          <a:ln w="19050">
            <a:solidFill>
              <a:srgbClr val="3B35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5507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DCC96-59F2-6D05-BBD4-028C42A21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D04AE51-3BB0-542C-1F5E-D4C2B8CE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64979DB-4011-B9D7-B11E-300D7E13C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65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69ECDEC7-47A5-781A-BEE8-CAE43893E04C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Motivation for P-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1800" b="1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 form:</a:t>
                </a:r>
              </a:p>
              <a:p>
                <a:pPr algn="just"/>
                <a:endParaRPr lang="en-US" sz="1800" b="1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:r>
                  <a:rPr lang="en-US" sz="1800"/>
                  <a:t>Considering </a:t>
                </a:r>
                <a:r>
                  <a:rPr lang="en-US" sz="1800" u="sng"/>
                  <a:t>2 possible approaches</a:t>
                </a:r>
                <a:r>
                  <a:rPr lang="en-US" sz="1800"/>
                  <a:t> to model multiple uncertainties (here 5 for each plant)</a:t>
                </a:r>
                <a:endParaRPr lang="en-US" sz="1800" u="sng"/>
              </a:p>
              <a:p>
                <a:pPr algn="just"/>
                <a:endParaRPr lang="en-US" sz="180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sz="1800" b="1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P-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𝜟</m:t>
                    </m:r>
                  </m:oMath>
                </a14:m>
                <a:r>
                  <a:rPr lang="en-US" sz="180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 : </a:t>
                </a:r>
                <a:r>
                  <a:rPr lang="en-US" sz="1800"/>
                  <a:t>exact, but requires (real) matrices. Becomes conservative if we need to account for non-linearities by considering more than one independent uncertain variables instead of 1 (not the case of Task3: here all linear)</a:t>
                </a:r>
              </a:p>
              <a:p>
                <a:pPr marL="285750" indent="-285750" algn="just">
                  <a:buFontTx/>
                  <a:buChar char="-"/>
                </a:pPr>
                <a:endParaRPr lang="en-US" sz="1800"/>
              </a:p>
              <a:p>
                <a:pPr marL="285750" indent="-285750" algn="just">
                  <a:buFontTx/>
                  <a:buChar char="-"/>
                </a:pPr>
                <a:endParaRPr lang="en-US" sz="1800"/>
              </a:p>
              <a:p>
                <a:pPr marL="285750" indent="-285750">
                  <a:buFontTx/>
                  <a:buChar char="-"/>
                </a:pPr>
                <a:r>
                  <a:rPr lang="en-US" sz="1800" b="1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Circular overbound </a:t>
                </a:r>
                <a:r>
                  <a:rPr lang="en-US" sz="180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: </a:t>
                </a:r>
                <a:r>
                  <a:rPr lang="en-US" sz="1800">
                    <a:solidFill>
                      <a:schemeClr val="tx1"/>
                    </a:solidFill>
                  </a:rPr>
                  <a:t>conservative, but 1 complex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1800">
                    <a:solidFill>
                      <a:schemeClr val="tx1"/>
                    </a:solidFill>
                  </a:rPr>
                  <a:t>(s). Can be used in the same way also when uncertainties appear in non-linear functions (not the case of Task3).</a:t>
                </a:r>
                <a:endParaRPr lang="en-US" sz="180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:pPr marL="285750" indent="-285750" algn="just">
                  <a:buFontTx/>
                  <a:buChar char="-"/>
                </a:pPr>
                <a:endParaRPr lang="en-US" sz="180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69ECDEC7-47A5-781A-BEE8-CAE43893E0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  <a:blipFill>
                <a:blip r:embed="rId3"/>
                <a:stretch>
                  <a:fillRect l="-1694" t="-972" r="-1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2D9200CA-A927-190D-D023-54D384BACEF4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E77B788A-A1E9-FB0F-2254-6336CFB88BBB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150ED812-E9D5-5522-5C15-E0C3466AB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2459354B-5E9D-2A14-EC69-8486BCF44C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Decompose uncertainty  from  known plant: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160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endParaRPr lang="en-US" sz="1600" b="1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P-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/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Test R.S.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2459354B-5E9D-2A14-EC69-8486BCF44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4"/>
                <a:stretch>
                  <a:fillRect l="-4604" t="-825" r="-7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71550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5964E-411C-8FAE-B785-9954AEE35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03B8C4-1D8A-D4EC-EEC5-C6746E0C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CCD1126-03A0-5058-83AA-B4F861BD0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66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F7EE105B-C669-9ADB-EAB2-DE11FA30AA1E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</p:spPr>
            <p:txBody>
              <a:bodyPr>
                <a:normAutofit fontScale="92500"/>
              </a:bodyPr>
              <a:lstStyle/>
              <a:p>
                <a:pPr algn="just"/>
                <a:r>
                  <a:rPr lang="en-US" sz="1800" b="1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Motivation for P-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1800" b="1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 form:</a:t>
                </a:r>
              </a:p>
              <a:p>
                <a:pPr algn="just"/>
                <a:endParaRPr lang="en-US" sz="1800" b="1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:r>
                  <a:rPr lang="en-US" sz="1800"/>
                  <a:t>Considering </a:t>
                </a:r>
                <a:r>
                  <a:rPr lang="en-US" sz="1800" u="sng"/>
                  <a:t>2 possible approaches</a:t>
                </a:r>
                <a:r>
                  <a:rPr lang="en-US" sz="1800"/>
                  <a:t> to model </a:t>
                </a:r>
                <a:r>
                  <a:rPr lang="en-US" sz="1800" b="1"/>
                  <a:t>multiple uncertainties </a:t>
                </a:r>
                <a:r>
                  <a:rPr lang="en-US" sz="1800"/>
                  <a:t>(here 5 for each plant)</a:t>
                </a:r>
                <a:endParaRPr lang="en-US" sz="1800" u="sng"/>
              </a:p>
              <a:p>
                <a:pPr algn="just"/>
                <a:endParaRPr lang="en-US" sz="180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sz="1800" b="1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P-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𝜟</m:t>
                    </m:r>
                  </m:oMath>
                </a14:m>
                <a:r>
                  <a:rPr lang="en-US" sz="180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 :</a:t>
                </a:r>
                <a:r>
                  <a:rPr lang="en-US" sz="1800"/>
                  <a:t>exact, but requires (real) matrices. Becomes conservative if we need to account for non-linearities by considering more than one independent uncertain variables instead of 1 (not the case of Task3: here all linear). Numerically behaves well if low number of multiple uncertainties, such as here (5). </a:t>
                </a:r>
                <a:r>
                  <a:rPr lang="en-US" sz="1800">
                    <a:solidFill>
                      <a:srgbClr val="00B050"/>
                    </a:solidFill>
                  </a:rPr>
                  <a:t>-&gt;</a:t>
                </a:r>
                <a:r>
                  <a:rPr lang="en-US" sz="1800" b="1">
                    <a:solidFill>
                      <a:srgbClr val="00B050"/>
                    </a:solidFill>
                  </a:rPr>
                  <a:t> ok.</a:t>
                </a:r>
              </a:p>
              <a:p>
                <a:pPr marL="285750" indent="-285750" algn="just">
                  <a:buFontTx/>
                  <a:buChar char="-"/>
                </a:pPr>
                <a:endParaRPr lang="en-US" sz="1800"/>
              </a:p>
              <a:p>
                <a:pPr marL="285750" indent="-285750" algn="just">
                  <a:buFontTx/>
                  <a:buChar char="-"/>
                </a:pPr>
                <a:endParaRPr lang="en-US" sz="1800"/>
              </a:p>
              <a:p>
                <a:pPr marL="285750" indent="-285750">
                  <a:buFontTx/>
                  <a:buChar char="-"/>
                </a:pPr>
                <a:r>
                  <a:rPr lang="en-US" sz="1800" b="1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Circular overbound </a:t>
                </a:r>
                <a:r>
                  <a:rPr lang="en-US" sz="180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: </a:t>
                </a:r>
                <a:r>
                  <a:rPr lang="en-US" sz="1800">
                    <a:solidFill>
                      <a:schemeClr val="tx1"/>
                    </a:solidFill>
                  </a:rPr>
                  <a:t>conservative, but 1 complex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1800">
                    <a:solidFill>
                      <a:schemeClr val="tx1"/>
                    </a:solidFill>
                  </a:rPr>
                  <a:t>(s). Can be used in the same way also when uncertainties appear in non-linear functions (not the case of Task3).</a:t>
                </a:r>
                <a:r>
                  <a:rPr lang="en-US" sz="1800" b="1">
                    <a:solidFill>
                      <a:srgbClr val="FF0000"/>
                    </a:solidFill>
                  </a:rPr>
                  <a:t>-&gt;?</a:t>
                </a:r>
              </a:p>
              <a:p>
                <a:pPr marL="285750" indent="-285750" algn="just">
                  <a:buFontTx/>
                  <a:buChar char="-"/>
                </a:pPr>
                <a:endParaRPr lang="en-US" sz="180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F7EE105B-C669-9ADB-EAB2-DE11FA30AA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  <a:blipFill>
                <a:blip r:embed="rId3"/>
                <a:stretch>
                  <a:fillRect l="-1553" t="-729" r="-1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D12E6E58-4EF9-D4A5-6F92-AE1D34C0F1F8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0910F805-B2B6-592A-B3FE-0110686152E5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04765EF7-B0C1-D769-C268-A35DE3299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2E34D6FE-0A12-1AEA-5477-CDC9532055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Decompose uncertainty  from  known plant: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160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endParaRPr lang="en-US" sz="1600" b="1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P-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/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Test R.S.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2E34D6FE-0A12-1AEA-5477-CDC95320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4"/>
                <a:stretch>
                  <a:fillRect l="-4604" t="-825" r="-7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887243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18372-368B-0129-09E7-85F3F4C49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36683D6-F27C-2097-FF74-0631ACFE7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5A1F5EA-2229-9B35-901F-E54A5248D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C9E8734A-6CCA-9516-436C-095701EE7E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16275" y="1474402"/>
            <a:ext cx="8640763" cy="5015298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chemeClr val="tx2">
                    <a:lumMod val="50000"/>
                    <a:lumOff val="50000"/>
                  </a:schemeClr>
                </a:solidFill>
              </a:rPr>
              <a:t>Circular overbound.</a:t>
            </a:r>
          </a:p>
          <a:p>
            <a:r>
              <a:rPr lang="en-US" sz="1800">
                <a:solidFill>
                  <a:schemeClr val="tx2"/>
                </a:solidFill>
              </a:rPr>
              <a:t>Plot uncertainty regions in polar plot to get a sense of the conservativeness it would introduce:</a:t>
            </a:r>
          </a:p>
          <a:p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EF9146C-03F2-F5F2-3ADC-88764DF2F1BF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12BD781E-73E4-EF79-6DA6-523CE785A4EB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9E85661F-A3E4-3F78-BC10-754D91262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49D9B988-9121-420F-9A8C-C0A7020A1D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Decompose uncertainty  from  known plant: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160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endParaRPr lang="en-US" sz="1600" b="1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P-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/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Test R.S.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49D9B988-9121-420F-9A8C-C0A7020A1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3"/>
                <a:stretch>
                  <a:fillRect l="-4604" t="-825" r="-7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magine 7" descr="Immagine che contiene testo, Carattere, schermata, bianco&#10;&#10;Il contenuto generato dall'IA potrebbe non essere corretto.">
            <a:extLst>
              <a:ext uri="{FF2B5EF4-FFF2-40B4-BE49-F238E27FC236}">
                <a16:creationId xmlns:a16="http://schemas.microsoft.com/office/drawing/2014/main" id="{6C47F827-6354-E8E4-EA1B-9329B13CA0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710" y="2638953"/>
            <a:ext cx="3690466" cy="1794446"/>
          </a:xfrm>
          <a:prstGeom prst="rect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</p:pic>
      <p:pic>
        <p:nvPicPr>
          <p:cNvPr id="13" name="Immagine 12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14918162-5923-E5B6-624F-669978FAD2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865" y="5008045"/>
            <a:ext cx="4519141" cy="1538892"/>
          </a:xfrm>
          <a:prstGeom prst="rect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</p:pic>
      <p:sp>
        <p:nvSpPr>
          <p:cNvPr id="14" name="Segnaposto testo 5">
            <a:extLst>
              <a:ext uri="{FF2B5EF4-FFF2-40B4-BE49-F238E27FC236}">
                <a16:creationId xmlns:a16="http://schemas.microsoft.com/office/drawing/2014/main" id="{A381DD2E-2587-9449-2923-8951855D37B1}"/>
              </a:ext>
            </a:extLst>
          </p:cNvPr>
          <p:cNvSpPr txBox="1">
            <a:spLocks/>
          </p:cNvSpPr>
          <p:nvPr/>
        </p:nvSpPr>
        <p:spPr>
          <a:xfrm>
            <a:off x="9682792" y="4675769"/>
            <a:ext cx="2509208" cy="365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MATLAB  documentation 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20213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A1DB5-95A0-0E88-974D-9FD7A652D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0C229ED-33F1-06D1-5C7E-6E0AB0DBC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9369096-511C-EDD4-2925-C2F3BA277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68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97E952F8-B535-38C6-3A01-C3C8382CF70D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3216200" y="1257773"/>
                <a:ext cx="8640763" cy="5015298"/>
              </a:xfrm>
            </p:spPr>
            <p:txBody>
              <a:bodyPr>
                <a:normAutofit/>
              </a:bodyPr>
              <a:lstStyle/>
              <a:p>
                <a:r>
                  <a:rPr lang="en-US" sz="1800" b="1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Circular overbound.</a:t>
                </a:r>
              </a:p>
              <a:p>
                <a:r>
                  <a:rPr lang="en-US" sz="1800" b="1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Example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800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>
                  <a:solidFill>
                    <a:schemeClr val="tx2"/>
                  </a:solidFill>
                </a:endParaRPr>
              </a:p>
              <a:p>
                <a:endParaRPr lang="en-US" sz="1800">
                  <a:solidFill>
                    <a:schemeClr val="tx2"/>
                  </a:solidFill>
                </a:endParaRPr>
              </a:p>
              <a:p>
                <a:endParaRPr lang="en-US" sz="1800">
                  <a:solidFill>
                    <a:schemeClr val="tx2"/>
                  </a:solidFill>
                </a:endParaRPr>
              </a:p>
              <a:p>
                <a:endParaRPr lang="en-US" sz="180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97E952F8-B535-38C6-3A01-C3C8382CF7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3216200" y="1257773"/>
                <a:ext cx="8640763" cy="5015298"/>
              </a:xfrm>
              <a:blipFill>
                <a:blip r:embed="rId3"/>
                <a:stretch>
                  <a:fillRect l="-1694" t="-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780855D-2501-8C64-6867-B3835E842429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8D08D8BE-63C0-5F19-D743-773C1FB78BAC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B65711D5-C6A6-F78F-898D-0381850D3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136EA978-ADFD-C9E6-7E2D-B81CDA4859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Decompose uncertainty  from  known plant: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160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endParaRPr lang="en-US" sz="1600" b="1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P-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/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Test R.S.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136EA978-ADFD-C9E6-7E2D-B81CDA485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4"/>
                <a:stretch>
                  <a:fillRect l="-4604" t="-825" r="-7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magine 5">
            <a:extLst>
              <a:ext uri="{FF2B5EF4-FFF2-40B4-BE49-F238E27FC236}">
                <a16:creationId xmlns:a16="http://schemas.microsoft.com/office/drawing/2014/main" id="{E1175CE9-4DAA-D29A-181E-D9FD600F17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065" y="2362142"/>
            <a:ext cx="6265835" cy="428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3612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0E9FA-5F0C-0315-085E-08B7DAB4E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5AFC190-616F-0B36-9F10-A1A63AAB7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43AC41D-82BC-4685-EF05-0D8BC3567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69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46EF4036-D784-6F9F-B183-C337CC1B724D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</p:spPr>
            <p:txBody>
              <a:bodyPr>
                <a:normAutofit/>
              </a:bodyPr>
              <a:lstStyle/>
              <a:p>
                <a:r>
                  <a:rPr lang="en-US" sz="1800" b="1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Circular overbound.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i="1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80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>
                  <a:solidFill>
                    <a:schemeClr val="tx2"/>
                  </a:solidFill>
                </a:endParaRPr>
              </a:p>
              <a:p>
                <a:endParaRPr lang="en-US" sz="1800">
                  <a:solidFill>
                    <a:schemeClr val="tx2"/>
                  </a:solidFill>
                </a:endParaRPr>
              </a:p>
              <a:p>
                <a:endParaRPr lang="en-US" sz="1800">
                  <a:solidFill>
                    <a:schemeClr val="tx2"/>
                  </a:solidFill>
                </a:endParaRPr>
              </a:p>
              <a:p>
                <a:r>
                  <a:rPr lang="en-US" sz="1800">
                    <a:solidFill>
                      <a:schemeClr val="tx2"/>
                    </a:solidFill>
                  </a:rPr>
                  <a:t>Points move radially</a:t>
                </a:r>
              </a:p>
              <a:p>
                <a:r>
                  <a:rPr lang="en-US" sz="1800">
                    <a:solidFill>
                      <a:schemeClr val="tx2"/>
                    </a:solidFill>
                  </a:rPr>
                  <a:t>~ gain uncertainty</a:t>
                </a:r>
              </a:p>
              <a:p>
                <a:endParaRPr lang="en-US" sz="1800">
                  <a:solidFill>
                    <a:schemeClr val="tx2"/>
                  </a:solidFill>
                </a:endParaRPr>
              </a:p>
              <a:p>
                <a:endParaRPr lang="en-US" sz="1800">
                  <a:solidFill>
                    <a:schemeClr val="tx2"/>
                  </a:solidFill>
                </a:endParaRPr>
              </a:p>
              <a:p>
                <a:endParaRPr lang="en-US" sz="180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46EF4036-D784-6F9F-B183-C337CC1B72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  <a:blipFill>
                <a:blip r:embed="rId3"/>
                <a:stretch>
                  <a:fillRect l="-1694" t="-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B8125369-945A-2C2A-3722-D9EE7BF7D0D0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00FD394E-51AB-1F25-5CFC-B1D6B71B2097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044BFA8E-8735-6350-69FD-665663E96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D0D38D36-A95E-2696-3DA0-584B4C9679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Decompose uncertainty  from  known plant: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160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endParaRPr lang="en-US" sz="1600" b="1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P-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/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Test R.S.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D0D38D36-A95E-2696-3DA0-584B4C967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4"/>
                <a:stretch>
                  <a:fillRect l="-4604" t="-825" r="-7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>
            <a:extLst>
              <a:ext uri="{FF2B5EF4-FFF2-40B4-BE49-F238E27FC236}">
                <a16:creationId xmlns:a16="http://schemas.microsoft.com/office/drawing/2014/main" id="{C511446B-06F3-5C8B-EF26-A5FCB6DE2B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9" r="7335"/>
          <a:stretch>
            <a:fillRect/>
          </a:stretch>
        </p:blipFill>
        <p:spPr>
          <a:xfrm>
            <a:off x="5314950" y="1846448"/>
            <a:ext cx="6735213" cy="4891804"/>
          </a:xfrm>
          <a:prstGeom prst="rect">
            <a:avLst/>
          </a:prstGeom>
        </p:spPr>
      </p:pic>
      <p:cxnSp>
        <p:nvCxnSpPr>
          <p:cNvPr id="6" name="Connettore diritto a freccia 5">
            <a:extLst>
              <a:ext uri="{FF2B5EF4-FFF2-40B4-BE49-F238E27FC236}">
                <a16:creationId xmlns:a16="http://schemas.microsoft.com/office/drawing/2014/main" id="{34C36B7F-D22D-CE5F-1FA4-00D9F3368DF1}"/>
              </a:ext>
            </a:extLst>
          </p:cNvPr>
          <p:cNvCxnSpPr/>
          <p:nvPr/>
        </p:nvCxnSpPr>
        <p:spPr>
          <a:xfrm flipV="1">
            <a:off x="6486525" y="3228975"/>
            <a:ext cx="585788" cy="200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a freccia 10">
            <a:extLst>
              <a:ext uri="{FF2B5EF4-FFF2-40B4-BE49-F238E27FC236}">
                <a16:creationId xmlns:a16="http://schemas.microsoft.com/office/drawing/2014/main" id="{7D2D97D5-59DD-7A2E-FC7A-8CF0B170ED74}"/>
              </a:ext>
            </a:extLst>
          </p:cNvPr>
          <p:cNvCxnSpPr>
            <a:cxnSpLocks/>
          </p:cNvCxnSpPr>
          <p:nvPr/>
        </p:nvCxnSpPr>
        <p:spPr>
          <a:xfrm flipH="1">
            <a:off x="5703376" y="3511657"/>
            <a:ext cx="563589" cy="184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12579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E05C8-ADC5-0C6A-CDB2-68B0F7A3C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76FD192-DA07-0F38-B81C-91FCECDE9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8FB866C-CAF6-055F-2D25-0DBD59CC8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70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D54BF785-6244-9822-3828-EFC2ECF34342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3029131" y="1257773"/>
                <a:ext cx="8640763" cy="5015298"/>
              </a:xfrm>
            </p:spPr>
            <p:txBody>
              <a:bodyPr>
                <a:normAutofit/>
              </a:bodyPr>
              <a:lstStyle/>
              <a:p>
                <a:r>
                  <a:rPr lang="en-US" sz="1800" b="1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Circular overbound.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i="1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80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>
                  <a:solidFill>
                    <a:schemeClr val="tx2"/>
                  </a:solidFill>
                </a:endParaRPr>
              </a:p>
              <a:p>
                <a:endParaRPr lang="en-US" sz="1800">
                  <a:solidFill>
                    <a:schemeClr val="tx2"/>
                  </a:solidFill>
                </a:endParaRPr>
              </a:p>
              <a:p>
                <a:endParaRPr lang="en-US" sz="1800">
                  <a:solidFill>
                    <a:schemeClr val="tx2"/>
                  </a:solidFill>
                </a:endParaRPr>
              </a:p>
              <a:p>
                <a:endParaRPr lang="en-US" sz="1800">
                  <a:solidFill>
                    <a:schemeClr val="tx2"/>
                  </a:solidFill>
                </a:endParaRPr>
              </a:p>
              <a:p>
                <a:r>
                  <a:rPr lang="en-US" sz="1800">
                    <a:solidFill>
                      <a:schemeClr val="tx2"/>
                    </a:solidFill>
                  </a:rPr>
                  <a:t>Conservativeness</a:t>
                </a:r>
              </a:p>
              <a:p>
                <a:r>
                  <a:rPr lang="en-US" sz="1800">
                    <a:solidFill>
                      <a:schemeClr val="tx2"/>
                    </a:solidFill>
                  </a:rPr>
                  <a:t>increases at LF.</a:t>
                </a:r>
              </a:p>
              <a:p>
                <a:endParaRPr lang="en-US" sz="1800">
                  <a:solidFill>
                    <a:schemeClr val="tx2"/>
                  </a:solidFill>
                </a:endParaRPr>
              </a:p>
              <a:p>
                <a:r>
                  <a:rPr lang="en-US" sz="1800" b="1">
                    <a:solidFill>
                      <a:srgbClr val="FF0000"/>
                    </a:solidFill>
                  </a:rPr>
                  <a:t>-&gt; No</a:t>
                </a:r>
              </a:p>
              <a:p>
                <a:endParaRPr lang="en-US" sz="1800">
                  <a:solidFill>
                    <a:schemeClr val="tx2"/>
                  </a:solidFill>
                </a:endParaRPr>
              </a:p>
              <a:p>
                <a:endParaRPr lang="en-US" sz="1800">
                  <a:solidFill>
                    <a:schemeClr val="tx2"/>
                  </a:solidFill>
                </a:endParaRPr>
              </a:p>
              <a:p>
                <a:endParaRPr lang="en-US" sz="1800">
                  <a:solidFill>
                    <a:schemeClr val="tx2"/>
                  </a:solidFill>
                </a:endParaRPr>
              </a:p>
              <a:p>
                <a:endParaRPr lang="en-US" sz="180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D54BF785-6244-9822-3828-EFC2ECF343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3029131" y="1257773"/>
                <a:ext cx="8640763" cy="5015298"/>
              </a:xfrm>
              <a:blipFill>
                <a:blip r:embed="rId3"/>
                <a:stretch>
                  <a:fillRect l="-1694" t="-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8D08C176-483D-CFC8-8399-53D4466D8D0E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Manrope"/>
                <a:ea typeface="Manrope"/>
              </a:rPr>
              <a:t>Aerospace Control Systems - Exam project AA 25/26 - </a:t>
            </a:r>
            <a:r>
              <a:rPr lang="en-US" b="1">
                <a:latin typeface="Manrope"/>
                <a:ea typeface="Manrope"/>
              </a:rPr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  <a:ea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572F0E44-3048-0927-BEB9-20E3E3F56D81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Manrope"/>
                <a:ea typeface="Manrope"/>
              </a:rPr>
              <a:t>Robust stability </a:t>
            </a:r>
            <a:r>
              <a:rPr lang="en-US">
                <a:latin typeface="Manrope"/>
                <a:ea typeface="Manrope"/>
                <a:cs typeface="+mj-lt"/>
              </a:rPr>
              <a:t>for the uncertain</a:t>
            </a:r>
            <a:r>
              <a:rPr lang="en-US" i="1">
                <a:latin typeface="Manrope"/>
                <a:ea typeface="Manrope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latin typeface="Manrope"/>
                <a:ea typeface="Manrope"/>
                <a:cs typeface="+mj-lt"/>
              </a:rPr>
              <a:t>Lateral dynamics</a:t>
            </a:r>
            <a:endParaRPr lang="en-US">
              <a:latin typeface="Manrope"/>
              <a:ea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B97AEED1-A25E-3FCF-C191-950DDDC33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>
                <a:latin typeface="Manrope"/>
                <a:ea typeface="Manrope"/>
              </a:rPr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2794ED45-445B-D47A-91A4-1F738ACDAF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Decompose uncertainty  from  known plant: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160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endParaRPr lang="en-US" sz="1600" b="1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P-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/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Test R.S.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2794ED45-445B-D47A-91A4-1F738ACDA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4"/>
                <a:stretch>
                  <a:fillRect l="-4604" t="-825" r="-7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magine 11">
            <a:extLst>
              <a:ext uri="{FF2B5EF4-FFF2-40B4-BE49-F238E27FC236}">
                <a16:creationId xmlns:a16="http://schemas.microsoft.com/office/drawing/2014/main" id="{9D4A7A51-A698-7BFB-AC3C-CD611428A6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8" t="2300" r="4022" b="3725"/>
          <a:stretch>
            <a:fillRect/>
          </a:stretch>
        </p:blipFill>
        <p:spPr>
          <a:xfrm>
            <a:off x="5056112" y="2060575"/>
            <a:ext cx="6800851" cy="453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06120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21B04-406F-3BC4-0C53-B360C16E2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033B758-7227-58CC-4E1F-366A96CA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C41AE10-A59B-60A1-6BB0-3814AD9D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6E92DBC7-6B91-5592-0EC3-25F4B5B031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16275" y="1474402"/>
            <a:ext cx="8640763" cy="5015298"/>
          </a:xfrm>
        </p:spPr>
        <p:txBody>
          <a:bodyPr>
            <a:normAutofit/>
          </a:bodyPr>
          <a:lstStyle/>
          <a:p>
            <a:pPr algn="ctr"/>
            <a:endParaRPr lang="en-US" b="0" i="1">
              <a:latin typeface="Cambria Math" panose="02040503050406030204" pitchFamily="18" charset="0"/>
            </a:endParaRPr>
          </a:p>
          <a:p>
            <a:pPr algn="just"/>
            <a:r>
              <a:rPr lang="en-US" b="1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72D3FF11-46F3-F68C-0089-11667D940FA7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46F5C3DA-B763-A566-099A-34BAB0A8864F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1D94C379-49D0-758F-20E2-D74FA45C4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803065DC-FAD0-73EB-789D-58E84EA889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Decompose in uncertainty from the known plant: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160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endParaRPr lang="en-US" sz="1600" b="1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P-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/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Test R.S.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803065DC-FAD0-73EB-789D-58E84EA88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3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D00D708D-E415-AACB-9A4C-E7EC635B8111}"/>
                  </a:ext>
                </a:extLst>
              </p:cNvPr>
              <p:cNvSpPr txBox="1"/>
              <p:nvPr/>
            </p:nvSpPr>
            <p:spPr>
              <a:xfrm>
                <a:off x="3348092" y="1314855"/>
                <a:ext cx="74664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With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/>
                  <a:t> plant decomposition we obtain: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D00D708D-E415-AACB-9A4C-E7EC635B8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092" y="1314855"/>
                <a:ext cx="7466446" cy="369332"/>
              </a:xfrm>
              <a:prstGeom prst="rect">
                <a:avLst/>
              </a:prstGeom>
              <a:blipFill>
                <a:blip r:embed="rId4"/>
                <a:stretch>
                  <a:fillRect l="-653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 descr="Immagine che contiene testo, schermata, Biglietto Post-it, Rettangolo&#10;&#10;Il contenuto generato dall'IA potrebbe non essere corretto.">
            <a:extLst>
              <a:ext uri="{FF2B5EF4-FFF2-40B4-BE49-F238E27FC236}">
                <a16:creationId xmlns:a16="http://schemas.microsoft.com/office/drawing/2014/main" id="{7164F896-12B3-AC88-62DB-76B67688E1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67"/>
          <a:stretch>
            <a:fillRect/>
          </a:stretch>
        </p:blipFill>
        <p:spPr>
          <a:xfrm>
            <a:off x="4002692" y="1474402"/>
            <a:ext cx="6666346" cy="3333173"/>
          </a:xfrm>
          <a:prstGeom prst="rect">
            <a:avLst/>
          </a:prstGeom>
        </p:spPr>
      </p:pic>
      <p:pic>
        <p:nvPicPr>
          <p:cNvPr id="12" name="Immagine 11" descr="Immagine che contiene testo, Carattere, schermata, algebra&#10;&#10;Il contenuto generato dall'IA potrebbe non essere corretto.">
            <a:extLst>
              <a:ext uri="{FF2B5EF4-FFF2-40B4-BE49-F238E27FC236}">
                <a16:creationId xmlns:a16="http://schemas.microsoft.com/office/drawing/2014/main" id="{402A3F78-5C20-4958-CC81-F4DEC11746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649" y="5035897"/>
            <a:ext cx="5836719" cy="13728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7D2D4B95-4D02-3519-1FC0-565E0EB35EF6}"/>
                  </a:ext>
                </a:extLst>
              </p:cNvPr>
              <p:cNvSpPr txBox="1"/>
              <p:nvPr/>
            </p:nvSpPr>
            <p:spPr>
              <a:xfrm>
                <a:off x="3216275" y="4685882"/>
                <a:ext cx="87129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7D2D4B95-4D02-3519-1FC0-565E0EB35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275" y="4685882"/>
                <a:ext cx="871298" cy="276999"/>
              </a:xfrm>
              <a:prstGeom prst="rect">
                <a:avLst/>
              </a:prstGeom>
              <a:blipFill>
                <a:blip r:embed="rId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91170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911E6-8CAE-6D9B-83C0-691DF60D1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CF0597B-C676-567C-BF1F-21DADF663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1C86837-0C41-DA20-2B08-2FC4E72A0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34ED12E-9E7C-918D-08D3-42DF06F2BD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16275" y="1474402"/>
            <a:ext cx="8640763" cy="5015298"/>
          </a:xfrm>
        </p:spPr>
        <p:txBody>
          <a:bodyPr>
            <a:normAutofit/>
          </a:bodyPr>
          <a:lstStyle/>
          <a:p>
            <a:pPr algn="ctr"/>
            <a:endParaRPr lang="en-US" b="0" i="1">
              <a:latin typeface="Cambria Math" panose="02040503050406030204" pitchFamily="18" charset="0"/>
            </a:endParaRPr>
          </a:p>
          <a:p>
            <a:pPr algn="just"/>
            <a:r>
              <a:rPr lang="en-US" b="1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C4654DC-2A3E-3912-CB7E-D9A648E8F1E0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B3131323-0551-4196-82AE-AAC133C6B42D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172C1C5C-B500-2B2F-9C1F-83EC78EC3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8AC83F54-AA6F-8862-A3AC-C5E124B980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Decompose in uncertainty from the known plant: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160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endParaRPr lang="en-US" sz="1600" b="1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P-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/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Test R.S.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8AC83F54-AA6F-8862-A3AC-C5E124B98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3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D5C57E48-1DF8-1E99-B82C-02899F1DD8E8}"/>
              </a:ext>
            </a:extLst>
          </p:cNvPr>
          <p:cNvSpPr txBox="1"/>
          <p:nvPr/>
        </p:nvSpPr>
        <p:spPr>
          <a:xfrm>
            <a:off x="3348092" y="1314855"/>
            <a:ext cx="7466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 obtain:</a:t>
            </a:r>
          </a:p>
        </p:txBody>
      </p:sp>
      <p:pic>
        <p:nvPicPr>
          <p:cNvPr id="10" name="Immagine 9" descr="Immagine che contiene testo, schermata, Biglietto Post-it, Rettangolo&#10;&#10;Il contenuto generato dall'IA potrebbe non essere corretto.">
            <a:extLst>
              <a:ext uri="{FF2B5EF4-FFF2-40B4-BE49-F238E27FC236}">
                <a16:creationId xmlns:a16="http://schemas.microsoft.com/office/drawing/2014/main" id="{1AEA294D-1EF7-1423-5956-68762C3D31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67"/>
          <a:stretch>
            <a:fillRect/>
          </a:stretch>
        </p:blipFill>
        <p:spPr>
          <a:xfrm>
            <a:off x="3748142" y="1328371"/>
            <a:ext cx="6666346" cy="33331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888EF57A-2893-52F8-B6DD-B284CA04A4B7}"/>
                  </a:ext>
                </a:extLst>
              </p:cNvPr>
              <p:cNvSpPr txBox="1"/>
              <p:nvPr/>
            </p:nvSpPr>
            <p:spPr>
              <a:xfrm>
                <a:off x="3287966" y="4679086"/>
                <a:ext cx="871298" cy="2837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lat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888EF57A-2893-52F8-B6DD-B284CA04A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966" y="4679086"/>
                <a:ext cx="871298" cy="283796"/>
              </a:xfrm>
              <a:prstGeom prst="rect">
                <a:avLst/>
              </a:prstGeom>
              <a:blipFill>
                <a:blip r:embed="rId5"/>
                <a:stretch>
                  <a:fillRect t="-19565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magine 1">
            <a:extLst>
              <a:ext uri="{FF2B5EF4-FFF2-40B4-BE49-F238E27FC236}">
                <a16:creationId xmlns:a16="http://schemas.microsoft.com/office/drawing/2014/main" id="{0F5EEA1D-799B-AF6D-BCE9-2E8BD5CB03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028" y="4770492"/>
            <a:ext cx="6297048" cy="192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94631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0C64D-4A66-4516-0434-DC1FB700D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1C7276F-48BC-696E-A580-83274BB47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F60FD85-EF6E-5840-8BC4-E058EF14D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6E17D9-86F8-D340-E61C-BBF6950DA2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16275" y="1474402"/>
            <a:ext cx="8640763" cy="5015298"/>
          </a:xfrm>
        </p:spPr>
        <p:txBody>
          <a:bodyPr>
            <a:normAutofit/>
          </a:bodyPr>
          <a:lstStyle/>
          <a:p>
            <a:pPr algn="ctr"/>
            <a:endParaRPr lang="en-US" b="0" i="1">
              <a:latin typeface="Cambria Math" panose="02040503050406030204" pitchFamily="18" charset="0"/>
            </a:endParaRPr>
          </a:p>
          <a:p>
            <a:pPr algn="just"/>
            <a:r>
              <a:rPr lang="en-US" b="1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1D21B21-F8EF-2FB1-A6E2-08374BBF8759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EAA93146-40ED-7372-561F-8CA45A662126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E848A7CF-F677-0964-9BAE-DB6B0D2EB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DF23CA0F-3297-37ED-0C22-26B55916F9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Decompose in uncertainty from the known plant: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160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endParaRPr lang="en-US" sz="1600" b="1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P-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/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Test R.S.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DF23CA0F-3297-37ED-0C22-26B55916F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3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magine 1" descr="Immagine che contiene testo, schermata, Biglietto Post-it, Rettangolo&#10;&#10;Il contenuto generato dall'IA potrebbe non essere corretto.">
            <a:extLst>
              <a:ext uri="{FF2B5EF4-FFF2-40B4-BE49-F238E27FC236}">
                <a16:creationId xmlns:a16="http://schemas.microsoft.com/office/drawing/2014/main" id="{6D1FD827-CE25-CFB1-BE4F-0BDB6CB30B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67"/>
          <a:stretch>
            <a:fillRect/>
          </a:stretch>
        </p:blipFill>
        <p:spPr>
          <a:xfrm>
            <a:off x="3335942" y="1549571"/>
            <a:ext cx="6666346" cy="3333173"/>
          </a:xfrm>
          <a:prstGeom prst="rect">
            <a:avLst/>
          </a:prstGeom>
        </p:spPr>
      </p:pic>
      <p:pic>
        <p:nvPicPr>
          <p:cNvPr id="6" name="Immagine 5" descr="Immagine che contiene testo, Carattere&#10;&#10;Il contenuto generato dall'IA potrebbe non essere corretto.">
            <a:extLst>
              <a:ext uri="{FF2B5EF4-FFF2-40B4-BE49-F238E27FC236}">
                <a16:creationId xmlns:a16="http://schemas.microsoft.com/office/drawing/2014/main" id="{017B28A8-D976-E819-6ED3-0E9F593444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138" y="4923133"/>
            <a:ext cx="7402203" cy="132612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7536045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F5D91-F1DE-8947-1BD1-9F3A8D031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magine 24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604D1D6D-7BFA-0556-5E7C-3B6441FE46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784" y="4346131"/>
            <a:ext cx="6446997" cy="1905232"/>
          </a:xfrm>
          <a:prstGeom prst="rect">
            <a:avLst/>
          </a:prstGeom>
        </p:spPr>
      </p:pic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061AB86-7984-2968-210E-A057A4D5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0EBB9F9-18C8-F7DB-9AEC-EBDA1AC6B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D4776483-A059-3E12-2A62-7E073F1E82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16275" y="1474402"/>
            <a:ext cx="8640763" cy="5015298"/>
          </a:xfrm>
        </p:spPr>
        <p:txBody>
          <a:bodyPr>
            <a:normAutofit/>
          </a:bodyPr>
          <a:lstStyle/>
          <a:p>
            <a:pPr algn="ctr"/>
            <a:endParaRPr lang="en-US" b="0" i="1">
              <a:latin typeface="Cambria Math" panose="02040503050406030204" pitchFamily="18" charset="0"/>
            </a:endParaRPr>
          </a:p>
          <a:p>
            <a:pPr algn="just"/>
            <a:r>
              <a:rPr lang="en-US" b="1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8ACBD55-A2F0-7A7C-98F6-106604F80563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4413F22D-99C9-66DF-A420-38F168EADEC0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6E7984A0-A795-8AC8-6AD2-B83DE8722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03D2E299-71E6-20EF-3B9B-3EFF0D40C7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Decompose in uncertainty from the known plant: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sz="160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Get P-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𝚫</m:t>
                    </m:r>
                  </m:oMath>
                </a14:m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Test R.S.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03D2E299-71E6-20EF-3B9B-3EFF0D40C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4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magine 1" descr="Immagine che contiene testo, schermata, Biglietto Post-it, Rettangolo&#10;&#10;Il contenuto generato dall'IA potrebbe non essere corretto.">
            <a:extLst>
              <a:ext uri="{FF2B5EF4-FFF2-40B4-BE49-F238E27FC236}">
                <a16:creationId xmlns:a16="http://schemas.microsoft.com/office/drawing/2014/main" id="{C00A3401-FC20-5A68-4371-4ACCBA049C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67"/>
          <a:stretch>
            <a:fillRect/>
          </a:stretch>
        </p:blipFill>
        <p:spPr>
          <a:xfrm>
            <a:off x="2975400" y="1337533"/>
            <a:ext cx="5495216" cy="2747608"/>
          </a:xfrm>
          <a:prstGeom prst="rect">
            <a:avLst/>
          </a:prstGeom>
        </p:spPr>
      </p:pic>
      <p:pic>
        <p:nvPicPr>
          <p:cNvPr id="11" name="Immagine 10" descr="Immagine che contiene testo, schermata, Carattere, Biglietto Post-it&#10;&#10;Il contenuto generato dall'IA potrebbe non essere corretto.">
            <a:extLst>
              <a:ext uri="{FF2B5EF4-FFF2-40B4-BE49-F238E27FC236}">
                <a16:creationId xmlns:a16="http://schemas.microsoft.com/office/drawing/2014/main" id="{13347515-8199-C894-FE6E-F8045EB6F4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078"/>
          <a:stretch>
            <a:fillRect/>
          </a:stretch>
        </p:blipFill>
        <p:spPr>
          <a:xfrm>
            <a:off x="9215013" y="1879876"/>
            <a:ext cx="2882900" cy="1834570"/>
          </a:xfrm>
          <a:prstGeom prst="rect">
            <a:avLst/>
          </a:prstGeom>
        </p:spPr>
      </p:pic>
      <p:cxnSp>
        <p:nvCxnSpPr>
          <p:cNvPr id="13" name="Connettore diritto a freccia 12">
            <a:extLst>
              <a:ext uri="{FF2B5EF4-FFF2-40B4-BE49-F238E27FC236}">
                <a16:creationId xmlns:a16="http://schemas.microsoft.com/office/drawing/2014/main" id="{18F477B0-B94B-2643-339F-B23893B8F205}"/>
              </a:ext>
            </a:extLst>
          </p:cNvPr>
          <p:cNvCxnSpPr>
            <a:cxnSpLocks/>
          </p:cNvCxnSpPr>
          <p:nvPr/>
        </p:nvCxnSpPr>
        <p:spPr>
          <a:xfrm>
            <a:off x="8587574" y="2787327"/>
            <a:ext cx="5351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olo 1">
                <a:extLst>
                  <a:ext uri="{FF2B5EF4-FFF2-40B4-BE49-F238E27FC236}">
                    <a16:creationId xmlns:a16="http://schemas.microsoft.com/office/drawing/2014/main" id="{8C8F4950-1399-1700-CB8F-5B18BB318F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96569" y="1459217"/>
                <a:ext cx="1331497" cy="52147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000"/>
                  <a:t>P-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𝚫</m:t>
                    </m:r>
                  </m:oMath>
                </a14:m>
                <a:r>
                  <a:rPr lang="en-US" sz="2000"/>
                  <a:t> form</a:t>
                </a:r>
              </a:p>
            </p:txBody>
          </p:sp>
        </mc:Choice>
        <mc:Fallback xmlns="">
          <p:sp>
            <p:nvSpPr>
              <p:cNvPr id="15" name="Titolo 1">
                <a:extLst>
                  <a:ext uri="{FF2B5EF4-FFF2-40B4-BE49-F238E27FC236}">
                    <a16:creationId xmlns:a16="http://schemas.microsoft.com/office/drawing/2014/main" id="{8C8F4950-1399-1700-CB8F-5B18BB318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69" y="1459217"/>
                <a:ext cx="1331497" cy="521473"/>
              </a:xfrm>
              <a:prstGeom prst="rect">
                <a:avLst/>
              </a:prstGeom>
              <a:blipFill>
                <a:blip r:embed="rId7"/>
                <a:stretch>
                  <a:fillRect l="-11416" t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ttore diritto a freccia 9">
            <a:extLst>
              <a:ext uri="{FF2B5EF4-FFF2-40B4-BE49-F238E27FC236}">
                <a16:creationId xmlns:a16="http://schemas.microsoft.com/office/drawing/2014/main" id="{59A21A92-B778-8013-A6DF-E7790087C69F}"/>
              </a:ext>
            </a:extLst>
          </p:cNvPr>
          <p:cNvCxnSpPr/>
          <p:nvPr/>
        </p:nvCxnSpPr>
        <p:spPr>
          <a:xfrm flipH="1">
            <a:off x="7038753" y="2787327"/>
            <a:ext cx="3193526" cy="1731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93DC560-71E7-7095-4BBE-E6516C06FF1B}"/>
              </a:ext>
            </a:extLst>
          </p:cNvPr>
          <p:cNvSpPr txBox="1"/>
          <p:nvPr/>
        </p:nvSpPr>
        <p:spPr>
          <a:xfrm>
            <a:off x="4206656" y="6489700"/>
            <a:ext cx="5688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(Not reported for space reasons : dimensions 7x10)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60F4314D-D588-42B3-4817-13264C46D451}"/>
              </a:ext>
            </a:extLst>
          </p:cNvPr>
          <p:cNvSpPr/>
          <p:nvPr/>
        </p:nvSpPr>
        <p:spPr>
          <a:xfrm>
            <a:off x="4800600" y="5068957"/>
            <a:ext cx="4322135" cy="2087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49C0E76F-C309-440E-6166-25DE6798901D}"/>
              </a:ext>
            </a:extLst>
          </p:cNvPr>
          <p:cNvSpPr/>
          <p:nvPr/>
        </p:nvSpPr>
        <p:spPr>
          <a:xfrm>
            <a:off x="9220528" y="5068956"/>
            <a:ext cx="674586" cy="2087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1539C36F-9D21-C620-4378-A3AC325BC97C}"/>
              </a:ext>
            </a:extLst>
          </p:cNvPr>
          <p:cNvSpPr/>
          <p:nvPr/>
        </p:nvSpPr>
        <p:spPr>
          <a:xfrm>
            <a:off x="4668730" y="5277677"/>
            <a:ext cx="1026392" cy="2087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A186282-A3D4-3DC8-1FC7-B4EED3C6B385}"/>
              </a:ext>
            </a:extLst>
          </p:cNvPr>
          <p:cNvSpPr/>
          <p:nvPr/>
        </p:nvSpPr>
        <p:spPr>
          <a:xfrm>
            <a:off x="4764773" y="5463486"/>
            <a:ext cx="4357962" cy="2087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8685CB92-97DB-D9C4-2200-62F92149B3D8}"/>
              </a:ext>
            </a:extLst>
          </p:cNvPr>
          <p:cNvSpPr/>
          <p:nvPr/>
        </p:nvSpPr>
        <p:spPr>
          <a:xfrm>
            <a:off x="9215013" y="5446782"/>
            <a:ext cx="1017266" cy="2254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00868D33-2808-98A3-B492-CB09FA9133B2}"/>
              </a:ext>
            </a:extLst>
          </p:cNvPr>
          <p:cNvSpPr/>
          <p:nvPr/>
        </p:nvSpPr>
        <p:spPr>
          <a:xfrm>
            <a:off x="4729930" y="5672206"/>
            <a:ext cx="1508222" cy="1858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56256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D368A-FC91-C0C0-666C-C516137CE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E1DD4D1-8A11-BEE4-3602-8DBA4AD40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81BF6CA-B05A-1BBC-093D-3233D743E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41BB3E8B-D379-1154-4AE4-3FCDAE999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16275" y="1474402"/>
            <a:ext cx="8640763" cy="5015298"/>
          </a:xfrm>
        </p:spPr>
        <p:txBody>
          <a:bodyPr>
            <a:normAutofit/>
          </a:bodyPr>
          <a:lstStyle/>
          <a:p>
            <a:pPr algn="ctr"/>
            <a:endParaRPr lang="en-US" b="0" i="1">
              <a:latin typeface="Cambria Math" panose="02040503050406030204" pitchFamily="18" charset="0"/>
            </a:endParaRPr>
          </a:p>
          <a:p>
            <a:pPr algn="just"/>
            <a:r>
              <a:rPr lang="en-US" b="1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CB3900FE-9CC1-6F11-93C3-2F56B8556194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2548575E-BBC5-1107-98EA-9C2714910165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31B6DA5F-3E21-699F-DBC8-8E048ED24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5DF49C34-F3C5-7442-DEEF-560B3C0831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Decompose in uncertainty from the known plant: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sz="160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Get P-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𝚫</m:t>
                    </m:r>
                  </m:oMath>
                </a14:m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Test R.S.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5DF49C34-F3C5-7442-DEEF-560B3C083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3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magine 1" descr="Immagine che contiene testo, schermata, Biglietto Post-it, Rettangolo&#10;&#10;Il contenuto generato dall'IA potrebbe non essere corretto.">
            <a:extLst>
              <a:ext uri="{FF2B5EF4-FFF2-40B4-BE49-F238E27FC236}">
                <a16:creationId xmlns:a16="http://schemas.microsoft.com/office/drawing/2014/main" id="{80C33821-42A1-3C9A-7EBB-7DF2320FBE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67"/>
          <a:stretch>
            <a:fillRect/>
          </a:stretch>
        </p:blipFill>
        <p:spPr>
          <a:xfrm>
            <a:off x="2975400" y="1337533"/>
            <a:ext cx="5495216" cy="2747608"/>
          </a:xfrm>
          <a:prstGeom prst="rect">
            <a:avLst/>
          </a:prstGeom>
        </p:spPr>
      </p:pic>
      <p:pic>
        <p:nvPicPr>
          <p:cNvPr id="11" name="Immagine 10" descr="Immagine che contiene testo, schermata, Carattere, Biglietto Post-it&#10;&#10;Il contenuto generato dall'IA potrebbe non essere corretto.">
            <a:extLst>
              <a:ext uri="{FF2B5EF4-FFF2-40B4-BE49-F238E27FC236}">
                <a16:creationId xmlns:a16="http://schemas.microsoft.com/office/drawing/2014/main" id="{E863E030-E58B-4D24-695C-248F8A9BD4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078"/>
          <a:stretch>
            <a:fillRect/>
          </a:stretch>
        </p:blipFill>
        <p:spPr>
          <a:xfrm>
            <a:off x="9215013" y="1879876"/>
            <a:ext cx="2882900" cy="1834570"/>
          </a:xfrm>
          <a:prstGeom prst="rect">
            <a:avLst/>
          </a:prstGeom>
        </p:spPr>
      </p:pic>
      <p:cxnSp>
        <p:nvCxnSpPr>
          <p:cNvPr id="13" name="Connettore diritto a freccia 12">
            <a:extLst>
              <a:ext uri="{FF2B5EF4-FFF2-40B4-BE49-F238E27FC236}">
                <a16:creationId xmlns:a16="http://schemas.microsoft.com/office/drawing/2014/main" id="{8A88179C-4C24-01F5-8081-F4FD881B7302}"/>
              </a:ext>
            </a:extLst>
          </p:cNvPr>
          <p:cNvCxnSpPr>
            <a:cxnSpLocks/>
          </p:cNvCxnSpPr>
          <p:nvPr/>
        </p:nvCxnSpPr>
        <p:spPr>
          <a:xfrm>
            <a:off x="8587574" y="2787327"/>
            <a:ext cx="5351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magine 5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852C34D5-5CC2-21C7-A0D0-BF6755B2F9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656" y="4378974"/>
            <a:ext cx="6581610" cy="1607137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olo 1">
                <a:extLst>
                  <a:ext uri="{FF2B5EF4-FFF2-40B4-BE49-F238E27FC236}">
                    <a16:creationId xmlns:a16="http://schemas.microsoft.com/office/drawing/2014/main" id="{2E563C2C-585E-8E64-2B02-B8D4D989A9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96569" y="1459217"/>
                <a:ext cx="1331497" cy="52147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000"/>
                  <a:t>P-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𝚫</m:t>
                    </m:r>
                  </m:oMath>
                </a14:m>
                <a:r>
                  <a:rPr lang="en-US" sz="2000"/>
                  <a:t> form</a:t>
                </a:r>
              </a:p>
            </p:txBody>
          </p:sp>
        </mc:Choice>
        <mc:Fallback xmlns="">
          <p:sp>
            <p:nvSpPr>
              <p:cNvPr id="10" name="Titolo 1">
                <a:extLst>
                  <a:ext uri="{FF2B5EF4-FFF2-40B4-BE49-F238E27FC236}">
                    <a16:creationId xmlns:a16="http://schemas.microsoft.com/office/drawing/2014/main" id="{2E563C2C-585E-8E64-2B02-B8D4D989A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69" y="1459217"/>
                <a:ext cx="1331497" cy="521473"/>
              </a:xfrm>
              <a:prstGeom prst="rect">
                <a:avLst/>
              </a:prstGeom>
              <a:blipFill>
                <a:blip r:embed="rId7"/>
                <a:stretch>
                  <a:fillRect l="-11416" t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nettore diritto a freccia 11">
            <a:extLst>
              <a:ext uri="{FF2B5EF4-FFF2-40B4-BE49-F238E27FC236}">
                <a16:creationId xmlns:a16="http://schemas.microsoft.com/office/drawing/2014/main" id="{CBB00F16-7E83-2CB1-46C7-1F98E8A7904C}"/>
              </a:ext>
            </a:extLst>
          </p:cNvPr>
          <p:cNvCxnSpPr>
            <a:cxnSpLocks/>
          </p:cNvCxnSpPr>
          <p:nvPr/>
        </p:nvCxnSpPr>
        <p:spPr>
          <a:xfrm flipH="1">
            <a:off x="7389628" y="3561907"/>
            <a:ext cx="2842651" cy="925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2498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A36FA-B6D2-FCCF-927D-4B330E18C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5EDEEBC-4CF0-AC03-E592-6D934A0C4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7D5D117-0694-B988-E9DC-771966A13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7EC112C4-6CFA-06C1-307A-EC54163A94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16275" y="1474402"/>
            <a:ext cx="8640763" cy="5015298"/>
          </a:xfrm>
        </p:spPr>
        <p:txBody>
          <a:bodyPr>
            <a:normAutofit/>
          </a:bodyPr>
          <a:lstStyle/>
          <a:p>
            <a:pPr algn="ctr"/>
            <a:endParaRPr lang="en-US" b="0" i="1">
              <a:latin typeface="Cambria Math" panose="02040503050406030204" pitchFamily="18" charset="0"/>
            </a:endParaRPr>
          </a:p>
          <a:p>
            <a:pPr algn="just"/>
            <a:r>
              <a:rPr lang="en-US" b="1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83D3914B-F1C9-7AE1-1ADD-D253A9ADE878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30BE77A0-75E9-838A-3B45-EF95BA1DBE6E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56FA43C1-744E-7F9A-02F9-2746C1772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FF567263-6701-0EDC-B808-2207C3F61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Decompose in uncertainty from the known plant: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sz="160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Get P-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𝚫</m:t>
                    </m:r>
                  </m:oMath>
                </a14:m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Test R.S.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FF567263-6701-0EDC-B808-2207C3F61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3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magine 1" descr="Immagine che contiene testo, schermata, Biglietto Post-it, Rettangolo&#10;&#10;Il contenuto generato dall'IA potrebbe non essere corretto.">
            <a:extLst>
              <a:ext uri="{FF2B5EF4-FFF2-40B4-BE49-F238E27FC236}">
                <a16:creationId xmlns:a16="http://schemas.microsoft.com/office/drawing/2014/main" id="{94BAC32F-BB40-077F-1F79-98CB6214B4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67"/>
          <a:stretch>
            <a:fillRect/>
          </a:stretch>
        </p:blipFill>
        <p:spPr>
          <a:xfrm>
            <a:off x="2975400" y="1337533"/>
            <a:ext cx="5495216" cy="2747608"/>
          </a:xfrm>
          <a:prstGeom prst="rect">
            <a:avLst/>
          </a:prstGeom>
        </p:spPr>
      </p:pic>
      <p:pic>
        <p:nvPicPr>
          <p:cNvPr id="11" name="Immagine 10" descr="Immagine che contiene testo, schermata, Carattere, Biglietto Post-it&#10;&#10;Il contenuto generato dall'IA potrebbe non essere corretto.">
            <a:extLst>
              <a:ext uri="{FF2B5EF4-FFF2-40B4-BE49-F238E27FC236}">
                <a16:creationId xmlns:a16="http://schemas.microsoft.com/office/drawing/2014/main" id="{F0CE2206-CC47-0FF5-A9D9-5C7F4F79F8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078"/>
          <a:stretch>
            <a:fillRect/>
          </a:stretch>
        </p:blipFill>
        <p:spPr>
          <a:xfrm>
            <a:off x="9215013" y="1879876"/>
            <a:ext cx="2882900" cy="1834570"/>
          </a:xfrm>
          <a:prstGeom prst="rect">
            <a:avLst/>
          </a:prstGeom>
        </p:spPr>
      </p:pic>
      <p:cxnSp>
        <p:nvCxnSpPr>
          <p:cNvPr id="13" name="Connettore diritto a freccia 12">
            <a:extLst>
              <a:ext uri="{FF2B5EF4-FFF2-40B4-BE49-F238E27FC236}">
                <a16:creationId xmlns:a16="http://schemas.microsoft.com/office/drawing/2014/main" id="{EE70CE1F-E0AE-645A-F52A-9372350C55FE}"/>
              </a:ext>
            </a:extLst>
          </p:cNvPr>
          <p:cNvCxnSpPr>
            <a:cxnSpLocks/>
          </p:cNvCxnSpPr>
          <p:nvPr/>
        </p:nvCxnSpPr>
        <p:spPr>
          <a:xfrm>
            <a:off x="8587574" y="2787327"/>
            <a:ext cx="5351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olo 1">
                <a:extLst>
                  <a:ext uri="{FF2B5EF4-FFF2-40B4-BE49-F238E27FC236}">
                    <a16:creationId xmlns:a16="http://schemas.microsoft.com/office/drawing/2014/main" id="{B6816778-AC26-AF87-C041-0E7B055B7B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96569" y="1459217"/>
                <a:ext cx="1331497" cy="52147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000"/>
                  <a:t>P-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𝚫</m:t>
                    </m:r>
                  </m:oMath>
                </a14:m>
                <a:r>
                  <a:rPr lang="en-US" sz="2000"/>
                  <a:t> form</a:t>
                </a:r>
              </a:p>
            </p:txBody>
          </p:sp>
        </mc:Choice>
        <mc:Fallback xmlns="">
          <p:sp>
            <p:nvSpPr>
              <p:cNvPr id="10" name="Titolo 1">
                <a:extLst>
                  <a:ext uri="{FF2B5EF4-FFF2-40B4-BE49-F238E27FC236}">
                    <a16:creationId xmlns:a16="http://schemas.microsoft.com/office/drawing/2014/main" id="{B6816778-AC26-AF87-C041-0E7B055B7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69" y="1459217"/>
                <a:ext cx="1331497" cy="521473"/>
              </a:xfrm>
              <a:prstGeom prst="rect">
                <a:avLst/>
              </a:prstGeom>
              <a:blipFill>
                <a:blip r:embed="rId6"/>
                <a:stretch>
                  <a:fillRect l="-11416" t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nettore diritto a freccia 11">
            <a:extLst>
              <a:ext uri="{FF2B5EF4-FFF2-40B4-BE49-F238E27FC236}">
                <a16:creationId xmlns:a16="http://schemas.microsoft.com/office/drawing/2014/main" id="{5BA22D7A-04B7-8A45-3FE1-9ECED1C5B823}"/>
              </a:ext>
            </a:extLst>
          </p:cNvPr>
          <p:cNvCxnSpPr>
            <a:cxnSpLocks/>
          </p:cNvCxnSpPr>
          <p:nvPr/>
        </p:nvCxnSpPr>
        <p:spPr>
          <a:xfrm flipH="1">
            <a:off x="7238542" y="3561907"/>
            <a:ext cx="2993737" cy="830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magine 16">
            <a:extLst>
              <a:ext uri="{FF2B5EF4-FFF2-40B4-BE49-F238E27FC236}">
                <a16:creationId xmlns:a16="http://schemas.microsoft.com/office/drawing/2014/main" id="{9725E175-CBF5-984E-10BE-195BFBCE86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07008" y="4423833"/>
            <a:ext cx="6108929" cy="719863"/>
          </a:xfrm>
          <a:prstGeom prst="rect">
            <a:avLst/>
          </a:prstGeom>
        </p:spPr>
      </p:pic>
      <p:sp>
        <p:nvSpPr>
          <p:cNvPr id="8" name="Parentesi graffa aperta 7">
            <a:extLst>
              <a:ext uri="{FF2B5EF4-FFF2-40B4-BE49-F238E27FC236}">
                <a16:creationId xmlns:a16="http://schemas.microsoft.com/office/drawing/2014/main" id="{FEBC9BD2-82DE-CBBB-6882-402A847ACAB5}"/>
              </a:ext>
            </a:extLst>
          </p:cNvPr>
          <p:cNvSpPr/>
          <p:nvPr/>
        </p:nvSpPr>
        <p:spPr>
          <a:xfrm rot="16200000" flipH="1">
            <a:off x="6929243" y="2022836"/>
            <a:ext cx="283402" cy="502293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430EE80D-EC78-BAF5-7661-FDC93BA702BB}"/>
                  </a:ext>
                </a:extLst>
              </p:cNvPr>
              <p:cNvSpPr txBox="1"/>
              <p:nvPr/>
            </p:nvSpPr>
            <p:spPr>
              <a:xfrm>
                <a:off x="2975400" y="5973817"/>
                <a:ext cx="68144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(Notation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𝑙𝑎𝑡</m:t>
                        </m:r>
                      </m:sub>
                    </m:sSub>
                  </m:oMath>
                </a14:m>
                <a:r>
                  <a:rPr lang="en-US" sz="1200"/>
                  <a:t>is </a:t>
                </a:r>
                <a:r>
                  <a:rPr lang="en-US" sz="1200" err="1"/>
                  <a:t>Skogestad’s</a:t>
                </a:r>
                <a:r>
                  <a:rPr lang="en-US" sz="1200"/>
                  <a:t>. In our case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𝑙𝑎𝑡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𝑙𝑎𝑡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/>
                  <a:t> </a:t>
                </a:r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430EE80D-EC78-BAF5-7661-FDC93BA70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400" y="5973817"/>
                <a:ext cx="6814457" cy="276999"/>
              </a:xfrm>
              <a:prstGeom prst="rect">
                <a:avLst/>
              </a:prstGeom>
              <a:blipFill>
                <a:blip r:embed="rId8"/>
                <a:stretch>
                  <a:fillRect t="-4444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372475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D080D-6C4E-EDD3-4E64-AEBB5B20A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87330BD-5580-4774-0F3A-72F9AE76E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B8B7E1-7D73-32B5-328D-52EF907F1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77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E948C4A4-5854-E24F-2A13-D852CD828376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𝐍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d>
                    <m:r>
                      <a:rPr lang="en-US" smtClean="0">
                        <a:latin typeface="Cambria Math" panose="02040503050406030204" pitchFamily="18" charset="0"/>
                      </a:rPr>
                      <m:t>≜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K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d>
                      </m:e>
                      <m:sup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US"/>
                  <a:t> </a:t>
                </a:r>
              </a:p>
              <a:p>
                <a:pPr algn="ctr"/>
                <a:r>
                  <a:rPr lang="en-US"/>
                  <a:t>               		linear fractional transformation  (</a:t>
                </a:r>
                <a:r>
                  <a:rPr lang="en-US" err="1"/>
                  <a:t>lft</a:t>
                </a:r>
                <a:r>
                  <a:rPr lang="en-US"/>
                  <a:t>)</a:t>
                </a:r>
              </a:p>
              <a:p>
                <a:pPr algn="ctr"/>
                <a:endParaRPr lang="en-US" b="0" i="1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b="1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E948C4A4-5854-E24F-2A13-D852CD8283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F3859438-10E4-EBDE-87B4-3FEDEC320619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27BB1587-6ECC-8BF1-C9F2-1962827420D3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416EED73-4E9F-0566-C3BE-0AB99D377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C6443064-791C-7E0B-27EF-E27ED58440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Decompose in uncertainty from the known plant: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sz="160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Get P-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Test R.S.</a:t>
                </a:r>
              </a:p>
              <a:p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C6443064-791C-7E0B-27EF-E27ED5844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4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magine 11" descr="Immagine che contiene testo, Carattere, schermata, bianco&#10;&#10;Il contenuto generato dall'IA potrebbe non essere corretto.">
            <a:extLst>
              <a:ext uri="{FF2B5EF4-FFF2-40B4-BE49-F238E27FC236}">
                <a16:creationId xmlns:a16="http://schemas.microsoft.com/office/drawing/2014/main" id="{B426AA01-ADA9-D444-78E9-9E91F40286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793" y="2134653"/>
            <a:ext cx="2936304" cy="1405411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14" name="Immagine 13" descr="Immagine che contiene testo, schermata, Carattere, Biglietto Post-it&#10;&#10;Il contenuto generato dall'IA potrebbe non essere corretto.">
            <a:extLst>
              <a:ext uri="{FF2B5EF4-FFF2-40B4-BE49-F238E27FC236}">
                <a16:creationId xmlns:a16="http://schemas.microsoft.com/office/drawing/2014/main" id="{783F5AE9-9B4F-7169-EC7D-CEC9E1C3B7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836"/>
          <a:stretch>
            <a:fillRect/>
          </a:stretch>
        </p:blipFill>
        <p:spPr>
          <a:xfrm>
            <a:off x="3574338" y="1670266"/>
            <a:ext cx="2844112" cy="12884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olo 1">
                <a:extLst>
                  <a:ext uri="{FF2B5EF4-FFF2-40B4-BE49-F238E27FC236}">
                    <a16:creationId xmlns:a16="http://schemas.microsoft.com/office/drawing/2014/main" id="{8A338630-1A29-3DF0-EA96-73BE91E463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44722" y="1316932"/>
                <a:ext cx="1331497" cy="52147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000"/>
                  <a:t>N-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𝚫</m:t>
                    </m:r>
                  </m:oMath>
                </a14:m>
                <a:r>
                  <a:rPr lang="en-US" sz="2000"/>
                  <a:t> form</a:t>
                </a:r>
              </a:p>
            </p:txBody>
          </p:sp>
        </mc:Choice>
        <mc:Fallback xmlns="">
          <p:sp>
            <p:nvSpPr>
              <p:cNvPr id="20" name="Titolo 1">
                <a:extLst>
                  <a:ext uri="{FF2B5EF4-FFF2-40B4-BE49-F238E27FC236}">
                    <a16:creationId xmlns:a16="http://schemas.microsoft.com/office/drawing/2014/main" id="{8A338630-1A29-3DF0-EA96-73BE91E46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722" y="1316932"/>
                <a:ext cx="1331497" cy="521473"/>
              </a:xfrm>
              <a:prstGeom prst="rect">
                <a:avLst/>
              </a:prstGeom>
              <a:blipFill>
                <a:blip r:embed="rId7"/>
                <a:stretch>
                  <a:fillRect l="-11416" t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609197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494E5-AAF2-EBDC-EFFF-859592BB1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18D8D05-0DE9-3200-24BE-3861BAC9E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732EB18-06A9-5078-02FB-86FF10DC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78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ED793D07-3786-5B9C-0AB0-ACEE8A19B97F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𝐍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d>
                    <m:r>
                      <a:rPr lang="en-US" smtClean="0">
                        <a:latin typeface="Cambria Math" panose="02040503050406030204" pitchFamily="18" charset="0"/>
                      </a:rPr>
                      <m:t>≜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K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d>
                      </m:e>
                      <m:sup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US"/>
                  <a:t> </a:t>
                </a:r>
              </a:p>
              <a:p>
                <a:pPr algn="ctr"/>
                <a:r>
                  <a:rPr lang="en-US"/>
                  <a:t>               		linear fractional transformation  (</a:t>
                </a:r>
                <a:r>
                  <a:rPr lang="en-US" err="1"/>
                  <a:t>lft</a:t>
                </a:r>
                <a:r>
                  <a:rPr lang="en-US"/>
                  <a:t>)</a:t>
                </a:r>
              </a:p>
              <a:p>
                <a:pPr algn="ctr"/>
                <a:endParaRPr lang="en-US" b="0" i="1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b="1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ED793D07-3786-5B9C-0AB0-ACEE8A19B9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88C9030D-5BF9-E351-A1AC-F6E4FFF1CA41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B03DEB8E-E9FF-2B5B-9384-5851FCC9FC20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1CC3EC7B-E962-1368-F33B-FB670BA7C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442C5DC8-06EC-7A7A-103C-2F397894EF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Decompose in uncertainty from the known plant: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sz="160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Get P-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Test R.S.</a:t>
                </a:r>
              </a:p>
              <a:p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442C5DC8-06EC-7A7A-103C-2F397894E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4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magine 11" descr="Immagine che contiene testo, Carattere, schermata, bianco&#10;&#10;Il contenuto generato dall'IA potrebbe non essere corretto.">
            <a:extLst>
              <a:ext uri="{FF2B5EF4-FFF2-40B4-BE49-F238E27FC236}">
                <a16:creationId xmlns:a16="http://schemas.microsoft.com/office/drawing/2014/main" id="{4B027DE3-A2AF-2D64-B3A5-9620FCC7DE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793" y="2134653"/>
            <a:ext cx="2936304" cy="1405411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14" name="Immagine 13" descr="Immagine che contiene testo, schermata, Carattere, Biglietto Post-it&#10;&#10;Il contenuto generato dall'IA potrebbe non essere corretto.">
            <a:extLst>
              <a:ext uri="{FF2B5EF4-FFF2-40B4-BE49-F238E27FC236}">
                <a16:creationId xmlns:a16="http://schemas.microsoft.com/office/drawing/2014/main" id="{8797A640-E4AE-3D28-EC61-4992C20CFC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836"/>
          <a:stretch>
            <a:fillRect/>
          </a:stretch>
        </p:blipFill>
        <p:spPr>
          <a:xfrm>
            <a:off x="3574338" y="1670266"/>
            <a:ext cx="2844112" cy="12884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olo 1">
                <a:extLst>
                  <a:ext uri="{FF2B5EF4-FFF2-40B4-BE49-F238E27FC236}">
                    <a16:creationId xmlns:a16="http://schemas.microsoft.com/office/drawing/2014/main" id="{D098D72E-4DB0-9E2D-9383-12FB48D518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44722" y="1316932"/>
                <a:ext cx="1331497" cy="52147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000"/>
                  <a:t>N-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𝚫</m:t>
                    </m:r>
                  </m:oMath>
                </a14:m>
                <a:r>
                  <a:rPr lang="en-US" sz="2000"/>
                  <a:t> form</a:t>
                </a:r>
              </a:p>
            </p:txBody>
          </p:sp>
        </mc:Choice>
        <mc:Fallback xmlns="">
          <p:sp>
            <p:nvSpPr>
              <p:cNvPr id="20" name="Titolo 1">
                <a:extLst>
                  <a:ext uri="{FF2B5EF4-FFF2-40B4-BE49-F238E27FC236}">
                    <a16:creationId xmlns:a16="http://schemas.microsoft.com/office/drawing/2014/main" id="{D098D72E-4DB0-9E2D-9383-12FB48D51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722" y="1316932"/>
                <a:ext cx="1331497" cy="521473"/>
              </a:xfrm>
              <a:prstGeom prst="rect">
                <a:avLst/>
              </a:prstGeom>
              <a:blipFill>
                <a:blip r:embed="rId7"/>
                <a:stretch>
                  <a:fillRect l="-11416" t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nettore a gomito 24">
            <a:extLst>
              <a:ext uri="{FF2B5EF4-FFF2-40B4-BE49-F238E27FC236}">
                <a16:creationId xmlns:a16="http://schemas.microsoft.com/office/drawing/2014/main" id="{BB934171-3716-3828-60DF-B6E707041063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63897" y="3303692"/>
            <a:ext cx="382221" cy="236372"/>
          </a:xfrm>
          <a:prstGeom prst="bentConnector3">
            <a:avLst>
              <a:gd name="adj1" fmla="val 100004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Agrupar 5">
            <a:extLst>
              <a:ext uri="{FF2B5EF4-FFF2-40B4-BE49-F238E27FC236}">
                <a16:creationId xmlns:a16="http://schemas.microsoft.com/office/drawing/2014/main" id="{A261A6E5-C755-9B70-BB67-2DAA3592E76A}"/>
              </a:ext>
            </a:extLst>
          </p:cNvPr>
          <p:cNvGrpSpPr/>
          <p:nvPr/>
        </p:nvGrpSpPr>
        <p:grpSpPr>
          <a:xfrm>
            <a:off x="6406816" y="3646512"/>
            <a:ext cx="4466258" cy="1137330"/>
            <a:chOff x="6418450" y="3652890"/>
            <a:chExt cx="4466258" cy="1137330"/>
          </a:xfrm>
        </p:grpSpPr>
        <p:pic>
          <p:nvPicPr>
            <p:cNvPr id="8" name="Immagine 21">
              <a:extLst>
                <a:ext uri="{FF2B5EF4-FFF2-40B4-BE49-F238E27FC236}">
                  <a16:creationId xmlns:a16="http://schemas.microsoft.com/office/drawing/2014/main" id="{A0889169-DDC2-BF11-4B9C-F966D4C25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418450" y="3652890"/>
              <a:ext cx="4466258" cy="1137330"/>
            </a:xfrm>
            <a:prstGeom prst="rect">
              <a:avLst/>
            </a:prstGeom>
            <a:ln w="12700">
              <a:solidFill>
                <a:srgbClr val="FF0000"/>
              </a:solidFill>
            </a:ln>
          </p:spPr>
        </p:pic>
        <p:sp>
          <p:nvSpPr>
            <p:cNvPr id="10" name="Rettangolo 30">
              <a:extLst>
                <a:ext uri="{FF2B5EF4-FFF2-40B4-BE49-F238E27FC236}">
                  <a16:creationId xmlns:a16="http://schemas.microsoft.com/office/drawing/2014/main" id="{F19A4E95-FBD2-EAEF-9ED6-4DB4CBF038D3}"/>
                </a:ext>
              </a:extLst>
            </p:cNvPr>
            <p:cNvSpPr/>
            <p:nvPr/>
          </p:nvSpPr>
          <p:spPr>
            <a:xfrm>
              <a:off x="10035762" y="4245157"/>
              <a:ext cx="637235" cy="2219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401227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46E5F-82F9-3BDD-0E89-E46D74B4B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26884FA-C667-AADB-3CBD-D53FAAD9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0BD869B-BAE0-BDA8-52E6-54D1227F1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79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702F6791-9968-1D2F-AD52-8B61B5EE4708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𝐍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d>
                    <m:r>
                      <a:rPr lang="en-US" smtClean="0">
                        <a:latin typeface="Cambria Math" panose="02040503050406030204" pitchFamily="18" charset="0"/>
                      </a:rPr>
                      <m:t>≜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K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d>
                      </m:e>
                      <m:sup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US"/>
                  <a:t> </a:t>
                </a:r>
              </a:p>
              <a:p>
                <a:pPr algn="ctr"/>
                <a:r>
                  <a:rPr lang="en-US"/>
                  <a:t>               		linear fractional transformation  (</a:t>
                </a:r>
                <a:r>
                  <a:rPr lang="en-US" err="1"/>
                  <a:t>lft</a:t>
                </a:r>
                <a:r>
                  <a:rPr lang="en-US"/>
                  <a:t>)</a:t>
                </a:r>
              </a:p>
              <a:p>
                <a:pPr algn="ctr"/>
                <a:endParaRPr lang="en-US" b="0" i="1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b="1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702F6791-9968-1D2F-AD52-8B61B5EE47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24AFDDB-098A-C60B-F634-4E88F6390C2A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0AF90C4F-BC3D-F2DA-7882-5A4E278635FD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E273E3F8-FCD4-93F9-FB52-E1F41E16D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F36E7A06-C597-B8D0-584A-ABFDA03812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Decompose in uncertainty from the known plant: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sz="160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Get P-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Test R.S.</a:t>
                </a:r>
              </a:p>
              <a:p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F36E7A06-C597-B8D0-584A-ABFDA0381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4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magine 11" descr="Immagine che contiene testo, Carattere, schermata, bianco&#10;&#10;Il contenuto generato dall'IA potrebbe non essere corretto.">
            <a:extLst>
              <a:ext uri="{FF2B5EF4-FFF2-40B4-BE49-F238E27FC236}">
                <a16:creationId xmlns:a16="http://schemas.microsoft.com/office/drawing/2014/main" id="{C481774C-31A6-4543-4E16-36B5938A27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793" y="2134653"/>
            <a:ext cx="2936304" cy="1405411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14" name="Immagine 13" descr="Immagine che contiene testo, schermata, Carattere, Biglietto Post-it&#10;&#10;Il contenuto generato dall'IA potrebbe non essere corretto.">
            <a:extLst>
              <a:ext uri="{FF2B5EF4-FFF2-40B4-BE49-F238E27FC236}">
                <a16:creationId xmlns:a16="http://schemas.microsoft.com/office/drawing/2014/main" id="{9BCCA01A-CD9E-F352-B7CA-07A503BC30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836"/>
          <a:stretch>
            <a:fillRect/>
          </a:stretch>
        </p:blipFill>
        <p:spPr>
          <a:xfrm>
            <a:off x="3574338" y="1670266"/>
            <a:ext cx="2844112" cy="1288438"/>
          </a:xfrm>
          <a:prstGeom prst="rect">
            <a:avLst/>
          </a:prstGeom>
        </p:spPr>
      </p:pic>
      <p:pic>
        <p:nvPicPr>
          <p:cNvPr id="16" name="Immagine 15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87CBA886-0300-033B-9EB7-8CA992C235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227" y="3251472"/>
            <a:ext cx="2776646" cy="3408829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olo 1">
                <a:extLst>
                  <a:ext uri="{FF2B5EF4-FFF2-40B4-BE49-F238E27FC236}">
                    <a16:creationId xmlns:a16="http://schemas.microsoft.com/office/drawing/2014/main" id="{4C234B94-6A33-7FFD-D190-7FCBF0ACAD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44722" y="1316932"/>
                <a:ext cx="1331497" cy="52147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000"/>
                  <a:t>N-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𝚫</m:t>
                    </m:r>
                  </m:oMath>
                </a14:m>
                <a:r>
                  <a:rPr lang="en-US" sz="2000"/>
                  <a:t> form</a:t>
                </a:r>
              </a:p>
            </p:txBody>
          </p:sp>
        </mc:Choice>
        <mc:Fallback xmlns="">
          <p:sp>
            <p:nvSpPr>
              <p:cNvPr id="20" name="Titolo 1">
                <a:extLst>
                  <a:ext uri="{FF2B5EF4-FFF2-40B4-BE49-F238E27FC236}">
                    <a16:creationId xmlns:a16="http://schemas.microsoft.com/office/drawing/2014/main" id="{4C234B94-6A33-7FFD-D190-7FCBF0ACA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722" y="1316932"/>
                <a:ext cx="1331497" cy="521473"/>
              </a:xfrm>
              <a:prstGeom prst="rect">
                <a:avLst/>
              </a:prstGeom>
              <a:blipFill>
                <a:blip r:embed="rId8"/>
                <a:stretch>
                  <a:fillRect l="-11416" t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nettore a gomito 24">
            <a:extLst>
              <a:ext uri="{FF2B5EF4-FFF2-40B4-BE49-F238E27FC236}">
                <a16:creationId xmlns:a16="http://schemas.microsoft.com/office/drawing/2014/main" id="{D9CD96A4-62B5-20C8-EF73-5F937A695DE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63897" y="3303692"/>
            <a:ext cx="382221" cy="236372"/>
          </a:xfrm>
          <a:prstGeom prst="bentConnector3">
            <a:avLst>
              <a:gd name="adj1" fmla="val 100004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diritto a freccia 32">
            <a:extLst>
              <a:ext uri="{FF2B5EF4-FFF2-40B4-BE49-F238E27FC236}">
                <a16:creationId xmlns:a16="http://schemas.microsoft.com/office/drawing/2014/main" id="{B66187F3-1047-E298-2718-41C8BB56FC47}"/>
              </a:ext>
            </a:extLst>
          </p:cNvPr>
          <p:cNvCxnSpPr>
            <a:cxnSpLocks/>
          </p:cNvCxnSpPr>
          <p:nvPr/>
        </p:nvCxnSpPr>
        <p:spPr>
          <a:xfrm flipH="1">
            <a:off x="6096000" y="4236870"/>
            <a:ext cx="32245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FA9D825B-B0CF-A329-68FE-6352A16664E3}"/>
              </a:ext>
            </a:extLst>
          </p:cNvPr>
          <p:cNvGrpSpPr/>
          <p:nvPr/>
        </p:nvGrpSpPr>
        <p:grpSpPr>
          <a:xfrm>
            <a:off x="6418450" y="3652890"/>
            <a:ext cx="4466258" cy="1137330"/>
            <a:chOff x="6418450" y="3652890"/>
            <a:chExt cx="4466258" cy="1137330"/>
          </a:xfrm>
        </p:grpSpPr>
        <p:pic>
          <p:nvPicPr>
            <p:cNvPr id="11" name="Immagine 21">
              <a:extLst>
                <a:ext uri="{FF2B5EF4-FFF2-40B4-BE49-F238E27FC236}">
                  <a16:creationId xmlns:a16="http://schemas.microsoft.com/office/drawing/2014/main" id="{8CE08FD6-419B-1B24-4A04-6DAAA7169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418450" y="3652890"/>
              <a:ext cx="4466258" cy="1137330"/>
            </a:xfrm>
            <a:prstGeom prst="rect">
              <a:avLst/>
            </a:prstGeom>
            <a:ln w="12700">
              <a:solidFill>
                <a:srgbClr val="FF0000"/>
              </a:solidFill>
            </a:ln>
          </p:spPr>
        </p:pic>
        <p:sp>
          <p:nvSpPr>
            <p:cNvPr id="13" name="Rettangolo 30">
              <a:extLst>
                <a:ext uri="{FF2B5EF4-FFF2-40B4-BE49-F238E27FC236}">
                  <a16:creationId xmlns:a16="http://schemas.microsoft.com/office/drawing/2014/main" id="{016B6B10-7F25-C4DD-1EF8-036DB6059AA2}"/>
                </a:ext>
              </a:extLst>
            </p:cNvPr>
            <p:cNvSpPr/>
            <p:nvPr/>
          </p:nvSpPr>
          <p:spPr>
            <a:xfrm>
              <a:off x="10035762" y="4245157"/>
              <a:ext cx="637235" cy="2219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070087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77804-3663-E684-D8C6-F2157B3D3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BD16F0F-F7A1-8ABF-970B-C64B65E9B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8249CC4-6E85-892F-FC55-7AB653DAD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80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9B109FF5-19FC-74E9-AFB3-E28817060972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𝐍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d>
                    <m:r>
                      <a:rPr lang="en-US" smtClean="0">
                        <a:latin typeface="Cambria Math" panose="02040503050406030204" pitchFamily="18" charset="0"/>
                      </a:rPr>
                      <m:t>≜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K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d>
                      </m:e>
                      <m:sup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US"/>
                  <a:t> </a:t>
                </a:r>
              </a:p>
              <a:p>
                <a:pPr algn="ctr"/>
                <a:r>
                  <a:rPr lang="en-US"/>
                  <a:t>               		linear fractional transformation  (</a:t>
                </a:r>
                <a:r>
                  <a:rPr lang="en-US" err="1"/>
                  <a:t>lft</a:t>
                </a:r>
                <a:r>
                  <a:rPr lang="en-US"/>
                  <a:t>)</a:t>
                </a:r>
              </a:p>
              <a:p>
                <a:pPr algn="ctr"/>
                <a:endParaRPr lang="en-US" b="0" i="1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b="1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Segnaposto testo 6">
                <a:extLst>
                  <a:ext uri="{FF2B5EF4-FFF2-40B4-BE49-F238E27FC236}">
                    <a16:creationId xmlns:a16="http://schemas.microsoft.com/office/drawing/2014/main" id="{9B109FF5-19FC-74E9-AFB3-E288170609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3216275" y="1474402"/>
                <a:ext cx="8640763" cy="501529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D0F1EE9-E0CC-9540-107E-866B974911C7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89AFD0E1-3645-EC5B-EC71-41A4F3320510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659B0F6A-4E19-4C78-BC97-0DD0FCE06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8F6B707E-C640-4608-1A77-79FE77D8C5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Decompose in uncertainty from the known plant: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sz="160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Get P-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Test R.S.</a:t>
                </a:r>
              </a:p>
              <a:p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8F6B707E-C640-4608-1A77-79FE77D8C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4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magine 11" descr="Immagine che contiene testo, Carattere, schermata, bianco&#10;&#10;Il contenuto generato dall'IA potrebbe non essere corretto.">
            <a:extLst>
              <a:ext uri="{FF2B5EF4-FFF2-40B4-BE49-F238E27FC236}">
                <a16:creationId xmlns:a16="http://schemas.microsoft.com/office/drawing/2014/main" id="{FC5835BE-8C52-34A3-6A31-8613286A4E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793" y="2134653"/>
            <a:ext cx="2936304" cy="1405411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14" name="Immagine 13" descr="Immagine che contiene testo, schermata, Carattere, Biglietto Post-it&#10;&#10;Il contenuto generato dall'IA potrebbe non essere corretto.">
            <a:extLst>
              <a:ext uri="{FF2B5EF4-FFF2-40B4-BE49-F238E27FC236}">
                <a16:creationId xmlns:a16="http://schemas.microsoft.com/office/drawing/2014/main" id="{3ECA153F-4BF0-E03A-E423-F5428EA1D8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836"/>
          <a:stretch>
            <a:fillRect/>
          </a:stretch>
        </p:blipFill>
        <p:spPr>
          <a:xfrm>
            <a:off x="3574338" y="1670266"/>
            <a:ext cx="2844112" cy="1288438"/>
          </a:xfrm>
          <a:prstGeom prst="rect">
            <a:avLst/>
          </a:prstGeom>
        </p:spPr>
      </p:pic>
      <p:pic>
        <p:nvPicPr>
          <p:cNvPr id="16" name="Immagine 15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280B65FC-E066-B0D1-E46F-B8F3EA3561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227" y="3251472"/>
            <a:ext cx="2776646" cy="3408829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pic>
        <p:nvPicPr>
          <p:cNvPr id="18" name="Immagine 17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8BF486FC-5FE6-0D5C-4D53-EFF4FDD499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880" y="4931524"/>
            <a:ext cx="5580157" cy="1665240"/>
          </a:xfrm>
          <a:prstGeom prst="rect">
            <a:avLst/>
          </a:prstGeom>
          <a:ln w="12700">
            <a:solidFill>
              <a:srgbClr val="0070C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olo 1">
                <a:extLst>
                  <a:ext uri="{FF2B5EF4-FFF2-40B4-BE49-F238E27FC236}">
                    <a16:creationId xmlns:a16="http://schemas.microsoft.com/office/drawing/2014/main" id="{5D9355AE-B6C1-D589-AFA5-734A8B8AA5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44722" y="1316932"/>
                <a:ext cx="1331497" cy="52147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400" b="1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000"/>
                  <a:t>N-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𝚫</m:t>
                    </m:r>
                  </m:oMath>
                </a14:m>
                <a:r>
                  <a:rPr lang="en-US" sz="2000"/>
                  <a:t> form</a:t>
                </a:r>
              </a:p>
            </p:txBody>
          </p:sp>
        </mc:Choice>
        <mc:Fallback xmlns="">
          <p:sp>
            <p:nvSpPr>
              <p:cNvPr id="20" name="Titolo 1">
                <a:extLst>
                  <a:ext uri="{FF2B5EF4-FFF2-40B4-BE49-F238E27FC236}">
                    <a16:creationId xmlns:a16="http://schemas.microsoft.com/office/drawing/2014/main" id="{5D9355AE-B6C1-D589-AFA5-734A8B8AA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722" y="1316932"/>
                <a:ext cx="1331497" cy="521473"/>
              </a:xfrm>
              <a:prstGeom prst="rect">
                <a:avLst/>
              </a:prstGeom>
              <a:blipFill>
                <a:blip r:embed="rId9"/>
                <a:stretch>
                  <a:fillRect l="-11416" t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nettore a gomito 24">
            <a:extLst>
              <a:ext uri="{FF2B5EF4-FFF2-40B4-BE49-F238E27FC236}">
                <a16:creationId xmlns:a16="http://schemas.microsoft.com/office/drawing/2014/main" id="{3DDBB8AB-B87E-F1D9-6342-05581591FB68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63897" y="3303692"/>
            <a:ext cx="382221" cy="236372"/>
          </a:xfrm>
          <a:prstGeom prst="bentConnector3">
            <a:avLst>
              <a:gd name="adj1" fmla="val 100004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diritto a freccia 32">
            <a:extLst>
              <a:ext uri="{FF2B5EF4-FFF2-40B4-BE49-F238E27FC236}">
                <a16:creationId xmlns:a16="http://schemas.microsoft.com/office/drawing/2014/main" id="{0C46010E-7D94-5C91-2FEA-C0AC473BB2DB}"/>
              </a:ext>
            </a:extLst>
          </p:cNvPr>
          <p:cNvCxnSpPr>
            <a:cxnSpLocks/>
          </p:cNvCxnSpPr>
          <p:nvPr/>
        </p:nvCxnSpPr>
        <p:spPr>
          <a:xfrm flipH="1">
            <a:off x="6096000" y="4236870"/>
            <a:ext cx="32245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diritto a freccia 34">
            <a:extLst>
              <a:ext uri="{FF2B5EF4-FFF2-40B4-BE49-F238E27FC236}">
                <a16:creationId xmlns:a16="http://schemas.microsoft.com/office/drawing/2014/main" id="{DBD7EF07-69ED-328F-95B1-48237D8FD44E}"/>
              </a:ext>
            </a:extLst>
          </p:cNvPr>
          <p:cNvCxnSpPr>
            <a:cxnSpLocks/>
          </p:cNvCxnSpPr>
          <p:nvPr/>
        </p:nvCxnSpPr>
        <p:spPr>
          <a:xfrm>
            <a:off x="5850073" y="5345657"/>
            <a:ext cx="35560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Agrupar 1">
            <a:extLst>
              <a:ext uri="{FF2B5EF4-FFF2-40B4-BE49-F238E27FC236}">
                <a16:creationId xmlns:a16="http://schemas.microsoft.com/office/drawing/2014/main" id="{77807F6E-08F2-1987-C0E6-C53097242512}"/>
              </a:ext>
            </a:extLst>
          </p:cNvPr>
          <p:cNvGrpSpPr/>
          <p:nvPr/>
        </p:nvGrpSpPr>
        <p:grpSpPr>
          <a:xfrm>
            <a:off x="6418450" y="3639267"/>
            <a:ext cx="4466258" cy="1137330"/>
            <a:chOff x="6418450" y="3652890"/>
            <a:chExt cx="4466258" cy="1137330"/>
          </a:xfrm>
        </p:grpSpPr>
        <p:pic>
          <p:nvPicPr>
            <p:cNvPr id="6" name="Immagine 21">
              <a:extLst>
                <a:ext uri="{FF2B5EF4-FFF2-40B4-BE49-F238E27FC236}">
                  <a16:creationId xmlns:a16="http://schemas.microsoft.com/office/drawing/2014/main" id="{0C17BD7C-B0D9-829F-12BD-D71377952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418450" y="3652890"/>
              <a:ext cx="4466258" cy="1137330"/>
            </a:xfrm>
            <a:prstGeom prst="rect">
              <a:avLst/>
            </a:prstGeom>
            <a:ln w="12700">
              <a:solidFill>
                <a:srgbClr val="FF0000"/>
              </a:solidFill>
            </a:ln>
          </p:spPr>
        </p:pic>
        <p:sp>
          <p:nvSpPr>
            <p:cNvPr id="8" name="Rettangolo 30">
              <a:extLst>
                <a:ext uri="{FF2B5EF4-FFF2-40B4-BE49-F238E27FC236}">
                  <a16:creationId xmlns:a16="http://schemas.microsoft.com/office/drawing/2014/main" id="{AE39845E-043C-34EC-B28F-AE41AD23C313}"/>
                </a:ext>
              </a:extLst>
            </p:cNvPr>
            <p:cNvSpPr/>
            <p:nvPr/>
          </p:nvSpPr>
          <p:spPr>
            <a:xfrm>
              <a:off x="10035762" y="4245157"/>
              <a:ext cx="637235" cy="2219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585937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E35DF-967D-C868-7852-40DEA64AE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7D51532-A410-E158-5CC5-2BA2CFF88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7DEB756-640D-C5BB-65F9-C1947E92F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5622E781-6EFD-3DCB-3919-0453530647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16275" y="1474402"/>
            <a:ext cx="8640763" cy="5015298"/>
          </a:xfrm>
        </p:spPr>
        <p:txBody>
          <a:bodyPr>
            <a:normAutofit/>
          </a:bodyPr>
          <a:lstStyle/>
          <a:p>
            <a:pPr algn="ctr"/>
            <a:endParaRPr lang="en-US" b="0" i="1">
              <a:latin typeface="Cambria Math" panose="02040503050406030204" pitchFamily="18" charset="0"/>
            </a:endParaRPr>
          </a:p>
          <a:p>
            <a:pPr algn="just"/>
            <a:r>
              <a:rPr lang="en-US" b="1">
                <a:solidFill>
                  <a:srgbClr val="0070C0"/>
                </a:solidFill>
              </a:rPr>
              <a:t> </a:t>
            </a:r>
          </a:p>
          <a:p>
            <a:pPr algn="just"/>
            <a:endParaRPr lang="en-US" b="1">
              <a:solidFill>
                <a:srgbClr val="0070C0"/>
              </a:solidFill>
            </a:endParaRPr>
          </a:p>
          <a:p>
            <a:pPr algn="just"/>
            <a:endParaRPr lang="en-US" b="1">
              <a:solidFill>
                <a:srgbClr val="0070C0"/>
              </a:solidFill>
            </a:endParaRPr>
          </a:p>
          <a:p>
            <a:pPr algn="just"/>
            <a:endParaRPr lang="en-US" b="1">
              <a:solidFill>
                <a:srgbClr val="0070C0"/>
              </a:solidFill>
            </a:endParaRPr>
          </a:p>
          <a:p>
            <a:pPr algn="just"/>
            <a:endParaRPr lang="en-US" b="1">
              <a:solidFill>
                <a:srgbClr val="0070C0"/>
              </a:solidFill>
            </a:endParaRP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C4861016-16F4-08C1-E970-9496BD9E2ABA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FAF2A05E-4D96-EB5E-D850-430FE31B47E0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2ECCC679-CA3D-CA33-4B68-A7D1A3456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C6084CC7-7259-2AAE-BC40-8A5B1FB445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Decompose in uncertainty from the known plant: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sz="160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Get P-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Test R.S.</a:t>
                </a:r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C6084CC7-7259-2AAE-BC40-8A5B1FB44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3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>
            <a:extLst>
              <a:ext uri="{FF2B5EF4-FFF2-40B4-BE49-F238E27FC236}">
                <a16:creationId xmlns:a16="http://schemas.microsoft.com/office/drawing/2014/main" id="{85BBB6B3-6875-CF10-620E-DB86522EA5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271"/>
          <a:stretch>
            <a:fillRect/>
          </a:stretch>
        </p:blipFill>
        <p:spPr>
          <a:xfrm>
            <a:off x="5742258" y="1483207"/>
            <a:ext cx="2650972" cy="1405363"/>
          </a:xfrm>
          <a:prstGeom prst="rect">
            <a:avLst/>
          </a:prstGeom>
        </p:spPr>
      </p:pic>
      <p:pic>
        <p:nvPicPr>
          <p:cNvPr id="13" name="Immagine 12" descr="Immagine che contiene testo, Carattere&#10;&#10;Il contenuto generato dall'IA potrebbe non essere corretto.">
            <a:extLst>
              <a:ext uri="{FF2B5EF4-FFF2-40B4-BE49-F238E27FC236}">
                <a16:creationId xmlns:a16="http://schemas.microsoft.com/office/drawing/2014/main" id="{7697A0F5-2A22-F2E2-518D-3A805AB849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642" y="3090882"/>
            <a:ext cx="5638278" cy="133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90078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082B3-A377-AC58-11A6-798C8631A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AC7E17B-7B80-67E3-BE7E-50DF21AAE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AE36D0C-8BF2-57BE-6459-60901539E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C58ECD97-A46B-61B7-4767-AD984697328B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7C2A98A3-B7AD-AD51-8A5F-F3FD6336E237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1CB541D9-9055-A66B-2D28-CEA14F6AE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44CB89D6-C03F-8F37-9537-78FA884ED6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Decompose in uncertainty from the known plant: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sz="160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Get P-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Test R.S.</a:t>
                </a:r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44CB89D6-C03F-8F37-9537-78FA884ED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3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egnaposto testo 5">
                <a:extLst>
                  <a:ext uri="{FF2B5EF4-FFF2-40B4-BE49-F238E27FC236}">
                    <a16:creationId xmlns:a16="http://schemas.microsoft.com/office/drawing/2014/main" id="{8EBBF656-EEF6-B29B-E6B8-63A3C80767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48807" y="1436188"/>
                <a:ext cx="7586981" cy="840083"/>
              </a:xfrm>
              <a:prstGeom prst="rect">
                <a:avLst/>
              </a:prstGeom>
              <a:ln w="28575"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Theorem </a:t>
                </a:r>
                <a:r>
                  <a:rPr lang="en-US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[RS for unstructured (“full”) perturbations</a:t>
                </a: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]</a:t>
                </a:r>
                <a:r>
                  <a:rPr lang="en-US"/>
                  <a:t>: Assuming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is full and complex </a:t>
                </a:r>
                <a:r>
                  <a:rPr lang="en-US" err="1"/>
                  <a:t>s.t.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jω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))≤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/>
                  <a:t>, then assuming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and M(s) are A.S., the feedback system is RS IFF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jω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))&lt;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∀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14" name="Segnaposto testo 5">
                <a:extLst>
                  <a:ext uri="{FF2B5EF4-FFF2-40B4-BE49-F238E27FC236}">
                    <a16:creationId xmlns:a16="http://schemas.microsoft.com/office/drawing/2014/main" id="{8EBBF656-EEF6-B29B-E6B8-63A3C8076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807" y="1436188"/>
                <a:ext cx="7586981" cy="840083"/>
              </a:xfrm>
              <a:prstGeom prst="rect">
                <a:avLst/>
              </a:prstGeom>
              <a:blipFill>
                <a:blip r:embed="rId4"/>
                <a:stretch>
                  <a:fillRect l="-1280" t="-3521"/>
                </a:stretch>
              </a:blipFill>
              <a:ln w="28575"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Immagine 15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63D274A5-609D-B794-4F00-0491994388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942" y="3019279"/>
            <a:ext cx="2674160" cy="620787"/>
          </a:xfrm>
          <a:prstGeom prst="rect">
            <a:avLst/>
          </a:prstGeom>
        </p:spPr>
      </p:pic>
      <p:pic>
        <p:nvPicPr>
          <p:cNvPr id="18" name="Immagine 17" descr="Immagine che contiene testo, Carattere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E4373531-9ACF-8714-1134-BF40D384CA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974" y="4019224"/>
            <a:ext cx="6117359" cy="2371294"/>
          </a:xfrm>
          <a:prstGeom prst="rect">
            <a:avLst/>
          </a:prstGeom>
          <a:ln w="12700">
            <a:solidFill>
              <a:schemeClr val="tx2">
                <a:lumMod val="50000"/>
                <a:lumOff val="50000"/>
              </a:schemeClr>
            </a:solidFill>
          </a:ln>
        </p:spPr>
      </p:pic>
      <p:sp>
        <p:nvSpPr>
          <p:cNvPr id="20" name="Segnaposto testo 5">
            <a:extLst>
              <a:ext uri="{FF2B5EF4-FFF2-40B4-BE49-F238E27FC236}">
                <a16:creationId xmlns:a16="http://schemas.microsoft.com/office/drawing/2014/main" id="{E115E3A2-043F-74A6-C9BF-B97A6D866833}"/>
              </a:ext>
            </a:extLst>
          </p:cNvPr>
          <p:cNvSpPr txBox="1">
            <a:spLocks/>
          </p:cNvSpPr>
          <p:nvPr/>
        </p:nvSpPr>
        <p:spPr>
          <a:xfrm>
            <a:off x="9682792" y="3743416"/>
            <a:ext cx="2509208" cy="365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MATLAB  documentation 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BB68D0B-6736-C1FF-26CA-5D531549CA5D}"/>
              </a:ext>
            </a:extLst>
          </p:cNvPr>
          <p:cNvSpPr txBox="1"/>
          <p:nvPr/>
        </p:nvSpPr>
        <p:spPr>
          <a:xfrm>
            <a:off x="3275214" y="2431765"/>
            <a:ext cx="7099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/>
              <a:t>-&gt; in our case (structured and real uncertainty) it </a:t>
            </a:r>
            <a:r>
              <a:rPr lang="en-US" sz="1200" b="1"/>
              <a:t>is</a:t>
            </a:r>
            <a:r>
              <a:rPr lang="en-US" sz="1200"/>
              <a:t> only sufficient.</a:t>
            </a:r>
          </a:p>
          <a:p>
            <a:pPr algn="just"/>
            <a:endParaRPr lang="en-US" sz="1200" b="1">
              <a:solidFill>
                <a:srgbClr val="0070C0"/>
              </a:solidFill>
            </a:endParaRPr>
          </a:p>
          <a:p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3489461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F5518-1503-59BF-1B20-49C3F9EAC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9A82CA4F-FE75-59BA-9A3C-B805D5AB2F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63388" y="1332882"/>
            <a:ext cx="7772400" cy="5186137"/>
          </a:xfrm>
          <a:prstGeom prst="rect">
            <a:avLst/>
          </a:prstGeom>
        </p:spPr>
      </p:pic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5B8B1C5-580E-F391-B09B-61F02D252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1F3AC72-36BE-A806-8D8A-1F4BD3A30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83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6599DF4A-ED67-5915-0541-E89146A7BDE4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838D7777-2E12-DF12-4482-AB2E9F56EF18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4554EF08-368B-990C-D844-F90B3DA2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9C48EC22-7971-DC25-330C-369C936337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Decompose in uncertainty from the known plant: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sz="160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Get P-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Test R.S.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b="1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b="1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Remark</a:t>
                </a:r>
                <a:r>
                  <a:rPr lang="en-US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: the two methods give the same result, if not for numerical errors on null singular values.</a:t>
                </a:r>
                <a:endParaRPr lang="en-US" b="1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9C48EC22-7971-DC25-330C-369C93633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4"/>
                <a:stretch>
                  <a:fillRect l="-4604" t="-825" r="-4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A4D0190A-6978-7C4B-3368-5684D1BAF4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39859" y="3792866"/>
                <a:ext cx="1824037" cy="494176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000"/>
                  <a:t>Numerical errors: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~0</m:t>
                    </m:r>
                  </m:oMath>
                </a14:m>
                <a:endParaRPr lang="en-US" sz="1000"/>
              </a:p>
              <a:p>
                <a:endParaRPr lang="en-US" sz="1000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sz="1000"/>
              </a:p>
            </p:txBody>
          </p:sp>
        </mc:Choice>
        <mc:Fallback xmlns="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A4D0190A-6978-7C4B-3368-5684D1BAF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9859" y="3792866"/>
                <a:ext cx="1824037" cy="494176"/>
              </a:xfrm>
              <a:prstGeom prst="rect">
                <a:avLst/>
              </a:prstGeom>
              <a:blipFill>
                <a:blip r:embed="rId5"/>
                <a:stretch>
                  <a:fillRect l="-4348" t="-4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097527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6862E-E7D4-968B-4BA5-A65E2958C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BDF3B7F-2233-88BE-F91D-0A13D7B5D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4481558-0E0E-13D5-3D11-05A5B5197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D2B22BA-7B28-2651-DB6B-6D990B29D2D9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6B26C474-6BCD-6E95-D74C-B34DE0154594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7999846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Lateral dynamics</a:t>
            </a:r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1052C720-15EF-06CE-8981-31B6EB37E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9112CFA4-FAE6-3950-0FC3-05FBA699DD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Decompose in uncertainty from the known plant: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sz="160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Get P-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Test R.S.</a:t>
                </a:r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9112CFA4-FAE6-3950-0FC3-05FBA699D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3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magine 11">
            <a:extLst>
              <a:ext uri="{FF2B5EF4-FFF2-40B4-BE49-F238E27FC236}">
                <a16:creationId xmlns:a16="http://schemas.microsoft.com/office/drawing/2014/main" id="{29C0502A-9FC7-F858-3222-588D79CC83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4" r="1003"/>
          <a:stretch>
            <a:fillRect/>
          </a:stretch>
        </p:blipFill>
        <p:spPr>
          <a:xfrm>
            <a:off x="3551238" y="1188665"/>
            <a:ext cx="7367692" cy="4899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egnaposto testo 6">
                <a:extLst>
                  <a:ext uri="{FF2B5EF4-FFF2-40B4-BE49-F238E27FC236}">
                    <a16:creationId xmlns:a16="http://schemas.microsoft.com/office/drawing/2014/main" id="{9760182E-7B69-859A-4A7B-1017A05D5E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1237" y="6082635"/>
                <a:ext cx="8640763" cy="658642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i="1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b="1">
                    <a:solidFill>
                      <a:srgbClr val="0070C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̅</m:t>
                    </m:r>
                  </m:oMath>
                </a14:m>
                <a:r>
                  <a:rPr lang="en-US"/>
                  <a:t>=-1.23 dB = </a:t>
                </a:r>
                <a:r>
                  <a:rPr lang="pt-PT"/>
                  <a:t>0.8680</a:t>
                </a:r>
                <a:r>
                  <a:rPr lang="en-US"/>
                  <a:t> &lt; 1   -&gt; RS  -&gt; No need to re-design the controller</a:t>
                </a:r>
              </a:p>
              <a:p>
                <a:pPr algn="just"/>
                <a:endParaRPr lang="en-US"/>
              </a:p>
              <a:p>
                <a:pPr algn="just"/>
                <a:endParaRPr lang="en-US" b="1">
                  <a:solidFill>
                    <a:srgbClr val="0070C0"/>
                  </a:solidFill>
                </a:endParaRPr>
              </a:p>
              <a:p>
                <a:pPr algn="just"/>
                <a:endParaRPr lang="en-US" b="1">
                  <a:solidFill>
                    <a:srgbClr val="0070C0"/>
                  </a:solidFill>
                </a:endParaRPr>
              </a:p>
              <a:p>
                <a:pPr algn="just"/>
                <a:endParaRPr lang="en-US" b="1">
                  <a:solidFill>
                    <a:srgbClr val="0070C0"/>
                  </a:solidFill>
                </a:endParaRPr>
              </a:p>
              <a:p>
                <a:pPr algn="just"/>
                <a:endParaRPr lang="en-US" b="1">
                  <a:solidFill>
                    <a:srgbClr val="0070C0"/>
                  </a:solidFill>
                </a:endParaRPr>
              </a:p>
              <a:p>
                <a:pPr algn="just"/>
                <a:endParaRPr lang="en-US" b="1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Segnaposto testo 6">
                <a:extLst>
                  <a:ext uri="{FF2B5EF4-FFF2-40B4-BE49-F238E27FC236}">
                    <a16:creationId xmlns:a16="http://schemas.microsoft.com/office/drawing/2014/main" id="{9760182E-7B69-859A-4A7B-1017A05D5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237" y="6082635"/>
                <a:ext cx="8640763" cy="658642"/>
              </a:xfrm>
              <a:prstGeom prst="rect">
                <a:avLst/>
              </a:prstGeom>
              <a:blipFill>
                <a:blip r:embed="rId5"/>
                <a:stretch>
                  <a:fillRect l="-1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261763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FC1E6-A3C8-18B1-DD98-99AF6D5D1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6A150C-D102-0BBA-EDEE-8A6C62D27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97AE44D-201E-1BD6-9470-973EFD999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781B98E-9C33-DA66-3E96-1B065588E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85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egnaposto testo 5">
                <a:extLst>
                  <a:ext uri="{FF2B5EF4-FFF2-40B4-BE49-F238E27FC236}">
                    <a16:creationId xmlns:a16="http://schemas.microsoft.com/office/drawing/2014/main" id="{57695D3B-CABA-0B04-E669-96F44E42DDD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34963" y="2060575"/>
                <a:ext cx="2383298" cy="4429125"/>
              </a:xfrm>
            </p:spPr>
            <p:txBody>
              <a:bodyPr vert="horz" lIns="0" tIns="0" rIns="0" bIns="0" rtlCol="0" anchor="t">
                <a:normAutofit/>
              </a:bodyPr>
              <a:lstStyle/>
              <a:p>
                <a:pPr marL="342900" indent="-342900"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Define the uncertain system</a:t>
                </a:r>
              </a:p>
              <a:p>
                <a:pPr marL="342900" indent="-342900"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Decompose in uncertainty from the known plant</a:t>
                </a:r>
              </a:p>
              <a:p>
                <a:pPr marL="342900" indent="-342900"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Get P-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𝚫</m:t>
                    </m:r>
                  </m:oMath>
                </a14:m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form</a:t>
                </a:r>
              </a:p>
              <a:p>
                <a:pPr marL="342900" indent="-342900"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Get N</a:t>
                </a: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Test R.S.</a:t>
                </a:r>
              </a:p>
              <a:p>
                <a:pPr marL="342900" indent="-342900">
                  <a:buAutoNum type="arabicPeriod"/>
                </a:pPr>
                <a:endParaRPr lang="en-US" b="1" noProof="0"/>
              </a:p>
              <a:p>
                <a:endParaRPr lang="en-US" noProof="0"/>
              </a:p>
              <a:p>
                <a:pPr marL="342900" indent="-342900">
                  <a:buAutoNum type="arabicPeriod"/>
                </a:pPr>
                <a:endParaRPr lang="en-US" noProof="0"/>
              </a:p>
            </p:txBody>
          </p:sp>
        </mc:Choice>
        <mc:Fallback xmlns="">
          <p:sp>
            <p:nvSpPr>
              <p:cNvPr id="6" name="Segnaposto testo 5">
                <a:extLst>
                  <a:ext uri="{FF2B5EF4-FFF2-40B4-BE49-F238E27FC236}">
                    <a16:creationId xmlns:a16="http://schemas.microsoft.com/office/drawing/2014/main" id="{57695D3B-CABA-0B04-E669-96F44E42D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34963" y="2060575"/>
                <a:ext cx="2383298" cy="4429125"/>
              </a:xfrm>
              <a:blipFill>
                <a:blip r:embed="rId2"/>
                <a:stretch>
                  <a:fillRect l="-4604" t="-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633284DB-723F-882C-8905-0AACECF8E0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16275" y="1474402"/>
            <a:ext cx="8640763" cy="5015298"/>
          </a:xfrm>
        </p:spPr>
        <p:txBody>
          <a:bodyPr>
            <a:normAutofit/>
          </a:bodyPr>
          <a:lstStyle/>
          <a:p>
            <a:pPr algn="ctr"/>
            <a:endParaRPr lang="en-US" b="0" i="1">
              <a:latin typeface="Cambria Math" panose="02040503050406030204" pitchFamily="18" charset="0"/>
            </a:endParaRPr>
          </a:p>
          <a:p>
            <a:pPr algn="just"/>
            <a:r>
              <a:rPr lang="en-US" b="1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CC6EFB8-7A6D-CBAF-2606-B66997E9ADB1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55474DD1-978D-F9DF-7AC7-B112DAE723C1}"/>
              </a:ext>
            </a:extLst>
          </p:cNvPr>
          <p:cNvSpPr txBox="1">
            <a:spLocks/>
          </p:cNvSpPr>
          <p:nvPr/>
        </p:nvSpPr>
        <p:spPr>
          <a:xfrm>
            <a:off x="3335942" y="669099"/>
            <a:ext cx="8405554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Longitudinal dynamics</a:t>
            </a:r>
            <a:endParaRPr lang="en-US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6FA0F5C-79C3-F42A-7387-21F20A753689}"/>
              </a:ext>
            </a:extLst>
          </p:cNvPr>
          <p:cNvSpPr txBox="1"/>
          <p:nvPr/>
        </p:nvSpPr>
        <p:spPr>
          <a:xfrm>
            <a:off x="3348092" y="1448166"/>
            <a:ext cx="7466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The same approach is followed for the longitudinal feedback control, for which:</a:t>
            </a:r>
          </a:p>
        </p:txBody>
      </p:sp>
      <p:pic>
        <p:nvPicPr>
          <p:cNvPr id="12" name="Immagine 11" descr="Immagine che contiene testo, schermata, Biglietto Post-it, Rettangolo&#10;&#10;Il contenuto generato dall'IA potrebbe non essere corretto.">
            <a:extLst>
              <a:ext uri="{FF2B5EF4-FFF2-40B4-BE49-F238E27FC236}">
                <a16:creationId xmlns:a16="http://schemas.microsoft.com/office/drawing/2014/main" id="{2071A2D9-189F-EC34-B97F-93DC0647B1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85"/>
          <a:stretch>
            <a:fillRect/>
          </a:stretch>
        </p:blipFill>
        <p:spPr>
          <a:xfrm>
            <a:off x="7541671" y="2310482"/>
            <a:ext cx="4199825" cy="2019589"/>
          </a:xfrm>
          <a:prstGeom prst="rect">
            <a:avLst/>
          </a:prstGeom>
        </p:spPr>
      </p:pic>
      <p:pic>
        <p:nvPicPr>
          <p:cNvPr id="14" name="Immagine 13" descr="Immagine che contiene testo, schermata, Carattere, Biglietto Post-it&#10;&#10;Il contenuto generato dall'IA potrebbe non essere corretto.">
            <a:extLst>
              <a:ext uri="{FF2B5EF4-FFF2-40B4-BE49-F238E27FC236}">
                <a16:creationId xmlns:a16="http://schemas.microsoft.com/office/drawing/2014/main" id="{94B575EF-D0AA-90B8-709F-16DECC4616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8251" r="-1229"/>
          <a:stretch>
            <a:fillRect/>
          </a:stretch>
        </p:blipFill>
        <p:spPr>
          <a:xfrm>
            <a:off x="3095514" y="4732723"/>
            <a:ext cx="2918345" cy="1871634"/>
          </a:xfrm>
          <a:prstGeom prst="rect">
            <a:avLst/>
          </a:prstGeom>
        </p:spPr>
      </p:pic>
      <p:pic>
        <p:nvPicPr>
          <p:cNvPr id="16" name="Immagine 15" descr="Immagine che contiene testo, schermata, Carattere, Biglietto Post-it&#10;&#10;Il contenuto generato dall'IA potrebbe non essere corretto.">
            <a:extLst>
              <a:ext uri="{FF2B5EF4-FFF2-40B4-BE49-F238E27FC236}">
                <a16:creationId xmlns:a16="http://schemas.microsoft.com/office/drawing/2014/main" id="{CFE62EA2-FF54-2FAD-B822-00824114A3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>
            <a:fillRect/>
          </a:stretch>
        </p:blipFill>
        <p:spPr>
          <a:xfrm>
            <a:off x="6049183" y="4832980"/>
            <a:ext cx="2882900" cy="1301750"/>
          </a:xfrm>
          <a:prstGeom prst="rect">
            <a:avLst/>
          </a:prstGeom>
        </p:spPr>
      </p:pic>
      <p:pic>
        <p:nvPicPr>
          <p:cNvPr id="18" name="Immagine 17" descr="Immagine che contiene testo, schermata, Carattere, Biglietto Post-it&#10;&#10;Il contenuto generato dall'IA potrebbe non essere corretto.">
            <a:extLst>
              <a:ext uri="{FF2B5EF4-FFF2-40B4-BE49-F238E27FC236}">
                <a16:creationId xmlns:a16="http://schemas.microsoft.com/office/drawing/2014/main" id="{74D1E12B-CD70-8ADC-0AEF-BDB3FC7EBE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802"/>
          <a:stretch>
            <a:fillRect/>
          </a:stretch>
        </p:blipFill>
        <p:spPr>
          <a:xfrm>
            <a:off x="9430097" y="4973026"/>
            <a:ext cx="2311400" cy="1161704"/>
          </a:xfrm>
          <a:prstGeom prst="rect">
            <a:avLst/>
          </a:prstGeom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188B8815-0074-3E7C-089D-12D1380C0671}"/>
              </a:ext>
            </a:extLst>
          </p:cNvPr>
          <p:cNvSpPr txBox="1"/>
          <p:nvPr/>
        </p:nvSpPr>
        <p:spPr>
          <a:xfrm>
            <a:off x="7536656" y="2260313"/>
            <a:ext cx="329971" cy="369332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D1D20BDD-83F5-A6B3-C1E8-CECF1F7272E6}"/>
              </a:ext>
            </a:extLst>
          </p:cNvPr>
          <p:cNvSpPr txBox="1"/>
          <p:nvPr/>
        </p:nvSpPr>
        <p:spPr>
          <a:xfrm>
            <a:off x="2979222" y="4769977"/>
            <a:ext cx="329971" cy="369332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601CD44-B885-2AD9-7A21-F51509FB5B6C}"/>
              </a:ext>
            </a:extLst>
          </p:cNvPr>
          <p:cNvSpPr txBox="1"/>
          <p:nvPr/>
        </p:nvSpPr>
        <p:spPr>
          <a:xfrm>
            <a:off x="5965165" y="4769977"/>
            <a:ext cx="329971" cy="369332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4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B1434493-E965-2603-9FAA-6FC916EE6317}"/>
              </a:ext>
            </a:extLst>
          </p:cNvPr>
          <p:cNvSpPr txBox="1"/>
          <p:nvPr/>
        </p:nvSpPr>
        <p:spPr>
          <a:xfrm>
            <a:off x="9100126" y="4732723"/>
            <a:ext cx="329971" cy="369332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5</a:t>
            </a:r>
          </a:p>
        </p:txBody>
      </p:sp>
      <p:pic>
        <p:nvPicPr>
          <p:cNvPr id="24" name="Immagine 23" descr="Immagine che contiene testo, schermata, Biglietto Post-it, Carattere&#10;&#10;Il contenuto generato dall'IA potrebbe non essere corretto.">
            <a:extLst>
              <a:ext uri="{FF2B5EF4-FFF2-40B4-BE49-F238E27FC236}">
                <a16:creationId xmlns:a16="http://schemas.microsoft.com/office/drawing/2014/main" id="{F6D80CCF-248B-DAD4-77CF-178A073014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159"/>
          <a:stretch>
            <a:fillRect/>
          </a:stretch>
        </p:blipFill>
        <p:spPr>
          <a:xfrm>
            <a:off x="2943729" y="2650912"/>
            <a:ext cx="4411839" cy="1647273"/>
          </a:xfrm>
          <a:prstGeom prst="rect">
            <a:avLst/>
          </a:prstGeom>
        </p:spPr>
      </p:pic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A2F43D13-65CB-FE75-508A-95B3E6F1E898}"/>
              </a:ext>
            </a:extLst>
          </p:cNvPr>
          <p:cNvSpPr txBox="1"/>
          <p:nvPr/>
        </p:nvSpPr>
        <p:spPr>
          <a:xfrm>
            <a:off x="3005971" y="2209439"/>
            <a:ext cx="329971" cy="369332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5983194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84B21-D3D4-E758-C7CD-2DFCFD398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F1201D4-8F88-CA4C-3C77-08AA41B65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9F28893-7B92-BE30-AB6A-44B315744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86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5A903328-B60F-BC3C-E0C4-63BF68748937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06B4B1A5-8BC8-973A-9EA2-9346DB2617E1}"/>
              </a:ext>
            </a:extLst>
          </p:cNvPr>
          <p:cNvSpPr txBox="1">
            <a:spLocks/>
          </p:cNvSpPr>
          <p:nvPr/>
        </p:nvSpPr>
        <p:spPr>
          <a:xfrm>
            <a:off x="3335941" y="669099"/>
            <a:ext cx="8521021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Longitudinal dynamics</a:t>
            </a:r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8A36A024-90FE-67D9-E3E2-8409BE9C9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208C2C1B-0C54-36E2-FB17-F6FEC73082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Decompose in uncertainty from the known plant: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sz="160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Get P-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Test R.S.</a:t>
                </a:r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208C2C1B-0C54-36E2-FB17-F6FEC7308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3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egnaposto testo 5">
                <a:extLst>
                  <a:ext uri="{FF2B5EF4-FFF2-40B4-BE49-F238E27FC236}">
                    <a16:creationId xmlns:a16="http://schemas.microsoft.com/office/drawing/2014/main" id="{43AC8B6E-DBB2-CBDB-36A9-42B7E39545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48807" y="1436188"/>
                <a:ext cx="7586981" cy="840083"/>
              </a:xfrm>
              <a:prstGeom prst="rect">
                <a:avLst/>
              </a:prstGeom>
              <a:ln w="28575"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Theorem </a:t>
                </a:r>
                <a:r>
                  <a:rPr lang="en-US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[RS for unstructured (“full”) perturbations</a:t>
                </a: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]</a:t>
                </a:r>
                <a:r>
                  <a:rPr lang="en-US"/>
                  <a:t>: Assuming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is full and complex </a:t>
                </a:r>
                <a:r>
                  <a:rPr lang="en-US" err="1"/>
                  <a:t>s.t.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jω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))≤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/>
                  <a:t>, then assuming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and M(s) are A.S., the feedback system is RS IFF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jω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))&lt;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∀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14" name="Segnaposto testo 5">
                <a:extLst>
                  <a:ext uri="{FF2B5EF4-FFF2-40B4-BE49-F238E27FC236}">
                    <a16:creationId xmlns:a16="http://schemas.microsoft.com/office/drawing/2014/main" id="{43AC8B6E-DBB2-CBDB-36A9-42B7E3954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807" y="1436188"/>
                <a:ext cx="7586981" cy="840083"/>
              </a:xfrm>
              <a:prstGeom prst="rect">
                <a:avLst/>
              </a:prstGeom>
              <a:blipFill>
                <a:blip r:embed="rId4"/>
                <a:stretch>
                  <a:fillRect l="-1280" t="-3521"/>
                </a:stretch>
              </a:blipFill>
              <a:ln w="28575"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Immagine 15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C0355F8F-3D8D-69F7-6D55-6B79AAAFF2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3403" y="3188857"/>
            <a:ext cx="2674160" cy="620787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9FE58CB-CB61-2703-0D92-A7BDDBBF93C7}"/>
              </a:ext>
            </a:extLst>
          </p:cNvPr>
          <p:cNvSpPr txBox="1"/>
          <p:nvPr/>
        </p:nvSpPr>
        <p:spPr>
          <a:xfrm>
            <a:off x="9393403" y="2343087"/>
            <a:ext cx="23832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/>
              <a:t>-&gt; in our case (structured and real uncertainty) it </a:t>
            </a:r>
            <a:r>
              <a:rPr lang="en-US" sz="1200" b="1"/>
              <a:t>is</a:t>
            </a:r>
            <a:r>
              <a:rPr lang="en-US" sz="1200"/>
              <a:t> only sufficient.</a:t>
            </a:r>
          </a:p>
          <a:p>
            <a:pPr algn="just"/>
            <a:endParaRPr lang="en-US" sz="1200" b="1">
              <a:solidFill>
                <a:srgbClr val="0070C0"/>
              </a:solidFill>
            </a:endParaRPr>
          </a:p>
          <a:p>
            <a:endParaRPr lang="en-US" sz="120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7F8F39A-AB91-9EB4-448B-ABDF7C0115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8261" y="2444377"/>
            <a:ext cx="6549346" cy="43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64637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4574B-BAB0-3B56-8538-B58B50189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B295C9F-D671-2610-8BF7-7292C1E69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0C7293E-9AA1-8BB7-C27E-D457E7934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87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F95E9EA8-BC04-92F1-F02A-C6B9C43F7C2B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B6F49E8A-8B72-391F-4C1B-1CCF030A9774}"/>
              </a:ext>
            </a:extLst>
          </p:cNvPr>
          <p:cNvSpPr txBox="1">
            <a:spLocks/>
          </p:cNvSpPr>
          <p:nvPr/>
        </p:nvSpPr>
        <p:spPr>
          <a:xfrm>
            <a:off x="3335941" y="669099"/>
            <a:ext cx="8521021" cy="84008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Robust stability </a:t>
            </a:r>
            <a:r>
              <a:rPr lang="en-US">
                <a:ea typeface="+mj-lt"/>
                <a:cs typeface="+mj-lt"/>
              </a:rPr>
              <a:t>for the uncertain</a:t>
            </a:r>
            <a:r>
              <a:rPr lang="en-US" i="1">
                <a:ea typeface="+mj-lt"/>
                <a:cs typeface="+mj-lt"/>
              </a:rPr>
              <a:t> </a:t>
            </a:r>
            <a:r>
              <a:rPr lang="en-US" i="1">
                <a:solidFill>
                  <a:schemeClr val="tx2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Longitudinal dynamics</a:t>
            </a:r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C201516B-54E9-A016-2554-CFDA710E1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3: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BD90CDC5-F469-2337-6BFA-60D436019E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Define the uncertain system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Decompose in uncertainty from the known plant: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sz="160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tx1"/>
                    </a:solidFill>
                  </a:rPr>
                  <a:t>Get P-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form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/>
                  <a:t>Get M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Test R.S.</a:t>
                </a:r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3" name="Segnaposto testo 5">
                <a:extLst>
                  <a:ext uri="{FF2B5EF4-FFF2-40B4-BE49-F238E27FC236}">
                    <a16:creationId xmlns:a16="http://schemas.microsoft.com/office/drawing/2014/main" id="{BD90CDC5-F469-2337-6BFA-60D436019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3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>
            <a:extLst>
              <a:ext uri="{FF2B5EF4-FFF2-40B4-BE49-F238E27FC236}">
                <a16:creationId xmlns:a16="http://schemas.microsoft.com/office/drawing/2014/main" id="{3DA434A4-BDC8-0C0A-1A76-DB68218429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19752" y="1306277"/>
            <a:ext cx="7290977" cy="48649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Segnaposto testo 6">
                <a:extLst>
                  <a:ext uri="{FF2B5EF4-FFF2-40B4-BE49-F238E27FC236}">
                    <a16:creationId xmlns:a16="http://schemas.microsoft.com/office/drawing/2014/main" id="{E6CDDB1B-BAA4-037F-17E5-23980C80BC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1237" y="6082635"/>
                <a:ext cx="8640763" cy="658642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i="1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b="1">
                    <a:solidFill>
                      <a:srgbClr val="0070C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̅</m:t>
                    </m:r>
                  </m:oMath>
                </a14:m>
                <a:r>
                  <a:rPr lang="en-US"/>
                  <a:t>=-2.64 dB &lt; 0dB   -&gt; RS -&gt; No need to re-design the controller</a:t>
                </a:r>
              </a:p>
              <a:p>
                <a:pPr algn="just"/>
                <a:endParaRPr lang="en-US" b="1">
                  <a:solidFill>
                    <a:srgbClr val="0070C0"/>
                  </a:solidFill>
                </a:endParaRPr>
              </a:p>
              <a:p>
                <a:pPr algn="just"/>
                <a:endParaRPr lang="en-US" b="1">
                  <a:solidFill>
                    <a:srgbClr val="0070C0"/>
                  </a:solidFill>
                </a:endParaRPr>
              </a:p>
              <a:p>
                <a:pPr algn="just"/>
                <a:endParaRPr lang="en-US" b="1">
                  <a:solidFill>
                    <a:srgbClr val="0070C0"/>
                  </a:solidFill>
                </a:endParaRPr>
              </a:p>
              <a:p>
                <a:pPr algn="just"/>
                <a:endParaRPr lang="en-US" b="1">
                  <a:solidFill>
                    <a:srgbClr val="0070C0"/>
                  </a:solidFill>
                </a:endParaRPr>
              </a:p>
              <a:p>
                <a:pPr algn="just"/>
                <a:endParaRPr lang="en-US" b="1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Segnaposto testo 6">
                <a:extLst>
                  <a:ext uri="{FF2B5EF4-FFF2-40B4-BE49-F238E27FC236}">
                    <a16:creationId xmlns:a16="http://schemas.microsoft.com/office/drawing/2014/main" id="{E6CDDB1B-BAA4-037F-17E5-23980C80B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237" y="6082635"/>
                <a:ext cx="8640763" cy="658642"/>
              </a:xfrm>
              <a:prstGeom prst="rect">
                <a:avLst/>
              </a:prstGeom>
              <a:blipFill>
                <a:blip r:embed="rId5"/>
                <a:stretch>
                  <a:fillRect l="-1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729463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74CC8-D996-DA0A-5348-A9CF46617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43A959-80D8-46E7-5F2C-D55AD91DD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Stability Robustness to pitch-roll dynamics uncertainty coupling</a:t>
            </a:r>
            <a:endParaRPr lang="en-US"/>
          </a:p>
          <a:p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FB8E658-C393-82A4-D58D-4CD8E7716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26D3B-03D2-4B47-B87E-FB37B34FF9BC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8BB982E-5350-44C6-C3BA-C184B48FC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88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113ACBCC-80E1-D67F-F80E-52D41F4788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3600"/>
              <a:t>TASK</a:t>
            </a:r>
            <a:endParaRPr lang="en-US"/>
          </a:p>
          <a:p>
            <a:r>
              <a:rPr lang="en-US"/>
              <a:t>4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25C3516-42DC-B4C6-D6D9-2592EB12B2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-5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68458" y="2596443"/>
            <a:ext cx="6545986" cy="4809068"/>
          </a:xfrm>
          <a:prstGeom prst="rect">
            <a:avLst/>
          </a:prstGeom>
        </p:spPr>
      </p:pic>
      <p:sp>
        <p:nvSpPr>
          <p:cNvPr id="7" name="Segnaposto piè di pagina 3">
            <a:extLst>
              <a:ext uri="{FF2B5EF4-FFF2-40B4-BE49-F238E27FC236}">
                <a16:creationId xmlns:a16="http://schemas.microsoft.com/office/drawing/2014/main" id="{0A2232A6-2D57-E779-F091-B6969458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204381" cy="365125"/>
          </a:xfrm>
        </p:spPr>
        <p:txBody>
          <a:bodyPr anchor="b">
            <a:normAutofit/>
          </a:bodyPr>
          <a:lstStyle/>
          <a:p>
            <a:pPr lvl="0"/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516720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909F9-D8C5-8C99-F977-19660DAF1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32D940-0A3A-9FAE-D1AC-B3E1C32FD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255" y="778016"/>
            <a:ext cx="5761038" cy="840083"/>
          </a:xfrm>
        </p:spPr>
        <p:txBody>
          <a:bodyPr anchor="t">
            <a:normAutofit/>
          </a:bodyPr>
          <a:lstStyle/>
          <a:p>
            <a:r>
              <a:rPr lang="en-US"/>
              <a:t>Stability Robustness to pitch-roll dynamics uncertainty coupling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B2B5CAA-8AAF-C88E-AE94-94D713CAC4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C526D3B-03D2-4B47-B87E-FB37B34FF9BC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326D368-4466-D2E2-C78F-8F264739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89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1D625312-5AC7-17D6-AB63-476B9EF5EF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2060575"/>
            <a:ext cx="5761038" cy="4429125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</a:pPr>
            <a:endParaRPr lang="en-US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F569F953-5AE4-4E45-E0A4-B7B71B6B138C}"/>
              </a:ext>
            </a:extLst>
          </p:cNvPr>
          <p:cNvSpPr txBox="1">
            <a:spLocks/>
          </p:cNvSpPr>
          <p:nvPr/>
        </p:nvSpPr>
        <p:spPr>
          <a:xfrm>
            <a:off x="3257839" y="1879121"/>
            <a:ext cx="5720451" cy="36040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/>
              <a:t>Verify if the obtained control system satisfies the RS condition when taking into account the longitudinal/lateral coupling given by: </a:t>
            </a:r>
            <a:endParaRPr lang="en-US" sz="18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>
              <a:solidFill>
                <a:srgbClr val="102C53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800">
                <a:solidFill>
                  <a:srgbClr val="102C53"/>
                </a:solidFill>
              </a:rPr>
              <a:t>Uncertain longitudinal/ Lateral coupling</a:t>
            </a:r>
            <a:br>
              <a:rPr lang="en-US" sz="1800">
                <a:solidFill>
                  <a:srgbClr val="102C53"/>
                </a:solidFill>
              </a:rPr>
            </a:br>
            <a:endParaRPr lang="en-US" sz="1800">
              <a:solidFill>
                <a:srgbClr val="102C5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836A142-F4BB-1BED-F1D7-18216A073491}"/>
                  </a:ext>
                </a:extLst>
              </p:cNvPr>
              <p:cNvSpPr txBox="1"/>
              <p:nvPr/>
            </p:nvSpPr>
            <p:spPr>
              <a:xfrm>
                <a:off x="3434196" y="5314726"/>
                <a:ext cx="6096000" cy="92333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>
                    <a:solidFill>
                      <a:srgbClr val="102C53"/>
                    </a:solidFill>
                  </a:rPr>
                  <a:t>with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0" smtClean="0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0" smtClean="0">
                        <a:latin typeface="Cambria Math" panose="02040503050406030204" pitchFamily="18" charset="0"/>
                      </a:rPr>
                      <m:t> 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0" smtClean="0"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US" i="0" smtClean="0">
                            <a:latin typeface="Cambria Math" panose="02040503050406030204" pitchFamily="18" charset="0"/>
                          </a:rPr>
                          <m:t>°, </m:t>
                        </m:r>
                        <m:r>
                          <a:rPr lang="en-US" i="0" smtClean="0"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US" i="0" smtClean="0">
                            <a:latin typeface="Cambria Math" panose="02040503050406030204" pitchFamily="18" charset="0"/>
                          </a:rPr>
                          <m:t>°</m:t>
                        </m:r>
                      </m:e>
                    </m:d>
                  </m:oMath>
                </a14:m>
                <a:endParaRPr lang="en-US"/>
              </a:p>
              <a:p>
                <a:endParaRPr lang="en-US"/>
              </a:p>
              <a:p>
                <a:pPr algn="ctr"/>
                <a:endParaRPr lang="en-US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836A142-F4BB-1BED-F1D7-18216A073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196" y="5314726"/>
                <a:ext cx="6096000" cy="923330"/>
              </a:xfrm>
              <a:prstGeom prst="rect">
                <a:avLst/>
              </a:prstGeom>
              <a:blipFill>
                <a:blip r:embed="rId2"/>
                <a:stretch>
                  <a:fillRect l="-800" t="-3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A78090C-3B63-529D-4780-2BA1744E200A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pic>
        <p:nvPicPr>
          <p:cNvPr id="7" name="Imagem 9" descr="Uma imagem com Tipo de letra, texto, tipografia, file&#10;&#10;Os conteúdos gerados por IA poderão estar incorretos.">
            <a:extLst>
              <a:ext uri="{FF2B5EF4-FFF2-40B4-BE49-F238E27FC236}">
                <a16:creationId xmlns:a16="http://schemas.microsoft.com/office/drawing/2014/main" id="{59ED451D-429D-7764-D5AE-DF3E93267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196" y="4126930"/>
            <a:ext cx="4429991" cy="884959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65CA2DE2-5576-59B4-A28C-4CB6EC7595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 contrast="-56000"/>
                    </a14:imgEffect>
                  </a14:imgLayer>
                </a14:imgProps>
              </a:ext>
            </a:extLst>
          </a:blip>
          <a:srcRect l="18314" t="-591" r="44477"/>
          <a:stretch>
            <a:fillRect/>
          </a:stretch>
        </p:blipFill>
        <p:spPr>
          <a:xfrm>
            <a:off x="1940" y="779078"/>
            <a:ext cx="2892452" cy="57104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401011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86B46-9CA1-F274-AD7A-BF359C9F3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0BF6A6-8A2D-C8B8-072D-8B267415B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536037"/>
            <a:ext cx="11522075" cy="840083"/>
          </a:xfrm>
        </p:spPr>
        <p:txBody>
          <a:bodyPr anchor="ctr">
            <a:normAutofit/>
          </a:bodyPr>
          <a:lstStyle/>
          <a:p>
            <a:r>
              <a:rPr lang="en-US"/>
              <a:t>Stability Robustness to pitch-roll dynamics uncertain coupling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5010318-4664-1E6F-A00B-7F075E22F1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C526D3B-03D2-4B47-B87E-FB37B34FF9BC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44A0E3B-516F-1E09-5FAC-15B2500E7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90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BFBADE1E-E9D1-0131-3F18-55ECED5F3C9B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75E8E099-CFB4-16E3-62C3-D9C1A03E637A}"/>
                  </a:ext>
                </a:extLst>
              </p:cNvPr>
              <p:cNvSpPr txBox="1"/>
              <p:nvPr/>
            </p:nvSpPr>
            <p:spPr>
              <a:xfrm>
                <a:off x="518615" y="1313798"/>
                <a:ext cx="6537277" cy="1896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/>
                  <a:t>We define the coupling matric C:</a:t>
                </a:r>
              </a:p>
              <a:p>
                <a:endParaRPr lang="en-US" sz="2000"/>
              </a:p>
              <a:p>
                <a:r>
                  <a:rPr lang="en-US" sz="2000"/>
                  <a:t>                 C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 sz="2000"/>
                  <a:t>)=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osψ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sinψ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sinψ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cosψ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/>
                  <a:t>.</a:t>
                </a:r>
              </a:p>
              <a:p>
                <a:r>
                  <a:rPr lang="en-US" sz="2000"/>
                  <a:t> </a:t>
                </a:r>
              </a:p>
              <a:p>
                <a:r>
                  <a:rPr lang="en-US" sz="2000"/>
                  <a:t>Remark: C(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/>
                  <a:t>)=I : no coupling.</a:t>
                </a: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75E8E099-CFB4-16E3-62C3-D9C1A03E6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15" y="1313798"/>
                <a:ext cx="6537277" cy="1896353"/>
              </a:xfrm>
              <a:prstGeom prst="rect">
                <a:avLst/>
              </a:prstGeom>
              <a:blipFill>
                <a:blip r:embed="rId2"/>
                <a:stretch>
                  <a:fillRect l="-933" t="-1608" b="-5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magine 13" descr="Immagine che contiene testo, schermata, Biglietto Post-it, Rettangolo&#10;&#10;Il contenuto generato dall'IA potrebbe non essere corretto.">
            <a:extLst>
              <a:ext uri="{FF2B5EF4-FFF2-40B4-BE49-F238E27FC236}">
                <a16:creationId xmlns:a16="http://schemas.microsoft.com/office/drawing/2014/main" id="{AB7742A8-042F-034B-BAE0-E0F56F0B27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822" y="1594968"/>
            <a:ext cx="6288595" cy="48412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testo 5">
                <a:extLst>
                  <a:ext uri="{FF2B5EF4-FFF2-40B4-BE49-F238E27FC236}">
                    <a16:creationId xmlns:a16="http://schemas.microsoft.com/office/drawing/2014/main" id="{69B1825E-13E7-1A22-3B5C-01C40D37FB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3583" y="3428999"/>
                <a:ext cx="5766329" cy="3429001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/>
                  <a:t> is argument of non-linear functions 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 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mtClean="0"/>
                          <m:t>0.</m:t>
                        </m:r>
                        <m:r>
                          <m:rPr>
                            <m:nor/>
                          </m:rPr>
                          <a:rPr lang="en-US" smtClean="0"/>
                          <m:t>2618 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, </m:t>
                        </m:r>
                        <m:r>
                          <m:rPr>
                            <m:nor/>
                          </m:rPr>
                          <a:rPr lang="en-US" smtClean="0"/>
                          <m:t>0.</m:t>
                        </m:r>
                        <m:r>
                          <m:rPr>
                            <m:nor/>
                          </m:rPr>
                          <a:rPr lang="en-US" smtClean="0"/>
                          <m:t>2618</m:t>
                        </m:r>
                      </m:e>
                    </m:d>
                  </m:oMath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latin typeface="Cambria Math" panose="02040503050406030204" pitchFamily="18" charset="0"/>
                        </a:rPr>
                        <m:t> </m:t>
                      </m:r>
                    </m:oMath>
                  </m:oMathPara>
                </a14:m>
                <a:endParaRPr lang="en-US"/>
              </a:p>
              <a:p>
                <a:r>
                  <a:rPr lang="en-US"/>
                  <a:t>Choice of modeling model uncertainty, e.g.: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4" name="Segnaposto testo 5">
                <a:extLst>
                  <a:ext uri="{FF2B5EF4-FFF2-40B4-BE49-F238E27FC236}">
                    <a16:creationId xmlns:a16="http://schemas.microsoft.com/office/drawing/2014/main" id="{69B1825E-13E7-1A22-3B5C-01C40D37F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83" y="3428999"/>
                <a:ext cx="5766329" cy="3429001"/>
              </a:xfrm>
              <a:prstGeom prst="rect">
                <a:avLst/>
              </a:prstGeom>
              <a:blipFill>
                <a:blip r:embed="rId4"/>
                <a:stretch>
                  <a:fillRect l="-1905" t="-1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265539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B59DF-6FDA-0580-156B-FE77B49E5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707F60-F4A8-B0D3-5CB9-F8405A60E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536037"/>
            <a:ext cx="11522075" cy="840083"/>
          </a:xfrm>
        </p:spPr>
        <p:txBody>
          <a:bodyPr anchor="ctr">
            <a:normAutofit/>
          </a:bodyPr>
          <a:lstStyle/>
          <a:p>
            <a:r>
              <a:rPr lang="en-US"/>
              <a:t>Stability Robustness to pitch-roll dynamics uncertain coupling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F042941-82AE-8012-6C01-3BCAABBE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C526D3B-03D2-4B47-B87E-FB37B34FF9BC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7AD1330-83CF-4653-7F13-58DF6B308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91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7125AEDF-761A-2C32-4018-80A91656BBA6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4E05A0F8-2707-2935-116A-8CB8A8A80661}"/>
                  </a:ext>
                </a:extLst>
              </p:cNvPr>
              <p:cNvSpPr txBox="1"/>
              <p:nvPr/>
            </p:nvSpPr>
            <p:spPr>
              <a:xfrm>
                <a:off x="518615" y="1313798"/>
                <a:ext cx="6537277" cy="1896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/>
                  <a:t>We define the coupling matric C:</a:t>
                </a:r>
              </a:p>
              <a:p>
                <a:endParaRPr lang="en-US" sz="2000"/>
              </a:p>
              <a:p>
                <a:r>
                  <a:rPr lang="en-US" sz="2000"/>
                  <a:t>                 C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 sz="2000"/>
                  <a:t>)=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osψ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sinψ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sinψ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cosψ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/>
                  <a:t>.</a:t>
                </a:r>
              </a:p>
              <a:p>
                <a:r>
                  <a:rPr lang="en-US" sz="2000"/>
                  <a:t> </a:t>
                </a:r>
              </a:p>
              <a:p>
                <a:r>
                  <a:rPr lang="en-US" sz="2000"/>
                  <a:t>Remark: C(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/>
                  <a:t>)=I : no coupling.</a:t>
                </a: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4E05A0F8-2707-2935-116A-8CB8A8A80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15" y="1313798"/>
                <a:ext cx="6537277" cy="1896353"/>
              </a:xfrm>
              <a:prstGeom prst="rect">
                <a:avLst/>
              </a:prstGeom>
              <a:blipFill>
                <a:blip r:embed="rId2"/>
                <a:stretch>
                  <a:fillRect l="-933" t="-1608" b="-5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magine 13" descr="Immagine che contiene testo, schermata, Biglietto Post-it, Rettangolo&#10;&#10;Il contenuto generato dall'IA potrebbe non essere corretto.">
            <a:extLst>
              <a:ext uri="{FF2B5EF4-FFF2-40B4-BE49-F238E27FC236}">
                <a16:creationId xmlns:a16="http://schemas.microsoft.com/office/drawing/2014/main" id="{344D7652-23B2-1D95-5134-04A4A5573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822" y="1594968"/>
            <a:ext cx="6288595" cy="48412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testo 5">
                <a:extLst>
                  <a:ext uri="{FF2B5EF4-FFF2-40B4-BE49-F238E27FC236}">
                    <a16:creationId xmlns:a16="http://schemas.microsoft.com/office/drawing/2014/main" id="{FCC33D83-BA96-C91F-2AA9-7DB7EB6363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3583" y="3428999"/>
                <a:ext cx="5766329" cy="3429001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/>
                  <a:t> is argument of non-linear functions 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 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mtClean="0"/>
                          <m:t>0.</m:t>
                        </m:r>
                        <m:r>
                          <m:rPr>
                            <m:nor/>
                          </m:rPr>
                          <a:rPr lang="en-US" smtClean="0"/>
                          <m:t>2618 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, </m:t>
                        </m:r>
                        <m:r>
                          <m:rPr>
                            <m:nor/>
                          </m:rPr>
                          <a:rPr lang="en-US" smtClean="0"/>
                          <m:t>0.</m:t>
                        </m:r>
                        <m:r>
                          <m:rPr>
                            <m:nor/>
                          </m:rPr>
                          <a:rPr lang="en-US" smtClean="0"/>
                          <m:t>2618</m:t>
                        </m:r>
                      </m:e>
                    </m:d>
                  </m:oMath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latin typeface="Cambria Math" panose="02040503050406030204" pitchFamily="18" charset="0"/>
                        </a:rPr>
                        <m:t> </m:t>
                      </m:r>
                    </m:oMath>
                  </m:oMathPara>
                </a14:m>
                <a:endParaRPr lang="en-US"/>
              </a:p>
              <a:p>
                <a:r>
                  <a:rPr lang="en-US"/>
                  <a:t>Choice of modeling model uncertainty, e.g.:</a:t>
                </a:r>
              </a:p>
              <a:p>
                <a:pPr marL="285750" indent="-285750">
                  <a:buFontTx/>
                  <a:buChar char="-"/>
                </a:pPr>
                <a:endParaRPr lang="en-US"/>
              </a:p>
              <a:p>
                <a:r>
                  <a:rPr lang="en-US" b="1"/>
                  <a:t>OPTION 1: </a:t>
                </a:r>
                <a:r>
                  <a:rPr lang="en-US"/>
                  <a:t> model two independent uncertainties c=cos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 b="1"/>
                  <a:t>, </a:t>
                </a:r>
                <a:r>
                  <a:rPr lang="en-US"/>
                  <a:t>s=sin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1" i="1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 b="1"/>
                  <a:t>, </a:t>
                </a:r>
                <a:r>
                  <a:rPr lang="en-US"/>
                  <a:t>both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∈[−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b="1"/>
                  <a:t> -&gt; Pull out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1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b="1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1" i="1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b="1"/>
                  <a:t> form. </a:t>
                </a:r>
                <a:r>
                  <a:rPr lang="en-US" b="1">
                    <a:solidFill>
                      <a:srgbClr val="FF0000"/>
                    </a:solidFill>
                  </a:rPr>
                  <a:t>Most conservative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4" name="Segnaposto testo 5">
                <a:extLst>
                  <a:ext uri="{FF2B5EF4-FFF2-40B4-BE49-F238E27FC236}">
                    <a16:creationId xmlns:a16="http://schemas.microsoft.com/office/drawing/2014/main" id="{FCC33D83-BA96-C91F-2AA9-7DB7EB636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83" y="3428999"/>
                <a:ext cx="5766329" cy="3429001"/>
              </a:xfrm>
              <a:prstGeom prst="rect">
                <a:avLst/>
              </a:prstGeom>
              <a:blipFill>
                <a:blip r:embed="rId4"/>
                <a:stretch>
                  <a:fillRect l="-1905" t="-1066" r="-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090650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CD48D-2AFE-A3E4-27A5-982A236F4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443063-F115-2DE9-5E77-93462C6E9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536037"/>
            <a:ext cx="11522075" cy="840083"/>
          </a:xfrm>
        </p:spPr>
        <p:txBody>
          <a:bodyPr anchor="ctr">
            <a:normAutofit/>
          </a:bodyPr>
          <a:lstStyle/>
          <a:p>
            <a:r>
              <a:rPr lang="en-US"/>
              <a:t>Stability Robustness to pitch-roll dynamics uncertain coupling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7969F32-077B-2788-CAE1-26CADF008D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C526D3B-03D2-4B47-B87E-FB37B34FF9BC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8604871-C710-CB26-343A-5A675111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92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F5529EA-77CF-85DD-4F84-A737FF56B95F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397DD3D8-5864-3E00-EBB3-77BE102C213D}"/>
                  </a:ext>
                </a:extLst>
              </p:cNvPr>
              <p:cNvSpPr txBox="1"/>
              <p:nvPr/>
            </p:nvSpPr>
            <p:spPr>
              <a:xfrm>
                <a:off x="518615" y="1313798"/>
                <a:ext cx="6537277" cy="1896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/>
                  <a:t>We define the coupling matric C:</a:t>
                </a:r>
              </a:p>
              <a:p>
                <a:endParaRPr lang="en-US" sz="2000"/>
              </a:p>
              <a:p>
                <a:r>
                  <a:rPr lang="en-US" sz="2000"/>
                  <a:t>                 C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 sz="2000"/>
                  <a:t>)=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osψ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sinψ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sinψ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cosψ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/>
                  <a:t>.</a:t>
                </a:r>
              </a:p>
              <a:p>
                <a:r>
                  <a:rPr lang="en-US" sz="2000"/>
                  <a:t> </a:t>
                </a:r>
              </a:p>
              <a:p>
                <a:r>
                  <a:rPr lang="en-US" sz="2000"/>
                  <a:t>Remark: C(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/>
                  <a:t>)=I : no coupling.</a:t>
                </a: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397DD3D8-5864-3E00-EBB3-77BE102C2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15" y="1313798"/>
                <a:ext cx="6537277" cy="1896353"/>
              </a:xfrm>
              <a:prstGeom prst="rect">
                <a:avLst/>
              </a:prstGeom>
              <a:blipFill>
                <a:blip r:embed="rId2"/>
                <a:stretch>
                  <a:fillRect l="-933" t="-1608" b="-5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magine 13" descr="Immagine che contiene testo, schermata, Biglietto Post-it, Rettangolo&#10;&#10;Il contenuto generato dall'IA potrebbe non essere corretto.">
            <a:extLst>
              <a:ext uri="{FF2B5EF4-FFF2-40B4-BE49-F238E27FC236}">
                <a16:creationId xmlns:a16="http://schemas.microsoft.com/office/drawing/2014/main" id="{A94A873B-870E-7632-688E-96BFB12C24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822" y="1594968"/>
            <a:ext cx="6288595" cy="48412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testo 5">
                <a:extLst>
                  <a:ext uri="{FF2B5EF4-FFF2-40B4-BE49-F238E27FC236}">
                    <a16:creationId xmlns:a16="http://schemas.microsoft.com/office/drawing/2014/main" id="{5F3C5438-6CC8-A88D-0AAC-B59D4E801C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3583" y="3428999"/>
                <a:ext cx="5766329" cy="3429001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/>
                  <a:t> is argument of non-linear functions 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 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mtClean="0"/>
                          <m:t>0.</m:t>
                        </m:r>
                        <m:r>
                          <m:rPr>
                            <m:nor/>
                          </m:rPr>
                          <a:rPr lang="en-US" smtClean="0"/>
                          <m:t>2618 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, </m:t>
                        </m:r>
                        <m:r>
                          <m:rPr>
                            <m:nor/>
                          </m:rPr>
                          <a:rPr lang="en-US" smtClean="0"/>
                          <m:t>0.</m:t>
                        </m:r>
                        <m:r>
                          <m:rPr>
                            <m:nor/>
                          </m:rPr>
                          <a:rPr lang="en-US" smtClean="0"/>
                          <m:t>2618</m:t>
                        </m:r>
                      </m:e>
                    </m:d>
                  </m:oMath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latin typeface="Cambria Math" panose="02040503050406030204" pitchFamily="18" charset="0"/>
                        </a:rPr>
                        <m:t> </m:t>
                      </m:r>
                    </m:oMath>
                  </m:oMathPara>
                </a14:m>
                <a:endParaRPr lang="en-US"/>
              </a:p>
              <a:p>
                <a:r>
                  <a:rPr lang="en-US"/>
                  <a:t>Choice of modeling model uncertainty, e.g.:</a:t>
                </a:r>
              </a:p>
              <a:p>
                <a:pPr marL="285750" indent="-285750">
                  <a:buFontTx/>
                  <a:buChar char="-"/>
                </a:pPr>
                <a:endParaRPr lang="en-US"/>
              </a:p>
              <a:p>
                <a:r>
                  <a:rPr lang="en-US" b="1"/>
                  <a:t>OPTION 1: </a:t>
                </a:r>
                <a:r>
                  <a:rPr lang="en-US"/>
                  <a:t> model two independent uncertainties c=cos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 b="1"/>
                  <a:t>, </a:t>
                </a:r>
                <a:r>
                  <a:rPr lang="en-US"/>
                  <a:t>s=sin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1" i="1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 b="1"/>
                  <a:t>, </a:t>
                </a:r>
                <a:r>
                  <a:rPr lang="en-US"/>
                  <a:t>both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∈[−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b="1"/>
                  <a:t> -&gt; Pull out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1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b="1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1" i="1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b="1"/>
                  <a:t> form. </a:t>
                </a:r>
                <a:r>
                  <a:rPr lang="en-US" b="1">
                    <a:solidFill>
                      <a:srgbClr val="FF0000"/>
                    </a:solidFill>
                  </a:rPr>
                  <a:t>Most conservative</a:t>
                </a:r>
              </a:p>
              <a:p>
                <a:endParaRPr lang="en-US" b="1"/>
              </a:p>
              <a:p>
                <a:r>
                  <a:rPr lang="en-US" b="1"/>
                  <a:t>OPTION 2: 1</a:t>
                </a:r>
                <a:r>
                  <a:rPr lang="en-US" b="1" baseline="30000"/>
                  <a:t>st</a:t>
                </a:r>
                <a:r>
                  <a:rPr lang="en-US" b="1"/>
                  <a:t> order Taylor to linearize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/>
                  <a:t> -&gt; Pull out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1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b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1" i="1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b="1"/>
                  <a:t> form. </a:t>
                </a:r>
                <a:r>
                  <a:rPr lang="en-US" b="1">
                    <a:solidFill>
                      <a:srgbClr val="0070C0"/>
                    </a:solidFill>
                  </a:rPr>
                  <a:t>Conservativeness?</a:t>
                </a:r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4" name="Segnaposto testo 5">
                <a:extLst>
                  <a:ext uri="{FF2B5EF4-FFF2-40B4-BE49-F238E27FC236}">
                    <a16:creationId xmlns:a16="http://schemas.microsoft.com/office/drawing/2014/main" id="{5F3C5438-6CC8-A88D-0AAC-B59D4E801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83" y="3428999"/>
                <a:ext cx="5766329" cy="3429001"/>
              </a:xfrm>
              <a:prstGeom prst="rect">
                <a:avLst/>
              </a:prstGeom>
              <a:blipFill>
                <a:blip r:embed="rId4"/>
                <a:stretch>
                  <a:fillRect l="-1905" t="-1066" r="-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142441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95F78-F292-5FC2-96DC-86925276B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95724B-EEBC-450C-50BE-462413B28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536037"/>
            <a:ext cx="11522075" cy="840083"/>
          </a:xfrm>
        </p:spPr>
        <p:txBody>
          <a:bodyPr anchor="ctr">
            <a:normAutofit/>
          </a:bodyPr>
          <a:lstStyle/>
          <a:p>
            <a:r>
              <a:rPr lang="en-US"/>
              <a:t>Stability Robustness to pitch-roll dynamics uncertain coupling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6ED7E46-8D45-D126-E801-8FAB292B07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C526D3B-03D2-4B47-B87E-FB37B34FF9BC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DCB9033-C810-BA68-6FC7-D1AFD7A5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93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B631767-4B2C-8DB6-8D90-401F98AB73F0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3B171325-2901-9F96-DAC2-3F1BFC46C8CA}"/>
                  </a:ext>
                </a:extLst>
              </p:cNvPr>
              <p:cNvSpPr txBox="1"/>
              <p:nvPr/>
            </p:nvSpPr>
            <p:spPr>
              <a:xfrm>
                <a:off x="518615" y="1313798"/>
                <a:ext cx="6537277" cy="1896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/>
                  <a:t>We define the coupling matric C:</a:t>
                </a:r>
              </a:p>
              <a:p>
                <a:endParaRPr lang="en-US" sz="2000"/>
              </a:p>
              <a:p>
                <a:r>
                  <a:rPr lang="en-US" sz="2000"/>
                  <a:t>                 C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 sz="2000"/>
                  <a:t>)=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osψ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sinψ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sinψ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cosψ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/>
                  <a:t>.</a:t>
                </a:r>
              </a:p>
              <a:p>
                <a:r>
                  <a:rPr lang="en-US" sz="2000"/>
                  <a:t> </a:t>
                </a:r>
              </a:p>
              <a:p>
                <a:r>
                  <a:rPr lang="en-US" sz="2000"/>
                  <a:t>Remark: C(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/>
                  <a:t>)=I : no coupling.</a:t>
                </a: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3B171325-2901-9F96-DAC2-3F1BFC46C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15" y="1313798"/>
                <a:ext cx="6537277" cy="1896353"/>
              </a:xfrm>
              <a:prstGeom prst="rect">
                <a:avLst/>
              </a:prstGeom>
              <a:blipFill>
                <a:blip r:embed="rId2"/>
                <a:stretch>
                  <a:fillRect l="-933" t="-1608" b="-5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magine 13" descr="Immagine che contiene testo, schermata, Biglietto Post-it, Rettangolo&#10;&#10;Il contenuto generato dall'IA potrebbe non essere corretto.">
            <a:extLst>
              <a:ext uri="{FF2B5EF4-FFF2-40B4-BE49-F238E27FC236}">
                <a16:creationId xmlns:a16="http://schemas.microsoft.com/office/drawing/2014/main" id="{1193CE0F-10E1-9E65-5842-3509F1C903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822" y="1594968"/>
            <a:ext cx="6288595" cy="48412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testo 5">
                <a:extLst>
                  <a:ext uri="{FF2B5EF4-FFF2-40B4-BE49-F238E27FC236}">
                    <a16:creationId xmlns:a16="http://schemas.microsoft.com/office/drawing/2014/main" id="{03C6F7A6-1F5C-161F-7A87-7DD19D924D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3583" y="3428999"/>
                <a:ext cx="5766329" cy="3429001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/>
                  <a:t> is argument of non-linear functions 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 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mtClean="0"/>
                          <m:t>0.</m:t>
                        </m:r>
                        <m:r>
                          <m:rPr>
                            <m:nor/>
                          </m:rPr>
                          <a:rPr lang="en-US" smtClean="0"/>
                          <m:t>2618 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, </m:t>
                        </m:r>
                        <m:r>
                          <m:rPr>
                            <m:nor/>
                          </m:rPr>
                          <a:rPr lang="en-US" smtClean="0"/>
                          <m:t>0.</m:t>
                        </m:r>
                        <m:r>
                          <m:rPr>
                            <m:nor/>
                          </m:rPr>
                          <a:rPr lang="en-US" smtClean="0"/>
                          <m:t>2618</m:t>
                        </m:r>
                      </m:e>
                    </m:d>
                  </m:oMath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latin typeface="Cambria Math" panose="02040503050406030204" pitchFamily="18" charset="0"/>
                        </a:rPr>
                        <m:t> </m:t>
                      </m:r>
                    </m:oMath>
                  </m:oMathPara>
                </a14:m>
                <a:endParaRPr lang="en-US"/>
              </a:p>
              <a:p>
                <a:r>
                  <a:rPr lang="en-US"/>
                  <a:t>Choice of modeling model uncertainty, e.g.:</a:t>
                </a:r>
              </a:p>
              <a:p>
                <a:pPr marL="285750" indent="-285750">
                  <a:buFontTx/>
                  <a:buChar char="-"/>
                </a:pPr>
                <a:endParaRPr lang="en-US"/>
              </a:p>
              <a:p>
                <a:r>
                  <a:rPr lang="en-US" b="1"/>
                  <a:t>OPTION 1: </a:t>
                </a:r>
                <a:r>
                  <a:rPr lang="en-US"/>
                  <a:t> model two independent uncertainties c=cos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 b="1"/>
                  <a:t>, </a:t>
                </a:r>
                <a:r>
                  <a:rPr lang="en-US"/>
                  <a:t>s=sin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1" i="1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 b="1"/>
                  <a:t>, </a:t>
                </a:r>
                <a:r>
                  <a:rPr lang="en-US"/>
                  <a:t>both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∈[−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b="1"/>
                  <a:t> -&gt; Pull out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1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b="1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1" i="1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b="1"/>
                  <a:t> form. </a:t>
                </a:r>
                <a:r>
                  <a:rPr lang="en-US" b="1">
                    <a:solidFill>
                      <a:srgbClr val="FF0000"/>
                    </a:solidFill>
                  </a:rPr>
                  <a:t>Most conservative</a:t>
                </a:r>
              </a:p>
              <a:p>
                <a:endParaRPr lang="en-US" b="1"/>
              </a:p>
              <a:p>
                <a:r>
                  <a:rPr lang="en-US" b="1"/>
                  <a:t>OPTION 2: 1</a:t>
                </a:r>
                <a:r>
                  <a:rPr lang="en-US" b="1" baseline="30000"/>
                  <a:t>st</a:t>
                </a:r>
                <a:r>
                  <a:rPr lang="en-US" b="1"/>
                  <a:t> order Taylor to linearize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/>
                  <a:t> -&gt; Pull out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1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b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1" i="1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b="1"/>
                  <a:t> form. </a:t>
                </a:r>
                <a:r>
                  <a:rPr lang="en-US" b="1">
                    <a:solidFill>
                      <a:srgbClr val="0070C0"/>
                    </a:solidFill>
                  </a:rPr>
                  <a:t>Conservativeness?</a:t>
                </a:r>
              </a:p>
              <a:p>
                <a:endParaRPr lang="en-US" b="1"/>
              </a:p>
              <a:p>
                <a:r>
                  <a:rPr lang="en-US" b="1"/>
                  <a:t>OPTION 3: circular overbound: </a:t>
                </a:r>
                <a:r>
                  <a:rPr lang="en-US"/>
                  <a:t>it can describe the non-linearity, however its conservativeness has to be checked by polar plotting.</a:t>
                </a:r>
                <a:endParaRPr lang="en-US" b="1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4" name="Segnaposto testo 5">
                <a:extLst>
                  <a:ext uri="{FF2B5EF4-FFF2-40B4-BE49-F238E27FC236}">
                    <a16:creationId xmlns:a16="http://schemas.microsoft.com/office/drawing/2014/main" id="{03C6F7A6-1F5C-161F-7A87-7DD19D924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83" y="3428999"/>
                <a:ext cx="5766329" cy="3429001"/>
              </a:xfrm>
              <a:prstGeom prst="rect">
                <a:avLst/>
              </a:prstGeom>
              <a:blipFill>
                <a:blip r:embed="rId4"/>
                <a:stretch>
                  <a:fillRect l="-1905" t="-1066" r="-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581430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04079-F7F6-33B5-8956-82EF73FAB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9F8F06-2921-92AD-4614-5DD8DE3A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536037"/>
            <a:ext cx="11522075" cy="840083"/>
          </a:xfrm>
        </p:spPr>
        <p:txBody>
          <a:bodyPr anchor="ctr">
            <a:normAutofit/>
          </a:bodyPr>
          <a:lstStyle/>
          <a:p>
            <a:r>
              <a:rPr lang="en-US"/>
              <a:t>Stability Robustness to pitch-roll dynamics uncertain coupling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AC74B52-463B-94F1-BE2F-68F316E498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C526D3B-03D2-4B47-B87E-FB37B34FF9BC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7E2B7D9-AC1A-BAD6-97F0-5F1182CEC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94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56D82CC6-7DBB-F001-E278-56297D72A71F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E79FAC8F-408A-0F86-EC15-EDAB87EDE7BB}"/>
                  </a:ext>
                </a:extLst>
              </p:cNvPr>
              <p:cNvSpPr txBox="1"/>
              <p:nvPr/>
            </p:nvSpPr>
            <p:spPr>
              <a:xfrm>
                <a:off x="518615" y="1313798"/>
                <a:ext cx="6537277" cy="1896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/>
                  <a:t>We define the coupling matric C:</a:t>
                </a:r>
              </a:p>
              <a:p>
                <a:endParaRPr lang="en-US" sz="2000"/>
              </a:p>
              <a:p>
                <a:r>
                  <a:rPr lang="en-US" sz="2000"/>
                  <a:t>                 C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 sz="2000"/>
                  <a:t>)=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osψ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sinψ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sinψ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cosψ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/>
                  <a:t>.</a:t>
                </a:r>
              </a:p>
              <a:p>
                <a:r>
                  <a:rPr lang="en-US" sz="2000"/>
                  <a:t> </a:t>
                </a:r>
              </a:p>
              <a:p>
                <a:r>
                  <a:rPr lang="en-US" sz="2000"/>
                  <a:t>Remark: C(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/>
                  <a:t>)=I : no coupling.</a:t>
                </a: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E79FAC8F-408A-0F86-EC15-EDAB87EDE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15" y="1313798"/>
                <a:ext cx="6537277" cy="1896353"/>
              </a:xfrm>
              <a:prstGeom prst="rect">
                <a:avLst/>
              </a:prstGeom>
              <a:blipFill>
                <a:blip r:embed="rId2"/>
                <a:stretch>
                  <a:fillRect l="-933" t="-1608" b="-5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magine 13" descr="Immagine che contiene testo, schermata, Biglietto Post-it, Rettangolo&#10;&#10;Il contenuto generato dall'IA potrebbe non essere corretto.">
            <a:extLst>
              <a:ext uri="{FF2B5EF4-FFF2-40B4-BE49-F238E27FC236}">
                <a16:creationId xmlns:a16="http://schemas.microsoft.com/office/drawing/2014/main" id="{05217FD7-6CF7-7829-B5C9-FD39CBAD91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822" y="1594968"/>
            <a:ext cx="6288595" cy="48412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testo 5">
                <a:extLst>
                  <a:ext uri="{FF2B5EF4-FFF2-40B4-BE49-F238E27FC236}">
                    <a16:creationId xmlns:a16="http://schemas.microsoft.com/office/drawing/2014/main" id="{B60FF4E0-49B2-D86C-21EA-455B3AF84C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3583" y="3428999"/>
                <a:ext cx="5766329" cy="3429001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/>
                  <a:t> is argument of non-linear functions 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 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mtClean="0"/>
                          <m:t>0.</m:t>
                        </m:r>
                        <m:r>
                          <m:rPr>
                            <m:nor/>
                          </m:rPr>
                          <a:rPr lang="en-US" smtClean="0"/>
                          <m:t>2618 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, </m:t>
                        </m:r>
                        <m:r>
                          <m:rPr>
                            <m:nor/>
                          </m:rPr>
                          <a:rPr lang="en-US" smtClean="0"/>
                          <m:t>0.</m:t>
                        </m:r>
                        <m:r>
                          <m:rPr>
                            <m:nor/>
                          </m:rPr>
                          <a:rPr lang="en-US" smtClean="0"/>
                          <m:t>2618</m:t>
                        </m:r>
                      </m:e>
                    </m:d>
                  </m:oMath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mtClean="0">
                          <a:latin typeface="Cambria Math" panose="02040503050406030204" pitchFamily="18" charset="0"/>
                        </a:rPr>
                        <m:t> </m:t>
                      </m:r>
                    </m:oMath>
                  </m:oMathPara>
                </a14:m>
                <a:endParaRPr lang="en-US"/>
              </a:p>
              <a:p>
                <a:r>
                  <a:rPr lang="en-US"/>
                  <a:t>Choice of modeling model uncertainty, e.g.:</a:t>
                </a:r>
              </a:p>
              <a:p>
                <a:pPr marL="285750" indent="-285750">
                  <a:buFontTx/>
                  <a:buChar char="-"/>
                </a:pPr>
                <a:endParaRPr lang="en-US"/>
              </a:p>
              <a:p>
                <a:r>
                  <a:rPr lang="en-US" b="1">
                    <a:solidFill>
                      <a:schemeClr val="bg1">
                        <a:lumMod val="65000"/>
                      </a:schemeClr>
                    </a:solidFill>
                  </a:rPr>
                  <a:t>OPTION 1: </a:t>
                </a:r>
                <a:r>
                  <a:rPr lang="en-US">
                    <a:solidFill>
                      <a:schemeClr val="bg1">
                        <a:lumMod val="65000"/>
                      </a:schemeClr>
                    </a:solidFill>
                  </a:rPr>
                  <a:t> model two independent uncertainties c=cos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 b="1">
                    <a:solidFill>
                      <a:schemeClr val="bg1">
                        <a:lumMod val="65000"/>
                      </a:schemeClr>
                    </a:solidFill>
                  </a:rPr>
                  <a:t>, </a:t>
                </a:r>
                <a:r>
                  <a:rPr lang="en-US">
                    <a:solidFill>
                      <a:schemeClr val="bg1">
                        <a:lumMod val="65000"/>
                      </a:schemeClr>
                    </a:solidFill>
                  </a:rPr>
                  <a:t>s=sin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1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 b="1">
                    <a:solidFill>
                      <a:schemeClr val="bg1">
                        <a:lumMod val="65000"/>
                      </a:schemeClr>
                    </a:solidFill>
                  </a:rPr>
                  <a:t>, </a:t>
                </a:r>
                <a:r>
                  <a:rPr lang="en-US">
                    <a:solidFill>
                      <a:schemeClr val="bg1">
                        <a:lumMod val="65000"/>
                      </a:schemeClr>
                    </a:solidFill>
                  </a:rPr>
                  <a:t>both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∈[−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b="1">
                    <a:solidFill>
                      <a:schemeClr val="bg1">
                        <a:lumMod val="65000"/>
                      </a:schemeClr>
                    </a:solidFill>
                  </a:rPr>
                  <a:t> -&gt; Pull out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1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1" i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b="1" i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1" i="0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1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b="1">
                    <a:solidFill>
                      <a:schemeClr val="bg1">
                        <a:lumMod val="65000"/>
                      </a:schemeClr>
                    </a:solidFill>
                  </a:rPr>
                  <a:t> form. Most conservative</a:t>
                </a:r>
              </a:p>
              <a:p>
                <a:endParaRPr lang="en-US" b="1"/>
              </a:p>
              <a:p>
                <a:r>
                  <a:rPr lang="en-US" b="1"/>
                  <a:t>OPTION 2: 1</a:t>
                </a:r>
                <a:r>
                  <a:rPr lang="en-US" b="1" baseline="30000"/>
                  <a:t>st</a:t>
                </a:r>
                <a:r>
                  <a:rPr lang="en-US" b="1"/>
                  <a:t> order Taylor to linearize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/>
                  <a:t> -&gt; Pull out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1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b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1" i="1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b="1"/>
                  <a:t> form. </a:t>
                </a:r>
                <a:r>
                  <a:rPr lang="en-US" b="1">
                    <a:solidFill>
                      <a:srgbClr val="0070C0"/>
                    </a:solidFill>
                  </a:rPr>
                  <a:t>Conservativeness?</a:t>
                </a:r>
              </a:p>
              <a:p>
                <a:endParaRPr lang="en-US" b="1"/>
              </a:p>
              <a:p>
                <a:r>
                  <a:rPr lang="en-US" b="1">
                    <a:solidFill>
                      <a:schemeClr val="bg1">
                        <a:lumMod val="65000"/>
                      </a:schemeClr>
                    </a:solidFill>
                  </a:rPr>
                  <a:t>OPTION 3: circular overbound: </a:t>
                </a:r>
                <a:r>
                  <a:rPr lang="en-US">
                    <a:solidFill>
                      <a:schemeClr val="bg1">
                        <a:lumMod val="65000"/>
                      </a:schemeClr>
                    </a:solidFill>
                  </a:rPr>
                  <a:t>it can describe the non-linearity, however its conservativeness has to be checked by polar plotting.</a:t>
                </a:r>
                <a:endParaRPr lang="en-US" b="1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4" name="Segnaposto testo 5">
                <a:extLst>
                  <a:ext uri="{FF2B5EF4-FFF2-40B4-BE49-F238E27FC236}">
                    <a16:creationId xmlns:a16="http://schemas.microsoft.com/office/drawing/2014/main" id="{B60FF4E0-49B2-D86C-21EA-455B3AF84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83" y="3428999"/>
                <a:ext cx="5766329" cy="3429001"/>
              </a:xfrm>
              <a:prstGeom prst="rect">
                <a:avLst/>
              </a:prstGeom>
              <a:blipFill>
                <a:blip r:embed="rId4"/>
                <a:stretch>
                  <a:fillRect l="-1905" t="-1066" r="-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ttangolo 5">
            <a:extLst>
              <a:ext uri="{FF2B5EF4-FFF2-40B4-BE49-F238E27FC236}">
                <a16:creationId xmlns:a16="http://schemas.microsoft.com/office/drawing/2014/main" id="{B39DA7DF-6F71-BD8B-A143-B7751DAA8219}"/>
              </a:ext>
            </a:extLst>
          </p:cNvPr>
          <p:cNvSpPr/>
          <p:nvPr/>
        </p:nvSpPr>
        <p:spPr>
          <a:xfrm>
            <a:off x="71792" y="5400676"/>
            <a:ext cx="5759822" cy="700087"/>
          </a:xfrm>
          <a:prstGeom prst="rect">
            <a:avLst/>
          </a:prstGeom>
          <a:solidFill>
            <a:srgbClr val="92D050">
              <a:alpha val="14114"/>
            </a:srgbClr>
          </a:solidFill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22632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1532E-C427-C12B-79A6-4F2A51894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23B049-8396-6786-20D9-67A739958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536037"/>
            <a:ext cx="11522075" cy="840083"/>
          </a:xfrm>
        </p:spPr>
        <p:txBody>
          <a:bodyPr anchor="ctr">
            <a:normAutofit/>
          </a:bodyPr>
          <a:lstStyle/>
          <a:p>
            <a:r>
              <a:rPr lang="en-US"/>
              <a:t>Stability Robustness to pitch-roll dynamics</a:t>
            </a:r>
            <a:br>
              <a:rPr lang="en-US"/>
            </a:br>
            <a:r>
              <a:rPr lang="en-US"/>
              <a:t> uncertain coupling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C4D6B6B-E400-3DF5-85E6-EB280CD44D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C526D3B-03D2-4B47-B87E-FB37B34FF9BC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E02B9D5-A4D2-408E-8DBF-1369FAD70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95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20D41525-92C9-9E46-EB5F-2E45004A3C54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A586D08C-E6B6-4793-8B4C-CFEAFA7FBDC3}"/>
                  </a:ext>
                </a:extLst>
              </p:cNvPr>
              <p:cNvSpPr txBox="1"/>
              <p:nvPr/>
            </p:nvSpPr>
            <p:spPr>
              <a:xfrm>
                <a:off x="658315" y="1961498"/>
                <a:ext cx="6537277" cy="4358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/>
                  <a:t>We define the coupling matrix C:</a:t>
                </a:r>
              </a:p>
              <a:p>
                <a:endParaRPr lang="en-US" sz="2000"/>
              </a:p>
              <a:p>
                <a:r>
                  <a:rPr lang="en-US" sz="2000"/>
                  <a:t>                 C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 sz="2000"/>
                  <a:t>)=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osψ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sinψ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sinψ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cosψ</m:t>
                              </m:r>
                            </m:e>
                          </m:mr>
                        </m:m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2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</m:groupCh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/>
                  <a:t> C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≃</m:t>
                    </m:r>
                  </m:oMath>
                </a14:m>
                <a:r>
                  <a:rPr lang="en-US" sz="200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/>
              </a:p>
              <a:p>
                <a:endParaRPr lang="en-US" sz="2000"/>
              </a:p>
              <a:p>
                <a:pPr marL="342900" indent="-342900">
                  <a:buFontTx/>
                  <a:buChar char="-"/>
                </a:pPr>
                <a:r>
                  <a:rPr lang="en-US" sz="2000"/>
                  <a:t>Conservativeness: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/>
                  <a:t>[-15°,+15°]: </a:t>
                </a:r>
              </a:p>
              <a:p>
                <a:pPr marL="342900" indent="-342900">
                  <a:buFontTx/>
                  <a:buChar char="-"/>
                </a:pPr>
                <a:endParaRPr lang="en-US" sz="2000"/>
              </a:p>
              <a:p>
                <a:pPr marL="800100" lvl="1" indent="-342900">
                  <a:buFontTx/>
                  <a:buChar char="-"/>
                </a:pPr>
                <a:r>
                  <a:rPr lang="en-US" sz="2000"/>
                  <a:t>|1| &gt;|cos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 sz="2000"/>
                  <a:t>|</a:t>
                </a:r>
              </a:p>
              <a:p>
                <a:pPr marL="800100" lvl="1" indent="-342900">
                  <a:buFontTx/>
                  <a:buChar char="-"/>
                </a:pPr>
                <a:r>
                  <a:rPr lang="en-US" sz="2000"/>
                  <a:t>|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 sz="2000"/>
                  <a:t>|&gt;|sin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 sz="2000"/>
                  <a:t>|</a:t>
                </a:r>
              </a:p>
              <a:p>
                <a:pPr marL="800100" lvl="1" indent="-342900">
                  <a:buFontTx/>
                  <a:buChar char="-"/>
                </a:pPr>
                <a:endParaRPr lang="en-US" sz="2000"/>
              </a:p>
              <a:p>
                <a:pPr lvl="1"/>
                <a:r>
                  <a:rPr lang="en-US" sz="2000"/>
                  <a:t>Therefore we do not loose possible values of the uncertain parameters, but only add conservativeness</a:t>
                </a:r>
              </a:p>
              <a:p>
                <a:pPr lvl="1"/>
                <a:endParaRPr lang="en-US" sz="200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A586D08C-E6B6-4793-8B4C-CFEAFA7FB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15" y="1961498"/>
                <a:ext cx="6537277" cy="4358565"/>
              </a:xfrm>
              <a:prstGeom prst="rect">
                <a:avLst/>
              </a:prstGeom>
              <a:blipFill>
                <a:blip r:embed="rId2"/>
                <a:stretch>
                  <a:fillRect l="-1026" t="-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magine 7" descr="Immagine che contiene linea, Diagramma, diagramma, Parallelo&#10;&#10;Il contenuto generato dall'IA potrebbe non essere corretto.">
            <a:extLst>
              <a:ext uri="{FF2B5EF4-FFF2-40B4-BE49-F238E27FC236}">
                <a16:creationId xmlns:a16="http://schemas.microsoft.com/office/drawing/2014/main" id="{D7A88B6D-8967-B35B-C26A-5DF50EF18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215" y="536037"/>
            <a:ext cx="3713821" cy="3564227"/>
          </a:xfrm>
          <a:prstGeom prst="rect">
            <a:avLst/>
          </a:prstGeom>
        </p:spPr>
      </p:pic>
      <p:pic>
        <p:nvPicPr>
          <p:cNvPr id="12" name="Immagine 11" descr="Immagine che contiene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492C5FEC-CBE5-0BDD-EE31-E16AE3E19D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100" y="4197346"/>
            <a:ext cx="4432289" cy="251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17071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97E1E-9EA3-BB68-29E1-782BC8327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382532-8A25-E7E9-BFA8-86C346CA3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536037"/>
            <a:ext cx="11522075" cy="840083"/>
          </a:xfrm>
        </p:spPr>
        <p:txBody>
          <a:bodyPr anchor="ctr">
            <a:normAutofit/>
          </a:bodyPr>
          <a:lstStyle/>
          <a:p>
            <a:r>
              <a:rPr lang="en-US"/>
              <a:t>Stability Robustness to pitch-roll dynamics. uncertain coupling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63F0499-F5E6-BDB8-36C2-CFAD600486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C526D3B-03D2-4B47-B87E-FB37B34FF9BC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EDB5016-6E29-ED9A-E93F-DB9B743BB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96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BA50367-63C1-0863-E7CA-DA214F9F3C43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66C272EA-AFAB-5CF5-4BF0-378CDD57305C}"/>
                  </a:ext>
                </a:extLst>
              </p:cNvPr>
              <p:cNvSpPr txBox="1"/>
              <p:nvPr/>
            </p:nvSpPr>
            <p:spPr>
              <a:xfrm>
                <a:off x="797211" y="1438093"/>
                <a:ext cx="10359752" cy="3564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/>
                  <a:t>Model multiplicative scalar uncertainty:</a:t>
                </a:r>
              </a:p>
              <a:p>
                <a:endParaRPr lang="en-US" sz="2000"/>
              </a:p>
              <a:p>
                <a:r>
                  <a:rPr lang="en-US" sz="2000" err="1"/>
                  <a:t>Adimensionalize</a:t>
                </a:r>
                <a:r>
                  <a:rPr lang="en-US" sz="2000"/>
                  <a:t> the uncertainty: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𝜓</m:t>
                        </m:r>
                      </m:sub>
                    </m:sSub>
                  </m:oMath>
                </a14:m>
                <a:endParaRPr lang="en-US" sz="2000" i="1"/>
              </a:p>
              <a:p>
                <a:r>
                  <a:rPr lang="en-US" sz="2000" i="1"/>
                  <a:t>With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2000"/>
                  <a:t>=15°,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𝜓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000"/>
                  <a:t>[-1,+1], </a:t>
                </a:r>
                <a:r>
                  <a:rPr lang="en-US" sz="2000" err="1"/>
                  <a:t>s.t.</a:t>
                </a:r>
                <a:r>
                  <a:rPr lang="en-US" sz="2000"/>
                  <a:t>:</a:t>
                </a:r>
              </a:p>
              <a:p>
                <a:r>
                  <a:rPr lang="en-US" sz="2000"/>
                  <a:t>             </a:t>
                </a:r>
                <a:endParaRPr lang="en-US" sz="2000" b="0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2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</m:groupCh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/>
                  <a:t> C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≃</m:t>
                    </m:r>
                  </m:oMath>
                </a14:m>
                <a:r>
                  <a:rPr lang="en-US" sz="200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/>
                  <a:t>+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nor/>
                      </m:rPr>
                      <a:rPr lang="en-US" sz="2000" dirty="0" smtClean="0"/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nor/>
                      </m:rPr>
                      <a:rPr lang="en-US" sz="2000" dirty="0" smtClean="0"/>
                      <m:t>+ </m:t>
                    </m:r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𝜓</m:t>
                        </m:r>
                      </m:sub>
                    </m:sSub>
                  </m:oMath>
                </a14:m>
                <a:endParaRPr lang="en-US" sz="2000"/>
              </a:p>
              <a:p>
                <a:r>
                  <a:rPr lang="en-US" sz="200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nor/>
                      </m:rPr>
                      <a:rPr lang="en-US" sz="2000" dirty="0" smtClean="0"/>
                      <m:t>+ </m:t>
                    </m:r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𝜓</m:t>
                        </m:r>
                      </m:sub>
                    </m:sSub>
                  </m:oMath>
                </a14:m>
                <a:r>
                  <a:rPr lang="en-US" sz="200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nor/>
                      </m:rPr>
                      <a:rPr lang="en-US" sz="2000" dirty="0" smtClean="0"/>
                      <m:t>+ </m:t>
                    </m:r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/>
                  <a:t>=</a:t>
                </a:r>
                <a:r>
                  <a:rPr lang="en-US" sz="2000" b="1"/>
                  <a:t> 1 </a:t>
                </a:r>
                <a:r>
                  <a:rPr lang="en-US" sz="200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endParaRPr lang="en-US" sz="2000"/>
              </a:p>
              <a:p>
                <a:endParaRPr lang="en-US" sz="2000"/>
              </a:p>
              <a:p>
                <a:pPr lvl="1"/>
                <a:endParaRPr lang="en-US" sz="200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66C272EA-AFAB-5CF5-4BF0-378CDD573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211" y="1438093"/>
                <a:ext cx="10359752" cy="3564630"/>
              </a:xfrm>
              <a:prstGeom prst="rect">
                <a:avLst/>
              </a:prstGeom>
              <a:blipFill>
                <a:blip r:embed="rId2"/>
                <a:stretch>
                  <a:fillRect l="-647" t="-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 descr="Immagine che contiene testo, schermata, Biglietto Post-it, Rettangolo&#10;&#10;Il contenuto generato dall'IA potrebbe non essere corretto.">
            <a:extLst>
              <a:ext uri="{FF2B5EF4-FFF2-40B4-BE49-F238E27FC236}">
                <a16:creationId xmlns:a16="http://schemas.microsoft.com/office/drawing/2014/main" id="{829BCC48-3942-CE60-0DE2-558F9C7349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31" t="45232" r="26141" b="39486"/>
          <a:stretch>
            <a:fillRect/>
          </a:stretch>
        </p:blipFill>
        <p:spPr>
          <a:xfrm>
            <a:off x="1385049" y="4864333"/>
            <a:ext cx="2666425" cy="1316547"/>
          </a:xfrm>
          <a:prstGeom prst="rect">
            <a:avLst/>
          </a:prstGeom>
        </p:spPr>
      </p:pic>
      <p:cxnSp>
        <p:nvCxnSpPr>
          <p:cNvPr id="15" name="Connettore diritto a freccia 14">
            <a:extLst>
              <a:ext uri="{FF2B5EF4-FFF2-40B4-BE49-F238E27FC236}">
                <a16:creationId xmlns:a16="http://schemas.microsoft.com/office/drawing/2014/main" id="{6511A67F-F89E-4BEE-F6A9-179BEDF417F1}"/>
              </a:ext>
            </a:extLst>
          </p:cNvPr>
          <p:cNvCxnSpPr/>
          <p:nvPr/>
        </p:nvCxnSpPr>
        <p:spPr>
          <a:xfrm>
            <a:off x="4340506" y="5522606"/>
            <a:ext cx="14931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magine 15" descr="Immagine che contiene testo, schermata, Biglietto Post-it, Rettangolo&#10;&#10;Il contenuto generato dall'IA potrebbe non essere corretto.">
            <a:extLst>
              <a:ext uri="{FF2B5EF4-FFF2-40B4-BE49-F238E27FC236}">
                <a16:creationId xmlns:a16="http://schemas.microsoft.com/office/drawing/2014/main" id="{7D575658-D077-F7A5-AED8-A856866419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74" t="45640" r="26744" b="39643"/>
          <a:stretch>
            <a:fillRect/>
          </a:stretch>
        </p:blipFill>
        <p:spPr>
          <a:xfrm>
            <a:off x="6346079" y="4691332"/>
            <a:ext cx="3886200" cy="166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90722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F7EF7-444D-26A4-0AFC-FDBCD17CF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68AC87-7B55-33A9-BAE9-5D4320C86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536037"/>
            <a:ext cx="11522075" cy="840083"/>
          </a:xfrm>
        </p:spPr>
        <p:txBody>
          <a:bodyPr anchor="ctr">
            <a:normAutofit/>
          </a:bodyPr>
          <a:lstStyle/>
          <a:p>
            <a:r>
              <a:rPr lang="en-US"/>
              <a:t>Stability Robustness to pitch-roll dynamics. uncertain coupling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6407F4C-8C15-DDC8-E7C4-D531F1BECA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C526D3B-03D2-4B47-B87E-FB37B34FF9BC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3DD2924-D220-BFBB-759A-82DAE13D7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97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00F698CD-F215-F301-B74E-92BAAEFFD0B4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5631E98-3118-9B59-04FE-4EB2B9CF4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262" y="1256015"/>
            <a:ext cx="6414018" cy="493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15401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27142-15AA-392B-0759-3A2DB256B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C97F17-4E50-AF50-410D-CDD5E0CD6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536037"/>
            <a:ext cx="11522075" cy="840083"/>
          </a:xfrm>
        </p:spPr>
        <p:txBody>
          <a:bodyPr anchor="ctr">
            <a:normAutofit/>
          </a:bodyPr>
          <a:lstStyle/>
          <a:p>
            <a:r>
              <a:rPr lang="en-US"/>
              <a:t>Stability Robustness to pitch-roll dynamics uncertain coupling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C156323-14FD-F7EF-5868-F6086B67F9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C526D3B-03D2-4B47-B87E-FB37B34FF9BC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49B10E9-AB25-5375-D044-0FCEA08B6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98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78ED7CF3-513F-236D-0D6D-AF4F185D79B4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79D22A08-41AC-16F1-8AF7-599BEC7CECC2}"/>
                  </a:ext>
                </a:extLst>
              </p:cNvPr>
              <p:cNvSpPr txBox="1"/>
              <p:nvPr/>
            </p:nvSpPr>
            <p:spPr>
              <a:xfrm>
                <a:off x="462987" y="1574157"/>
                <a:ext cx="60869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Define coupling blocks in their new multiplicative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/>
                  <a:t> form:</a:t>
                </a:r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79D22A08-41AC-16F1-8AF7-599BEC7CE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87" y="1574157"/>
                <a:ext cx="6086923" cy="369332"/>
              </a:xfrm>
              <a:prstGeom prst="rect">
                <a:avLst/>
              </a:prstGeom>
              <a:blipFill>
                <a:blip r:embed="rId2"/>
                <a:stretch>
                  <a:fillRect l="-902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Immagine 15" descr="Immagine che contiene testo, schermata, Biglietto Post-it, Rettangolo&#10;&#10;Il contenuto generato dall'IA potrebbe non essere corretto.">
            <a:extLst>
              <a:ext uri="{FF2B5EF4-FFF2-40B4-BE49-F238E27FC236}">
                <a16:creationId xmlns:a16="http://schemas.microsoft.com/office/drawing/2014/main" id="{9A662257-378E-0D27-8629-FA4D069A66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74" t="45640" r="26744" b="39643"/>
          <a:stretch>
            <a:fillRect/>
          </a:stretch>
        </p:blipFill>
        <p:spPr>
          <a:xfrm>
            <a:off x="8107364" y="3054925"/>
            <a:ext cx="3886200" cy="166254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930D98B-5410-4132-4529-EDE652D9E2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87" y="2321831"/>
            <a:ext cx="7363753" cy="349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52824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981E8-8ECB-F57C-F403-40ADC888D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00C80D-2767-DD47-4663-DC52C1525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536037"/>
            <a:ext cx="11522075" cy="840083"/>
          </a:xfrm>
        </p:spPr>
        <p:txBody>
          <a:bodyPr anchor="ctr">
            <a:normAutofit/>
          </a:bodyPr>
          <a:lstStyle/>
          <a:p>
            <a:r>
              <a:rPr lang="en-US"/>
              <a:t>Stability Robustness to pitch-roll dynamics uncertain coupling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301C7B2-25DA-619F-ED60-93EB86F38D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964" y="39688"/>
            <a:ext cx="2383298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6C526D3B-03D2-4B47-B87E-FB37B34FF9BC}" type="datetime1">
              <a:rPr lang="en-US" smtClean="0"/>
              <a:pPr>
                <a:spcAft>
                  <a:spcPts val="600"/>
                </a:spcAft>
              </a:pPr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0025494-C798-FE28-29C3-6023AFCC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4538" y="39688"/>
            <a:ext cx="10425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3135EEA2-8D42-4D46-95A6-66E65FDC5EB1}" type="slidenum">
              <a:rPr lang="en-US" smtClean="0"/>
              <a:pPr>
                <a:spcAft>
                  <a:spcPts val="600"/>
                </a:spcAft>
              </a:pPr>
              <a:t>99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070E9EDF-CB7C-72EA-3F51-BE26BE013538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0CDB2BA4-4A52-4449-EFB1-C5BC191FA7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07" y="1810286"/>
            <a:ext cx="7772400" cy="781979"/>
          </a:xfrm>
          <a:prstGeom prst="rect">
            <a:avLst/>
          </a:prstGeom>
        </p:spPr>
      </p:pic>
      <p:pic>
        <p:nvPicPr>
          <p:cNvPr id="12" name="Immagine 11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DA7504A1-E76F-CF9C-1560-54D13BE64E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07" y="3429000"/>
            <a:ext cx="7772400" cy="2280196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E0718D60-4435-DCDD-5F39-66ED09C3B598}"/>
              </a:ext>
            </a:extLst>
          </p:cNvPr>
          <p:cNvSpPr/>
          <p:nvPr/>
        </p:nvSpPr>
        <p:spPr>
          <a:xfrm>
            <a:off x="7349924" y="2010567"/>
            <a:ext cx="810228" cy="486137"/>
          </a:xfrm>
          <a:prstGeom prst="rect">
            <a:avLst/>
          </a:prstGeom>
          <a:solidFill>
            <a:schemeClr val="tx2">
              <a:lumMod val="10000"/>
              <a:lumOff val="90000"/>
              <a:alpha val="32815"/>
            </a:schemeClr>
          </a:solidFill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F36835E-D047-5DDD-82C3-8E5EF27B5FD5}"/>
              </a:ext>
            </a:extLst>
          </p:cNvPr>
          <p:cNvSpPr txBox="1"/>
          <p:nvPr/>
        </p:nvSpPr>
        <p:spPr>
          <a:xfrm>
            <a:off x="334961" y="1313873"/>
            <a:ext cx="3621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Redefine inputs of the 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665016A1-466B-5F7F-C07B-8E246C9811BD}"/>
                  </a:ext>
                </a:extLst>
              </p:cNvPr>
              <p:cNvSpPr txBox="1"/>
              <p:nvPr/>
            </p:nvSpPr>
            <p:spPr>
              <a:xfrm>
                <a:off x="334961" y="2916030"/>
                <a:ext cx="36182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Connect to build M for M-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/>
                  <a:t> form: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665016A1-466B-5F7F-C07B-8E246C981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1" y="2916030"/>
                <a:ext cx="3618298" cy="369332"/>
              </a:xfrm>
              <a:prstGeom prst="rect">
                <a:avLst/>
              </a:prstGeom>
              <a:blipFill>
                <a:blip r:embed="rId4"/>
                <a:stretch>
                  <a:fillRect l="-1515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magine 12" descr="Immagine che contiene schermata, Rettangolo, quadrato, design&#10;&#10;Il contenuto generato dall'IA potrebbe non essere corretto.">
            <a:extLst>
              <a:ext uri="{FF2B5EF4-FFF2-40B4-BE49-F238E27FC236}">
                <a16:creationId xmlns:a16="http://schemas.microsoft.com/office/drawing/2014/main" id="{5F435CC0-16B9-5AC8-CAEB-737EB794BE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4135" y="3864248"/>
            <a:ext cx="3336288" cy="14096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5902321E-026C-9208-C666-0233FEFAC534}"/>
                  </a:ext>
                </a:extLst>
              </p:cNvPr>
              <p:cNvSpPr txBox="1"/>
              <p:nvPr/>
            </p:nvSpPr>
            <p:spPr>
              <a:xfrm>
                <a:off x="4030001" y="6137297"/>
                <a:ext cx="52677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/>
                  <a:t> is diagonal, real. -&gt; structured real uncertainty</a:t>
                </a:r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5902321E-026C-9208-C666-0233FEFAC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0001" y="6137297"/>
                <a:ext cx="5267789" cy="369332"/>
              </a:xfrm>
              <a:prstGeom prst="rect">
                <a:avLst/>
              </a:prstGeom>
              <a:blipFill>
                <a:blip r:embed="rId6"/>
                <a:stretch>
                  <a:fillRect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555D6B9-29F5-20EF-310A-36D73F36A143}"/>
              </a:ext>
            </a:extLst>
          </p:cNvPr>
          <p:cNvSpPr txBox="1"/>
          <p:nvPr/>
        </p:nvSpPr>
        <p:spPr>
          <a:xfrm>
            <a:off x="9857817" y="3553678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12x12</a:t>
            </a:r>
          </a:p>
        </p:txBody>
      </p:sp>
    </p:spTree>
    <p:extLst>
      <p:ext uri="{BB962C8B-B14F-4D97-AF65-F5344CB8AC3E}">
        <p14:creationId xmlns:p14="http://schemas.microsoft.com/office/powerpoint/2010/main" val="333601302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A582A-287F-F8C6-D70F-DBD8C9B86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32A88D7-4D6A-AAD4-2267-4BE1FB50B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0DB70B7-6A3F-AB40-4B7B-AA5518A41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100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531922D1-880B-D8CA-7DFF-9266C54FC7C7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EA292E44-9E17-ACD1-2D4D-223375F8F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4: RS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89F7C00-EAE0-8401-062C-31DE32B0F706}"/>
              </a:ext>
            </a:extLst>
          </p:cNvPr>
          <p:cNvSpPr txBox="1"/>
          <p:nvPr/>
        </p:nvSpPr>
        <p:spPr>
          <a:xfrm>
            <a:off x="3287218" y="1477116"/>
            <a:ext cx="2946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Hierarchy of RS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D41B5A9C-3C50-6BBC-C60B-3BD7A20B2E11}"/>
                  </a:ext>
                </a:extLst>
              </p:cNvPr>
              <p:cNvSpPr txBox="1"/>
              <p:nvPr/>
            </p:nvSpPr>
            <p:spPr>
              <a:xfrm>
                <a:off x="4270840" y="2205681"/>
                <a:ext cx="6568145" cy="4458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latin typeface="Cambria Math" panose="02040503050406030204" pitchFamily="18" charset="0"/>
                        </a:rPr>
                        <m:t>jω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)) ≤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̅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jω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m:rPr>
                          <m:sty m:val="p"/>
                        </m:rPr>
                        <a:rPr lang="en-US" sz="2000" b="0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latin typeface="Cambria Math" panose="02040503050406030204" pitchFamily="18" charset="0"/>
                        </a:rPr>
                        <m:t>jω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i="1" smtClean="0">
                          <a:latin typeface="Cambria Math" panose="02040503050406030204" pitchFamily="18" charset="0"/>
                        </a:rPr>
                        <m:t>jω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))≤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latin typeface="Cambria Math" panose="02040503050406030204" pitchFamily="18" charset="0"/>
                        </a:rPr>
                        <m:t>μ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latin typeface="Cambria Math" panose="02040503050406030204" pitchFamily="18" charset="0"/>
                        </a:rPr>
                        <m:t>jω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))    ∀ 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D41B5A9C-3C50-6BBC-C60B-3BD7A20B2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0840" y="2205681"/>
                <a:ext cx="6568145" cy="445891"/>
              </a:xfrm>
              <a:prstGeom prst="rect">
                <a:avLst/>
              </a:prstGeom>
              <a:blipFill>
                <a:blip r:embed="rId3"/>
                <a:stretch>
                  <a:fillRect l="-1114" r="-743" b="-19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olo 1">
            <a:extLst>
              <a:ext uri="{FF2B5EF4-FFF2-40B4-BE49-F238E27FC236}">
                <a16:creationId xmlns:a16="http://schemas.microsoft.com/office/drawing/2014/main" id="{D047BC54-2977-5762-C44F-C0D002EF12DB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Stability Robustness to pitch-roll dynamics. uncertain 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24557651-1D47-A64B-EC5B-7CDA4C8F0F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Unstructured RS condition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Scalings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Structured singular values: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noProof="0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noProof="0"/>
                  <a:t>-analysis.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endParaRPr lang="en-US" noProof="0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noProof="0"/>
              </a:p>
            </p:txBody>
          </p:sp>
        </mc:Choice>
        <mc:Fallback xmlns="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24557651-1D47-A64B-EC5B-7CDA4C8F0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4"/>
                <a:stretch>
                  <a:fillRect l="-4604" t="-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nettore diritto a freccia 13">
            <a:extLst>
              <a:ext uri="{FF2B5EF4-FFF2-40B4-BE49-F238E27FC236}">
                <a16:creationId xmlns:a16="http://schemas.microsoft.com/office/drawing/2014/main" id="{7F30CDDE-C214-3DCE-B4C2-F92E00B03DB5}"/>
              </a:ext>
            </a:extLst>
          </p:cNvPr>
          <p:cNvCxnSpPr>
            <a:cxnSpLocks/>
          </p:cNvCxnSpPr>
          <p:nvPr/>
        </p:nvCxnSpPr>
        <p:spPr>
          <a:xfrm flipH="1">
            <a:off x="5214551" y="3404286"/>
            <a:ext cx="5017728" cy="0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tangolo 15">
            <a:extLst>
              <a:ext uri="{FF2B5EF4-FFF2-40B4-BE49-F238E27FC236}">
                <a16:creationId xmlns:a16="http://schemas.microsoft.com/office/drawing/2014/main" id="{0E6A2BFB-E054-1981-7D5D-24EA6E89D082}"/>
              </a:ext>
            </a:extLst>
          </p:cNvPr>
          <p:cNvSpPr/>
          <p:nvPr/>
        </p:nvSpPr>
        <p:spPr>
          <a:xfrm>
            <a:off x="4176584" y="2060575"/>
            <a:ext cx="6796216" cy="707339"/>
          </a:xfrm>
          <a:prstGeom prst="rect">
            <a:avLst/>
          </a:prstGeom>
          <a:solidFill>
            <a:schemeClr val="tx2">
              <a:lumMod val="10000"/>
              <a:lumOff val="90000"/>
              <a:alpha val="27214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796216"/>
                      <a:gd name="connsiteY0" fmla="*/ 0 h 707339"/>
                      <a:gd name="connsiteX1" fmla="*/ 475735 w 6796216"/>
                      <a:gd name="connsiteY1" fmla="*/ 0 h 707339"/>
                      <a:gd name="connsiteX2" fmla="*/ 1291281 w 6796216"/>
                      <a:gd name="connsiteY2" fmla="*/ 0 h 707339"/>
                      <a:gd name="connsiteX3" fmla="*/ 2038865 w 6796216"/>
                      <a:gd name="connsiteY3" fmla="*/ 0 h 707339"/>
                      <a:gd name="connsiteX4" fmla="*/ 2514600 w 6796216"/>
                      <a:gd name="connsiteY4" fmla="*/ 0 h 707339"/>
                      <a:gd name="connsiteX5" fmla="*/ 3126259 w 6796216"/>
                      <a:gd name="connsiteY5" fmla="*/ 0 h 707339"/>
                      <a:gd name="connsiteX6" fmla="*/ 3941805 w 6796216"/>
                      <a:gd name="connsiteY6" fmla="*/ 0 h 707339"/>
                      <a:gd name="connsiteX7" fmla="*/ 4621427 w 6796216"/>
                      <a:gd name="connsiteY7" fmla="*/ 0 h 707339"/>
                      <a:gd name="connsiteX8" fmla="*/ 5369011 w 6796216"/>
                      <a:gd name="connsiteY8" fmla="*/ 0 h 707339"/>
                      <a:gd name="connsiteX9" fmla="*/ 5980670 w 6796216"/>
                      <a:gd name="connsiteY9" fmla="*/ 0 h 707339"/>
                      <a:gd name="connsiteX10" fmla="*/ 6796216 w 6796216"/>
                      <a:gd name="connsiteY10" fmla="*/ 0 h 707339"/>
                      <a:gd name="connsiteX11" fmla="*/ 6796216 w 6796216"/>
                      <a:gd name="connsiteY11" fmla="*/ 367816 h 707339"/>
                      <a:gd name="connsiteX12" fmla="*/ 6796216 w 6796216"/>
                      <a:gd name="connsiteY12" fmla="*/ 707339 h 707339"/>
                      <a:gd name="connsiteX13" fmla="*/ 6320481 w 6796216"/>
                      <a:gd name="connsiteY13" fmla="*/ 707339 h 707339"/>
                      <a:gd name="connsiteX14" fmla="*/ 5844746 w 6796216"/>
                      <a:gd name="connsiteY14" fmla="*/ 707339 h 707339"/>
                      <a:gd name="connsiteX15" fmla="*/ 5097162 w 6796216"/>
                      <a:gd name="connsiteY15" fmla="*/ 707339 h 707339"/>
                      <a:gd name="connsiteX16" fmla="*/ 4621427 w 6796216"/>
                      <a:gd name="connsiteY16" fmla="*/ 707339 h 707339"/>
                      <a:gd name="connsiteX17" fmla="*/ 3941805 w 6796216"/>
                      <a:gd name="connsiteY17" fmla="*/ 707339 h 707339"/>
                      <a:gd name="connsiteX18" fmla="*/ 3398108 w 6796216"/>
                      <a:gd name="connsiteY18" fmla="*/ 707339 h 707339"/>
                      <a:gd name="connsiteX19" fmla="*/ 2718486 w 6796216"/>
                      <a:gd name="connsiteY19" fmla="*/ 707339 h 707339"/>
                      <a:gd name="connsiteX20" fmla="*/ 2038865 w 6796216"/>
                      <a:gd name="connsiteY20" fmla="*/ 707339 h 707339"/>
                      <a:gd name="connsiteX21" fmla="*/ 1359243 w 6796216"/>
                      <a:gd name="connsiteY21" fmla="*/ 707339 h 707339"/>
                      <a:gd name="connsiteX22" fmla="*/ 679622 w 6796216"/>
                      <a:gd name="connsiteY22" fmla="*/ 707339 h 707339"/>
                      <a:gd name="connsiteX23" fmla="*/ 0 w 6796216"/>
                      <a:gd name="connsiteY23" fmla="*/ 707339 h 707339"/>
                      <a:gd name="connsiteX24" fmla="*/ 0 w 6796216"/>
                      <a:gd name="connsiteY24" fmla="*/ 346596 h 707339"/>
                      <a:gd name="connsiteX25" fmla="*/ 0 w 6796216"/>
                      <a:gd name="connsiteY25" fmla="*/ 0 h 7073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6796216" h="707339" fill="none" extrusionOk="0">
                        <a:moveTo>
                          <a:pt x="0" y="0"/>
                        </a:moveTo>
                        <a:cubicBezTo>
                          <a:pt x="158482" y="13642"/>
                          <a:pt x="323873" y="11040"/>
                          <a:pt x="475735" y="0"/>
                        </a:cubicBezTo>
                        <a:cubicBezTo>
                          <a:pt x="627597" y="-11040"/>
                          <a:pt x="915688" y="15166"/>
                          <a:pt x="1291281" y="0"/>
                        </a:cubicBezTo>
                        <a:cubicBezTo>
                          <a:pt x="1666874" y="-15166"/>
                          <a:pt x="1842133" y="-8036"/>
                          <a:pt x="2038865" y="0"/>
                        </a:cubicBezTo>
                        <a:cubicBezTo>
                          <a:pt x="2235597" y="8036"/>
                          <a:pt x="2351084" y="-5965"/>
                          <a:pt x="2514600" y="0"/>
                        </a:cubicBezTo>
                        <a:cubicBezTo>
                          <a:pt x="2678117" y="5965"/>
                          <a:pt x="2906047" y="19441"/>
                          <a:pt x="3126259" y="0"/>
                        </a:cubicBezTo>
                        <a:cubicBezTo>
                          <a:pt x="3346471" y="-19441"/>
                          <a:pt x="3698246" y="16823"/>
                          <a:pt x="3941805" y="0"/>
                        </a:cubicBezTo>
                        <a:cubicBezTo>
                          <a:pt x="4185364" y="-16823"/>
                          <a:pt x="4300557" y="-22232"/>
                          <a:pt x="4621427" y="0"/>
                        </a:cubicBezTo>
                        <a:cubicBezTo>
                          <a:pt x="4942297" y="22232"/>
                          <a:pt x="5110142" y="-9604"/>
                          <a:pt x="5369011" y="0"/>
                        </a:cubicBezTo>
                        <a:cubicBezTo>
                          <a:pt x="5627880" y="9604"/>
                          <a:pt x="5700905" y="-25167"/>
                          <a:pt x="5980670" y="0"/>
                        </a:cubicBezTo>
                        <a:cubicBezTo>
                          <a:pt x="6260435" y="25167"/>
                          <a:pt x="6604054" y="-3449"/>
                          <a:pt x="6796216" y="0"/>
                        </a:cubicBezTo>
                        <a:cubicBezTo>
                          <a:pt x="6805476" y="155348"/>
                          <a:pt x="6799184" y="240493"/>
                          <a:pt x="6796216" y="367816"/>
                        </a:cubicBezTo>
                        <a:cubicBezTo>
                          <a:pt x="6793248" y="495139"/>
                          <a:pt x="6785142" y="633140"/>
                          <a:pt x="6796216" y="707339"/>
                        </a:cubicBezTo>
                        <a:cubicBezTo>
                          <a:pt x="6600114" y="699844"/>
                          <a:pt x="6524712" y="690755"/>
                          <a:pt x="6320481" y="707339"/>
                        </a:cubicBezTo>
                        <a:cubicBezTo>
                          <a:pt x="6116250" y="723923"/>
                          <a:pt x="5977022" y="698373"/>
                          <a:pt x="5844746" y="707339"/>
                        </a:cubicBezTo>
                        <a:cubicBezTo>
                          <a:pt x="5712470" y="716305"/>
                          <a:pt x="5451355" y="728589"/>
                          <a:pt x="5097162" y="707339"/>
                        </a:cubicBezTo>
                        <a:cubicBezTo>
                          <a:pt x="4742969" y="686089"/>
                          <a:pt x="4750118" y="725648"/>
                          <a:pt x="4621427" y="707339"/>
                        </a:cubicBezTo>
                        <a:cubicBezTo>
                          <a:pt x="4492736" y="689030"/>
                          <a:pt x="4163256" y="684237"/>
                          <a:pt x="3941805" y="707339"/>
                        </a:cubicBezTo>
                        <a:cubicBezTo>
                          <a:pt x="3720354" y="730441"/>
                          <a:pt x="3650163" y="733436"/>
                          <a:pt x="3398108" y="707339"/>
                        </a:cubicBezTo>
                        <a:cubicBezTo>
                          <a:pt x="3146053" y="681242"/>
                          <a:pt x="2938302" y="677643"/>
                          <a:pt x="2718486" y="707339"/>
                        </a:cubicBezTo>
                        <a:cubicBezTo>
                          <a:pt x="2498670" y="737035"/>
                          <a:pt x="2302616" y="684022"/>
                          <a:pt x="2038865" y="707339"/>
                        </a:cubicBezTo>
                        <a:cubicBezTo>
                          <a:pt x="1775114" y="730656"/>
                          <a:pt x="1534264" y="735197"/>
                          <a:pt x="1359243" y="707339"/>
                        </a:cubicBezTo>
                        <a:cubicBezTo>
                          <a:pt x="1184222" y="679481"/>
                          <a:pt x="995481" y="702819"/>
                          <a:pt x="679622" y="707339"/>
                        </a:cubicBezTo>
                        <a:cubicBezTo>
                          <a:pt x="363763" y="711859"/>
                          <a:pt x="319907" y="722968"/>
                          <a:pt x="0" y="707339"/>
                        </a:cubicBezTo>
                        <a:cubicBezTo>
                          <a:pt x="5888" y="600781"/>
                          <a:pt x="-13577" y="468738"/>
                          <a:pt x="0" y="346596"/>
                        </a:cubicBezTo>
                        <a:cubicBezTo>
                          <a:pt x="13577" y="224454"/>
                          <a:pt x="11157" y="147435"/>
                          <a:pt x="0" y="0"/>
                        </a:cubicBezTo>
                        <a:close/>
                      </a:path>
                      <a:path w="6796216" h="707339" stroke="0" extrusionOk="0">
                        <a:moveTo>
                          <a:pt x="0" y="0"/>
                        </a:moveTo>
                        <a:cubicBezTo>
                          <a:pt x="263315" y="-30526"/>
                          <a:pt x="376806" y="9684"/>
                          <a:pt x="611659" y="0"/>
                        </a:cubicBezTo>
                        <a:cubicBezTo>
                          <a:pt x="846512" y="-9684"/>
                          <a:pt x="891261" y="7906"/>
                          <a:pt x="1087395" y="0"/>
                        </a:cubicBezTo>
                        <a:cubicBezTo>
                          <a:pt x="1283529" y="-7906"/>
                          <a:pt x="1589456" y="-31082"/>
                          <a:pt x="1902940" y="0"/>
                        </a:cubicBezTo>
                        <a:cubicBezTo>
                          <a:pt x="2216425" y="31082"/>
                          <a:pt x="2379094" y="16346"/>
                          <a:pt x="2514600" y="0"/>
                        </a:cubicBezTo>
                        <a:cubicBezTo>
                          <a:pt x="2650106" y="-16346"/>
                          <a:pt x="2844185" y="-9705"/>
                          <a:pt x="3126259" y="0"/>
                        </a:cubicBezTo>
                        <a:cubicBezTo>
                          <a:pt x="3408333" y="9705"/>
                          <a:pt x="3570046" y="30492"/>
                          <a:pt x="3941805" y="0"/>
                        </a:cubicBezTo>
                        <a:cubicBezTo>
                          <a:pt x="4313564" y="-30492"/>
                          <a:pt x="4271388" y="-6842"/>
                          <a:pt x="4485503" y="0"/>
                        </a:cubicBezTo>
                        <a:cubicBezTo>
                          <a:pt x="4699618" y="6842"/>
                          <a:pt x="5075277" y="-32953"/>
                          <a:pt x="5301048" y="0"/>
                        </a:cubicBezTo>
                        <a:cubicBezTo>
                          <a:pt x="5526820" y="32953"/>
                          <a:pt x="5936401" y="-16251"/>
                          <a:pt x="6116594" y="0"/>
                        </a:cubicBezTo>
                        <a:cubicBezTo>
                          <a:pt x="6296787" y="16251"/>
                          <a:pt x="6530551" y="-19925"/>
                          <a:pt x="6796216" y="0"/>
                        </a:cubicBezTo>
                        <a:cubicBezTo>
                          <a:pt x="6784583" y="142871"/>
                          <a:pt x="6784773" y="268773"/>
                          <a:pt x="6796216" y="367816"/>
                        </a:cubicBezTo>
                        <a:cubicBezTo>
                          <a:pt x="6807659" y="466859"/>
                          <a:pt x="6809430" y="635617"/>
                          <a:pt x="6796216" y="707339"/>
                        </a:cubicBezTo>
                        <a:cubicBezTo>
                          <a:pt x="6594473" y="692597"/>
                          <a:pt x="6415900" y="688270"/>
                          <a:pt x="6320481" y="707339"/>
                        </a:cubicBezTo>
                        <a:cubicBezTo>
                          <a:pt x="6225062" y="726408"/>
                          <a:pt x="5893318" y="735647"/>
                          <a:pt x="5504935" y="707339"/>
                        </a:cubicBezTo>
                        <a:cubicBezTo>
                          <a:pt x="5116552" y="679031"/>
                          <a:pt x="5086185" y="691357"/>
                          <a:pt x="4961238" y="707339"/>
                        </a:cubicBezTo>
                        <a:cubicBezTo>
                          <a:pt x="4836291" y="723321"/>
                          <a:pt x="4462847" y="736123"/>
                          <a:pt x="4281616" y="707339"/>
                        </a:cubicBezTo>
                        <a:cubicBezTo>
                          <a:pt x="4100385" y="678555"/>
                          <a:pt x="3678545" y="697772"/>
                          <a:pt x="3466070" y="707339"/>
                        </a:cubicBezTo>
                        <a:cubicBezTo>
                          <a:pt x="3253595" y="716906"/>
                          <a:pt x="2936958" y="700962"/>
                          <a:pt x="2786449" y="707339"/>
                        </a:cubicBezTo>
                        <a:cubicBezTo>
                          <a:pt x="2635940" y="713716"/>
                          <a:pt x="2490099" y="684128"/>
                          <a:pt x="2310713" y="707339"/>
                        </a:cubicBezTo>
                        <a:cubicBezTo>
                          <a:pt x="2131327" y="730550"/>
                          <a:pt x="1923778" y="684436"/>
                          <a:pt x="1767016" y="707339"/>
                        </a:cubicBezTo>
                        <a:cubicBezTo>
                          <a:pt x="1610254" y="730242"/>
                          <a:pt x="1304265" y="708629"/>
                          <a:pt x="951470" y="707339"/>
                        </a:cubicBezTo>
                        <a:cubicBezTo>
                          <a:pt x="598675" y="706049"/>
                          <a:pt x="386513" y="732125"/>
                          <a:pt x="0" y="707339"/>
                        </a:cubicBezTo>
                        <a:cubicBezTo>
                          <a:pt x="11046" y="553247"/>
                          <a:pt x="16916" y="483304"/>
                          <a:pt x="0" y="367816"/>
                        </a:cubicBezTo>
                        <a:cubicBezTo>
                          <a:pt x="-16916" y="252328"/>
                          <a:pt x="-6144" y="1543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83680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98225-9458-DE46-C0B8-1C8ACEBF4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tangolo 15">
            <a:extLst>
              <a:ext uri="{FF2B5EF4-FFF2-40B4-BE49-F238E27FC236}">
                <a16:creationId xmlns:a16="http://schemas.microsoft.com/office/drawing/2014/main" id="{36710B25-A27B-2125-94F4-9C014E4620CE}"/>
              </a:ext>
            </a:extLst>
          </p:cNvPr>
          <p:cNvSpPr/>
          <p:nvPr/>
        </p:nvSpPr>
        <p:spPr>
          <a:xfrm>
            <a:off x="4176584" y="2060575"/>
            <a:ext cx="6796216" cy="707339"/>
          </a:xfrm>
          <a:prstGeom prst="rect">
            <a:avLst/>
          </a:prstGeom>
          <a:solidFill>
            <a:schemeClr val="tx2">
              <a:lumMod val="10000"/>
              <a:lumOff val="90000"/>
              <a:alpha val="0"/>
            </a:schemeClr>
          </a:solidFill>
          <a:ln w="28575">
            <a:solidFill>
              <a:schemeClr val="bg1">
                <a:lumMod val="8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796216"/>
                      <a:gd name="connsiteY0" fmla="*/ 0 h 707339"/>
                      <a:gd name="connsiteX1" fmla="*/ 475735 w 6796216"/>
                      <a:gd name="connsiteY1" fmla="*/ 0 h 707339"/>
                      <a:gd name="connsiteX2" fmla="*/ 1291281 w 6796216"/>
                      <a:gd name="connsiteY2" fmla="*/ 0 h 707339"/>
                      <a:gd name="connsiteX3" fmla="*/ 2038865 w 6796216"/>
                      <a:gd name="connsiteY3" fmla="*/ 0 h 707339"/>
                      <a:gd name="connsiteX4" fmla="*/ 2514600 w 6796216"/>
                      <a:gd name="connsiteY4" fmla="*/ 0 h 707339"/>
                      <a:gd name="connsiteX5" fmla="*/ 3126259 w 6796216"/>
                      <a:gd name="connsiteY5" fmla="*/ 0 h 707339"/>
                      <a:gd name="connsiteX6" fmla="*/ 3941805 w 6796216"/>
                      <a:gd name="connsiteY6" fmla="*/ 0 h 707339"/>
                      <a:gd name="connsiteX7" fmla="*/ 4621427 w 6796216"/>
                      <a:gd name="connsiteY7" fmla="*/ 0 h 707339"/>
                      <a:gd name="connsiteX8" fmla="*/ 5369011 w 6796216"/>
                      <a:gd name="connsiteY8" fmla="*/ 0 h 707339"/>
                      <a:gd name="connsiteX9" fmla="*/ 5980670 w 6796216"/>
                      <a:gd name="connsiteY9" fmla="*/ 0 h 707339"/>
                      <a:gd name="connsiteX10" fmla="*/ 6796216 w 6796216"/>
                      <a:gd name="connsiteY10" fmla="*/ 0 h 707339"/>
                      <a:gd name="connsiteX11" fmla="*/ 6796216 w 6796216"/>
                      <a:gd name="connsiteY11" fmla="*/ 367816 h 707339"/>
                      <a:gd name="connsiteX12" fmla="*/ 6796216 w 6796216"/>
                      <a:gd name="connsiteY12" fmla="*/ 707339 h 707339"/>
                      <a:gd name="connsiteX13" fmla="*/ 6320481 w 6796216"/>
                      <a:gd name="connsiteY13" fmla="*/ 707339 h 707339"/>
                      <a:gd name="connsiteX14" fmla="*/ 5844746 w 6796216"/>
                      <a:gd name="connsiteY14" fmla="*/ 707339 h 707339"/>
                      <a:gd name="connsiteX15" fmla="*/ 5097162 w 6796216"/>
                      <a:gd name="connsiteY15" fmla="*/ 707339 h 707339"/>
                      <a:gd name="connsiteX16" fmla="*/ 4621427 w 6796216"/>
                      <a:gd name="connsiteY16" fmla="*/ 707339 h 707339"/>
                      <a:gd name="connsiteX17" fmla="*/ 3941805 w 6796216"/>
                      <a:gd name="connsiteY17" fmla="*/ 707339 h 707339"/>
                      <a:gd name="connsiteX18" fmla="*/ 3398108 w 6796216"/>
                      <a:gd name="connsiteY18" fmla="*/ 707339 h 707339"/>
                      <a:gd name="connsiteX19" fmla="*/ 2718486 w 6796216"/>
                      <a:gd name="connsiteY19" fmla="*/ 707339 h 707339"/>
                      <a:gd name="connsiteX20" fmla="*/ 2038865 w 6796216"/>
                      <a:gd name="connsiteY20" fmla="*/ 707339 h 707339"/>
                      <a:gd name="connsiteX21" fmla="*/ 1359243 w 6796216"/>
                      <a:gd name="connsiteY21" fmla="*/ 707339 h 707339"/>
                      <a:gd name="connsiteX22" fmla="*/ 679622 w 6796216"/>
                      <a:gd name="connsiteY22" fmla="*/ 707339 h 707339"/>
                      <a:gd name="connsiteX23" fmla="*/ 0 w 6796216"/>
                      <a:gd name="connsiteY23" fmla="*/ 707339 h 707339"/>
                      <a:gd name="connsiteX24" fmla="*/ 0 w 6796216"/>
                      <a:gd name="connsiteY24" fmla="*/ 346596 h 707339"/>
                      <a:gd name="connsiteX25" fmla="*/ 0 w 6796216"/>
                      <a:gd name="connsiteY25" fmla="*/ 0 h 7073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6796216" h="707339" fill="none" extrusionOk="0">
                        <a:moveTo>
                          <a:pt x="0" y="0"/>
                        </a:moveTo>
                        <a:cubicBezTo>
                          <a:pt x="158482" y="13642"/>
                          <a:pt x="323873" y="11040"/>
                          <a:pt x="475735" y="0"/>
                        </a:cubicBezTo>
                        <a:cubicBezTo>
                          <a:pt x="627597" y="-11040"/>
                          <a:pt x="915688" y="15166"/>
                          <a:pt x="1291281" y="0"/>
                        </a:cubicBezTo>
                        <a:cubicBezTo>
                          <a:pt x="1666874" y="-15166"/>
                          <a:pt x="1842133" y="-8036"/>
                          <a:pt x="2038865" y="0"/>
                        </a:cubicBezTo>
                        <a:cubicBezTo>
                          <a:pt x="2235597" y="8036"/>
                          <a:pt x="2351084" y="-5965"/>
                          <a:pt x="2514600" y="0"/>
                        </a:cubicBezTo>
                        <a:cubicBezTo>
                          <a:pt x="2678117" y="5965"/>
                          <a:pt x="2906047" y="19441"/>
                          <a:pt x="3126259" y="0"/>
                        </a:cubicBezTo>
                        <a:cubicBezTo>
                          <a:pt x="3346471" y="-19441"/>
                          <a:pt x="3698246" y="16823"/>
                          <a:pt x="3941805" y="0"/>
                        </a:cubicBezTo>
                        <a:cubicBezTo>
                          <a:pt x="4185364" y="-16823"/>
                          <a:pt x="4300557" y="-22232"/>
                          <a:pt x="4621427" y="0"/>
                        </a:cubicBezTo>
                        <a:cubicBezTo>
                          <a:pt x="4942297" y="22232"/>
                          <a:pt x="5110142" y="-9604"/>
                          <a:pt x="5369011" y="0"/>
                        </a:cubicBezTo>
                        <a:cubicBezTo>
                          <a:pt x="5627880" y="9604"/>
                          <a:pt x="5700905" y="-25167"/>
                          <a:pt x="5980670" y="0"/>
                        </a:cubicBezTo>
                        <a:cubicBezTo>
                          <a:pt x="6260435" y="25167"/>
                          <a:pt x="6604054" y="-3449"/>
                          <a:pt x="6796216" y="0"/>
                        </a:cubicBezTo>
                        <a:cubicBezTo>
                          <a:pt x="6805476" y="155348"/>
                          <a:pt x="6799184" y="240493"/>
                          <a:pt x="6796216" y="367816"/>
                        </a:cubicBezTo>
                        <a:cubicBezTo>
                          <a:pt x="6793248" y="495139"/>
                          <a:pt x="6785142" y="633140"/>
                          <a:pt x="6796216" y="707339"/>
                        </a:cubicBezTo>
                        <a:cubicBezTo>
                          <a:pt x="6600114" y="699844"/>
                          <a:pt x="6524712" y="690755"/>
                          <a:pt x="6320481" y="707339"/>
                        </a:cubicBezTo>
                        <a:cubicBezTo>
                          <a:pt x="6116250" y="723923"/>
                          <a:pt x="5977022" y="698373"/>
                          <a:pt x="5844746" y="707339"/>
                        </a:cubicBezTo>
                        <a:cubicBezTo>
                          <a:pt x="5712470" y="716305"/>
                          <a:pt x="5451355" y="728589"/>
                          <a:pt x="5097162" y="707339"/>
                        </a:cubicBezTo>
                        <a:cubicBezTo>
                          <a:pt x="4742969" y="686089"/>
                          <a:pt x="4750118" y="725648"/>
                          <a:pt x="4621427" y="707339"/>
                        </a:cubicBezTo>
                        <a:cubicBezTo>
                          <a:pt x="4492736" y="689030"/>
                          <a:pt x="4163256" y="684237"/>
                          <a:pt x="3941805" y="707339"/>
                        </a:cubicBezTo>
                        <a:cubicBezTo>
                          <a:pt x="3720354" y="730441"/>
                          <a:pt x="3650163" y="733436"/>
                          <a:pt x="3398108" y="707339"/>
                        </a:cubicBezTo>
                        <a:cubicBezTo>
                          <a:pt x="3146053" y="681242"/>
                          <a:pt x="2938302" y="677643"/>
                          <a:pt x="2718486" y="707339"/>
                        </a:cubicBezTo>
                        <a:cubicBezTo>
                          <a:pt x="2498670" y="737035"/>
                          <a:pt x="2302616" y="684022"/>
                          <a:pt x="2038865" y="707339"/>
                        </a:cubicBezTo>
                        <a:cubicBezTo>
                          <a:pt x="1775114" y="730656"/>
                          <a:pt x="1534264" y="735197"/>
                          <a:pt x="1359243" y="707339"/>
                        </a:cubicBezTo>
                        <a:cubicBezTo>
                          <a:pt x="1184222" y="679481"/>
                          <a:pt x="995481" y="702819"/>
                          <a:pt x="679622" y="707339"/>
                        </a:cubicBezTo>
                        <a:cubicBezTo>
                          <a:pt x="363763" y="711859"/>
                          <a:pt x="319907" y="722968"/>
                          <a:pt x="0" y="707339"/>
                        </a:cubicBezTo>
                        <a:cubicBezTo>
                          <a:pt x="5888" y="600781"/>
                          <a:pt x="-13577" y="468738"/>
                          <a:pt x="0" y="346596"/>
                        </a:cubicBezTo>
                        <a:cubicBezTo>
                          <a:pt x="13577" y="224454"/>
                          <a:pt x="11157" y="147435"/>
                          <a:pt x="0" y="0"/>
                        </a:cubicBezTo>
                        <a:close/>
                      </a:path>
                      <a:path w="6796216" h="707339" stroke="0" extrusionOk="0">
                        <a:moveTo>
                          <a:pt x="0" y="0"/>
                        </a:moveTo>
                        <a:cubicBezTo>
                          <a:pt x="263315" y="-30526"/>
                          <a:pt x="376806" y="9684"/>
                          <a:pt x="611659" y="0"/>
                        </a:cubicBezTo>
                        <a:cubicBezTo>
                          <a:pt x="846512" y="-9684"/>
                          <a:pt x="891261" y="7906"/>
                          <a:pt x="1087395" y="0"/>
                        </a:cubicBezTo>
                        <a:cubicBezTo>
                          <a:pt x="1283529" y="-7906"/>
                          <a:pt x="1589456" y="-31082"/>
                          <a:pt x="1902940" y="0"/>
                        </a:cubicBezTo>
                        <a:cubicBezTo>
                          <a:pt x="2216425" y="31082"/>
                          <a:pt x="2379094" y="16346"/>
                          <a:pt x="2514600" y="0"/>
                        </a:cubicBezTo>
                        <a:cubicBezTo>
                          <a:pt x="2650106" y="-16346"/>
                          <a:pt x="2844185" y="-9705"/>
                          <a:pt x="3126259" y="0"/>
                        </a:cubicBezTo>
                        <a:cubicBezTo>
                          <a:pt x="3408333" y="9705"/>
                          <a:pt x="3570046" y="30492"/>
                          <a:pt x="3941805" y="0"/>
                        </a:cubicBezTo>
                        <a:cubicBezTo>
                          <a:pt x="4313564" y="-30492"/>
                          <a:pt x="4271388" y="-6842"/>
                          <a:pt x="4485503" y="0"/>
                        </a:cubicBezTo>
                        <a:cubicBezTo>
                          <a:pt x="4699618" y="6842"/>
                          <a:pt x="5075277" y="-32953"/>
                          <a:pt x="5301048" y="0"/>
                        </a:cubicBezTo>
                        <a:cubicBezTo>
                          <a:pt x="5526820" y="32953"/>
                          <a:pt x="5936401" y="-16251"/>
                          <a:pt x="6116594" y="0"/>
                        </a:cubicBezTo>
                        <a:cubicBezTo>
                          <a:pt x="6296787" y="16251"/>
                          <a:pt x="6530551" y="-19925"/>
                          <a:pt x="6796216" y="0"/>
                        </a:cubicBezTo>
                        <a:cubicBezTo>
                          <a:pt x="6784583" y="142871"/>
                          <a:pt x="6784773" y="268773"/>
                          <a:pt x="6796216" y="367816"/>
                        </a:cubicBezTo>
                        <a:cubicBezTo>
                          <a:pt x="6807659" y="466859"/>
                          <a:pt x="6809430" y="635617"/>
                          <a:pt x="6796216" y="707339"/>
                        </a:cubicBezTo>
                        <a:cubicBezTo>
                          <a:pt x="6594473" y="692597"/>
                          <a:pt x="6415900" y="688270"/>
                          <a:pt x="6320481" y="707339"/>
                        </a:cubicBezTo>
                        <a:cubicBezTo>
                          <a:pt x="6225062" y="726408"/>
                          <a:pt x="5893318" y="735647"/>
                          <a:pt x="5504935" y="707339"/>
                        </a:cubicBezTo>
                        <a:cubicBezTo>
                          <a:pt x="5116552" y="679031"/>
                          <a:pt x="5086185" y="691357"/>
                          <a:pt x="4961238" y="707339"/>
                        </a:cubicBezTo>
                        <a:cubicBezTo>
                          <a:pt x="4836291" y="723321"/>
                          <a:pt x="4462847" y="736123"/>
                          <a:pt x="4281616" y="707339"/>
                        </a:cubicBezTo>
                        <a:cubicBezTo>
                          <a:pt x="4100385" y="678555"/>
                          <a:pt x="3678545" y="697772"/>
                          <a:pt x="3466070" y="707339"/>
                        </a:cubicBezTo>
                        <a:cubicBezTo>
                          <a:pt x="3253595" y="716906"/>
                          <a:pt x="2936958" y="700962"/>
                          <a:pt x="2786449" y="707339"/>
                        </a:cubicBezTo>
                        <a:cubicBezTo>
                          <a:pt x="2635940" y="713716"/>
                          <a:pt x="2490099" y="684128"/>
                          <a:pt x="2310713" y="707339"/>
                        </a:cubicBezTo>
                        <a:cubicBezTo>
                          <a:pt x="2131327" y="730550"/>
                          <a:pt x="1923778" y="684436"/>
                          <a:pt x="1767016" y="707339"/>
                        </a:cubicBezTo>
                        <a:cubicBezTo>
                          <a:pt x="1610254" y="730242"/>
                          <a:pt x="1304265" y="708629"/>
                          <a:pt x="951470" y="707339"/>
                        </a:cubicBezTo>
                        <a:cubicBezTo>
                          <a:pt x="598675" y="706049"/>
                          <a:pt x="386513" y="732125"/>
                          <a:pt x="0" y="707339"/>
                        </a:cubicBezTo>
                        <a:cubicBezTo>
                          <a:pt x="11046" y="553247"/>
                          <a:pt x="16916" y="483304"/>
                          <a:pt x="0" y="367816"/>
                        </a:cubicBezTo>
                        <a:cubicBezTo>
                          <a:pt x="-16916" y="252328"/>
                          <a:pt x="-6144" y="1543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7DC202C-890E-9533-F31D-1A88EE756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7F0182D-896B-DF5E-9E88-DE7C992E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101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D31FFE1C-EF73-578D-C179-FFE1753DEE1B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B7C8326C-2591-2872-EB27-B6939BE8B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4: RS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2A0B7BA-E8DC-626C-A957-DE0A2F61F7D5}"/>
              </a:ext>
            </a:extLst>
          </p:cNvPr>
          <p:cNvSpPr txBox="1"/>
          <p:nvPr/>
        </p:nvSpPr>
        <p:spPr>
          <a:xfrm>
            <a:off x="3287218" y="1477116"/>
            <a:ext cx="2946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Hierarchy of RS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9778805B-6281-ED0F-A244-69F9732A3C48}"/>
                  </a:ext>
                </a:extLst>
              </p:cNvPr>
              <p:cNvSpPr txBox="1"/>
              <p:nvPr/>
            </p:nvSpPr>
            <p:spPr>
              <a:xfrm>
                <a:off x="4270840" y="2205681"/>
                <a:ext cx="6725238" cy="4458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0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jω</m:t>
                      </m:r>
                      <m:r>
                        <a:rPr lang="en-US" sz="20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)) ≤</m:t>
                      </m:r>
                      <m:func>
                        <m:funcPr>
                          <m:ctrlPr>
                            <a:rPr lang="en-US" sz="20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2000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000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0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̅</m:t>
                          </m:r>
                          <m:r>
                            <a:rPr lang="en-US" sz="20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0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0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0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jω</m:t>
                          </m:r>
                          <m:r>
                            <a:rPr lang="en-US" sz="20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m:rPr>
                          <m:sty m:val="p"/>
                        </m:rPr>
                        <a:rPr lang="en-US" sz="20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0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jω</m:t>
                      </m:r>
                      <m:r>
                        <a:rPr lang="en-US" sz="20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000" i="1" dirty="0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a:rPr lang="en-US" sz="2000" b="0" i="1" dirty="0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dirty="0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jω</m:t>
                      </m:r>
                      <m:r>
                        <a:rPr lang="en-US" sz="200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))≤</m:t>
                      </m:r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̅</m:t>
                      </m:r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∀ 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9778805B-6281-ED0F-A244-69F9732A3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0840" y="2205681"/>
                <a:ext cx="6725238" cy="445891"/>
              </a:xfrm>
              <a:prstGeom prst="rect">
                <a:avLst/>
              </a:prstGeom>
              <a:blipFill>
                <a:blip r:embed="rId3"/>
                <a:stretch>
                  <a:fillRect l="-544" r="-91" b="-19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olo 1">
            <a:extLst>
              <a:ext uri="{FF2B5EF4-FFF2-40B4-BE49-F238E27FC236}">
                <a16:creationId xmlns:a16="http://schemas.microsoft.com/office/drawing/2014/main" id="{A0857656-E7EE-B981-9BE3-022E502B9020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Stability Robustness to pitch-roll dynamics. uncertain 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0B2FF80B-CD1E-36CF-D561-2A32D69AB8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Unstructured RS condition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Scalings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Structured singular values: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noProof="0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noProof="0"/>
                  <a:t>-analysis.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endParaRPr lang="en-US" noProof="0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noProof="0"/>
              </a:p>
            </p:txBody>
          </p:sp>
        </mc:Choice>
        <mc:Fallback xmlns="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0B2FF80B-CD1E-36CF-D561-2A32D69AB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4"/>
                <a:stretch>
                  <a:fillRect l="-4604" t="-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Segnaposto testo 5">
                <a:extLst>
                  <a:ext uri="{FF2B5EF4-FFF2-40B4-BE49-F238E27FC236}">
                    <a16:creationId xmlns:a16="http://schemas.microsoft.com/office/drawing/2014/main" id="{D1C9441E-57C1-FEA9-23AA-94BAD64B7B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12883" y="3250004"/>
                <a:ext cx="7586981" cy="840083"/>
              </a:xfrm>
              <a:prstGeom prst="rect">
                <a:avLst/>
              </a:prstGeom>
              <a:ln w="28575"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Theorem </a:t>
                </a:r>
                <a:r>
                  <a:rPr lang="en-US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[RS for unstructured (“full”) perturbations</a:t>
                </a: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]</a:t>
                </a:r>
                <a:r>
                  <a:rPr lang="en-US"/>
                  <a:t>: Assuming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is full and complex </a:t>
                </a:r>
                <a:r>
                  <a:rPr lang="en-US" err="1"/>
                  <a:t>s.t.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jω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))≤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/>
                  <a:t>, then assuming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and M(s) are A.S., the feedback system is RS IFF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jω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))&lt;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∀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endParaRPr lang="en-US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/>
              </a:p>
            </p:txBody>
          </p:sp>
        </mc:Choice>
        <mc:Fallback xmlns="">
          <p:sp>
            <p:nvSpPr>
              <p:cNvPr id="2" name="Segnaposto testo 5">
                <a:extLst>
                  <a:ext uri="{FF2B5EF4-FFF2-40B4-BE49-F238E27FC236}">
                    <a16:creationId xmlns:a16="http://schemas.microsoft.com/office/drawing/2014/main" id="{D1C9441E-57C1-FEA9-23AA-94BAD64B7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883" y="3250004"/>
                <a:ext cx="7586981" cy="840083"/>
              </a:xfrm>
              <a:prstGeom prst="rect">
                <a:avLst/>
              </a:prstGeom>
              <a:blipFill>
                <a:blip r:embed="rId5"/>
                <a:stretch>
                  <a:fillRect l="-1281" t="-2797"/>
                </a:stretch>
              </a:blipFill>
              <a:ln w="28575"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90D08AD2-C458-553D-9745-09BC1876C4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883" y="5171463"/>
            <a:ext cx="2784196" cy="646331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AF254C0-78E3-7FA6-0024-DDF4D948027E}"/>
              </a:ext>
            </a:extLst>
          </p:cNvPr>
          <p:cNvSpPr txBox="1"/>
          <p:nvPr/>
        </p:nvSpPr>
        <p:spPr>
          <a:xfrm>
            <a:off x="3406637" y="4366339"/>
            <a:ext cx="7099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/>
              <a:t>-&gt; in our case (structured and real uncertainty) it </a:t>
            </a:r>
            <a:r>
              <a:rPr lang="en-US" sz="1200" b="1"/>
              <a:t>is</a:t>
            </a:r>
            <a:r>
              <a:rPr lang="en-US" sz="1200"/>
              <a:t> only sufficient.</a:t>
            </a:r>
          </a:p>
          <a:p>
            <a:pPr algn="just"/>
            <a:endParaRPr lang="en-US" sz="1200" b="1">
              <a:solidFill>
                <a:srgbClr val="0070C0"/>
              </a:solidFill>
            </a:endParaRPr>
          </a:p>
          <a:p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96315189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305BE-3E14-A18A-45EE-4363E0031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B1B54F1-8DD2-AC06-E061-A73D9598D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14AF065-049E-D56A-2FD6-6A7C878B9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102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D69DAD81-9667-1B36-0497-D76335D0E9CB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BE40B1DF-8D44-FB30-573D-7352EAB80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4: 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Segnaposto testo 6">
                <a:extLst>
                  <a:ext uri="{FF2B5EF4-FFF2-40B4-BE49-F238E27FC236}">
                    <a16:creationId xmlns:a16="http://schemas.microsoft.com/office/drawing/2014/main" id="{97A9EED3-49E0-434E-D9F5-72F3B2E637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43384" y="6022031"/>
                <a:ext cx="8640763" cy="658642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i="1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b="1">
                    <a:solidFill>
                      <a:srgbClr val="0070C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̅</m:t>
                    </m:r>
                  </m:oMath>
                </a14:m>
                <a:r>
                  <a:rPr lang="en-US"/>
                  <a:t> =70.5 = 37.0 dB &gt; 0dB   -&gt;RS test </a:t>
                </a:r>
                <a:r>
                  <a:rPr lang="en-US" b="1">
                    <a:solidFill>
                      <a:srgbClr val="FF0000"/>
                    </a:solidFill>
                  </a:rPr>
                  <a:t>inconclusive</a:t>
                </a:r>
              </a:p>
              <a:p>
                <a:pPr algn="just"/>
                <a:endParaRPr lang="en-US" b="1">
                  <a:solidFill>
                    <a:srgbClr val="0070C0"/>
                  </a:solidFill>
                </a:endParaRPr>
              </a:p>
              <a:p>
                <a:pPr algn="just"/>
                <a:endParaRPr lang="en-US" b="1">
                  <a:solidFill>
                    <a:srgbClr val="0070C0"/>
                  </a:solidFill>
                </a:endParaRPr>
              </a:p>
              <a:p>
                <a:pPr algn="just"/>
                <a:endParaRPr lang="en-US" b="1">
                  <a:solidFill>
                    <a:srgbClr val="0070C0"/>
                  </a:solidFill>
                </a:endParaRPr>
              </a:p>
              <a:p>
                <a:pPr algn="just"/>
                <a:endParaRPr lang="en-US" b="1">
                  <a:solidFill>
                    <a:srgbClr val="0070C0"/>
                  </a:solidFill>
                </a:endParaRPr>
              </a:p>
              <a:p>
                <a:pPr algn="just"/>
                <a:endParaRPr lang="en-US" b="1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Segnaposto testo 6">
                <a:extLst>
                  <a:ext uri="{FF2B5EF4-FFF2-40B4-BE49-F238E27FC236}">
                    <a16:creationId xmlns:a16="http://schemas.microsoft.com/office/drawing/2014/main" id="{97A9EED3-49E0-434E-D9F5-72F3B2E63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384" y="6022031"/>
                <a:ext cx="8640763" cy="658642"/>
              </a:xfrm>
              <a:prstGeom prst="rect">
                <a:avLst/>
              </a:prstGeom>
              <a:blipFill>
                <a:blip r:embed="rId3"/>
                <a:stretch>
                  <a:fillRect l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olo 1">
            <a:extLst>
              <a:ext uri="{FF2B5EF4-FFF2-40B4-BE49-F238E27FC236}">
                <a16:creationId xmlns:a16="http://schemas.microsoft.com/office/drawing/2014/main" id="{FAA47073-5748-2FB8-CBFD-6F02CAF9ADB7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Stability Robustness to pitch-roll dynamics. uncertain 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Segnaposto testo 5">
                <a:extLst>
                  <a:ext uri="{FF2B5EF4-FFF2-40B4-BE49-F238E27FC236}">
                    <a16:creationId xmlns:a16="http://schemas.microsoft.com/office/drawing/2014/main" id="{B1FDB316-9DAF-6AAB-1082-6B47F287EA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Unstructured RS condition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Scalings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Structured singular values: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noProof="0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noProof="0"/>
                  <a:t>-analysis.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endParaRPr lang="en-US" noProof="0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noProof="0"/>
              </a:p>
            </p:txBody>
          </p:sp>
        </mc:Choice>
        <mc:Fallback xmlns="">
          <p:sp>
            <p:nvSpPr>
              <p:cNvPr id="8" name="Segnaposto testo 5">
                <a:extLst>
                  <a:ext uri="{FF2B5EF4-FFF2-40B4-BE49-F238E27FC236}">
                    <a16:creationId xmlns:a16="http://schemas.microsoft.com/office/drawing/2014/main" id="{B1FDB316-9DAF-6AAB-1082-6B47F287E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4"/>
                <a:stretch>
                  <a:fillRect l="-4604" t="-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m 11">
            <a:extLst>
              <a:ext uri="{FF2B5EF4-FFF2-40B4-BE49-F238E27FC236}">
                <a16:creationId xmlns:a16="http://schemas.microsoft.com/office/drawing/2014/main" id="{E5029B39-614D-3B8E-B5A5-CAA55E657B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883" y="1346731"/>
            <a:ext cx="7155526" cy="477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76007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EC05A-0E8F-1796-7A75-A63431F8D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tangolo 15">
            <a:extLst>
              <a:ext uri="{FF2B5EF4-FFF2-40B4-BE49-F238E27FC236}">
                <a16:creationId xmlns:a16="http://schemas.microsoft.com/office/drawing/2014/main" id="{2B22386A-A307-BCB7-BAB5-02B5195B7E8B}"/>
              </a:ext>
            </a:extLst>
          </p:cNvPr>
          <p:cNvSpPr/>
          <p:nvPr/>
        </p:nvSpPr>
        <p:spPr>
          <a:xfrm>
            <a:off x="4176584" y="2060576"/>
            <a:ext cx="7208198" cy="658102"/>
          </a:xfrm>
          <a:prstGeom prst="rect">
            <a:avLst/>
          </a:prstGeom>
          <a:solidFill>
            <a:schemeClr val="tx2">
              <a:lumMod val="10000"/>
              <a:lumOff val="90000"/>
              <a:alpha val="0"/>
            </a:schemeClr>
          </a:solidFill>
          <a:ln w="28575">
            <a:solidFill>
              <a:schemeClr val="bg1">
                <a:lumMod val="8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796216"/>
                      <a:gd name="connsiteY0" fmla="*/ 0 h 707339"/>
                      <a:gd name="connsiteX1" fmla="*/ 475735 w 6796216"/>
                      <a:gd name="connsiteY1" fmla="*/ 0 h 707339"/>
                      <a:gd name="connsiteX2" fmla="*/ 1291281 w 6796216"/>
                      <a:gd name="connsiteY2" fmla="*/ 0 h 707339"/>
                      <a:gd name="connsiteX3" fmla="*/ 2038865 w 6796216"/>
                      <a:gd name="connsiteY3" fmla="*/ 0 h 707339"/>
                      <a:gd name="connsiteX4" fmla="*/ 2514600 w 6796216"/>
                      <a:gd name="connsiteY4" fmla="*/ 0 h 707339"/>
                      <a:gd name="connsiteX5" fmla="*/ 3126259 w 6796216"/>
                      <a:gd name="connsiteY5" fmla="*/ 0 h 707339"/>
                      <a:gd name="connsiteX6" fmla="*/ 3941805 w 6796216"/>
                      <a:gd name="connsiteY6" fmla="*/ 0 h 707339"/>
                      <a:gd name="connsiteX7" fmla="*/ 4621427 w 6796216"/>
                      <a:gd name="connsiteY7" fmla="*/ 0 h 707339"/>
                      <a:gd name="connsiteX8" fmla="*/ 5369011 w 6796216"/>
                      <a:gd name="connsiteY8" fmla="*/ 0 h 707339"/>
                      <a:gd name="connsiteX9" fmla="*/ 5980670 w 6796216"/>
                      <a:gd name="connsiteY9" fmla="*/ 0 h 707339"/>
                      <a:gd name="connsiteX10" fmla="*/ 6796216 w 6796216"/>
                      <a:gd name="connsiteY10" fmla="*/ 0 h 707339"/>
                      <a:gd name="connsiteX11" fmla="*/ 6796216 w 6796216"/>
                      <a:gd name="connsiteY11" fmla="*/ 367816 h 707339"/>
                      <a:gd name="connsiteX12" fmla="*/ 6796216 w 6796216"/>
                      <a:gd name="connsiteY12" fmla="*/ 707339 h 707339"/>
                      <a:gd name="connsiteX13" fmla="*/ 6320481 w 6796216"/>
                      <a:gd name="connsiteY13" fmla="*/ 707339 h 707339"/>
                      <a:gd name="connsiteX14" fmla="*/ 5844746 w 6796216"/>
                      <a:gd name="connsiteY14" fmla="*/ 707339 h 707339"/>
                      <a:gd name="connsiteX15" fmla="*/ 5097162 w 6796216"/>
                      <a:gd name="connsiteY15" fmla="*/ 707339 h 707339"/>
                      <a:gd name="connsiteX16" fmla="*/ 4621427 w 6796216"/>
                      <a:gd name="connsiteY16" fmla="*/ 707339 h 707339"/>
                      <a:gd name="connsiteX17" fmla="*/ 3941805 w 6796216"/>
                      <a:gd name="connsiteY17" fmla="*/ 707339 h 707339"/>
                      <a:gd name="connsiteX18" fmla="*/ 3398108 w 6796216"/>
                      <a:gd name="connsiteY18" fmla="*/ 707339 h 707339"/>
                      <a:gd name="connsiteX19" fmla="*/ 2718486 w 6796216"/>
                      <a:gd name="connsiteY19" fmla="*/ 707339 h 707339"/>
                      <a:gd name="connsiteX20" fmla="*/ 2038865 w 6796216"/>
                      <a:gd name="connsiteY20" fmla="*/ 707339 h 707339"/>
                      <a:gd name="connsiteX21" fmla="*/ 1359243 w 6796216"/>
                      <a:gd name="connsiteY21" fmla="*/ 707339 h 707339"/>
                      <a:gd name="connsiteX22" fmla="*/ 679622 w 6796216"/>
                      <a:gd name="connsiteY22" fmla="*/ 707339 h 707339"/>
                      <a:gd name="connsiteX23" fmla="*/ 0 w 6796216"/>
                      <a:gd name="connsiteY23" fmla="*/ 707339 h 707339"/>
                      <a:gd name="connsiteX24" fmla="*/ 0 w 6796216"/>
                      <a:gd name="connsiteY24" fmla="*/ 346596 h 707339"/>
                      <a:gd name="connsiteX25" fmla="*/ 0 w 6796216"/>
                      <a:gd name="connsiteY25" fmla="*/ 0 h 7073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6796216" h="707339" fill="none" extrusionOk="0">
                        <a:moveTo>
                          <a:pt x="0" y="0"/>
                        </a:moveTo>
                        <a:cubicBezTo>
                          <a:pt x="158482" y="13642"/>
                          <a:pt x="323873" y="11040"/>
                          <a:pt x="475735" y="0"/>
                        </a:cubicBezTo>
                        <a:cubicBezTo>
                          <a:pt x="627597" y="-11040"/>
                          <a:pt x="915688" y="15166"/>
                          <a:pt x="1291281" y="0"/>
                        </a:cubicBezTo>
                        <a:cubicBezTo>
                          <a:pt x="1666874" y="-15166"/>
                          <a:pt x="1842133" y="-8036"/>
                          <a:pt x="2038865" y="0"/>
                        </a:cubicBezTo>
                        <a:cubicBezTo>
                          <a:pt x="2235597" y="8036"/>
                          <a:pt x="2351084" y="-5965"/>
                          <a:pt x="2514600" y="0"/>
                        </a:cubicBezTo>
                        <a:cubicBezTo>
                          <a:pt x="2678117" y="5965"/>
                          <a:pt x="2906047" y="19441"/>
                          <a:pt x="3126259" y="0"/>
                        </a:cubicBezTo>
                        <a:cubicBezTo>
                          <a:pt x="3346471" y="-19441"/>
                          <a:pt x="3698246" y="16823"/>
                          <a:pt x="3941805" y="0"/>
                        </a:cubicBezTo>
                        <a:cubicBezTo>
                          <a:pt x="4185364" y="-16823"/>
                          <a:pt x="4300557" y="-22232"/>
                          <a:pt x="4621427" y="0"/>
                        </a:cubicBezTo>
                        <a:cubicBezTo>
                          <a:pt x="4942297" y="22232"/>
                          <a:pt x="5110142" y="-9604"/>
                          <a:pt x="5369011" y="0"/>
                        </a:cubicBezTo>
                        <a:cubicBezTo>
                          <a:pt x="5627880" y="9604"/>
                          <a:pt x="5700905" y="-25167"/>
                          <a:pt x="5980670" y="0"/>
                        </a:cubicBezTo>
                        <a:cubicBezTo>
                          <a:pt x="6260435" y="25167"/>
                          <a:pt x="6604054" y="-3449"/>
                          <a:pt x="6796216" y="0"/>
                        </a:cubicBezTo>
                        <a:cubicBezTo>
                          <a:pt x="6805476" y="155348"/>
                          <a:pt x="6799184" y="240493"/>
                          <a:pt x="6796216" y="367816"/>
                        </a:cubicBezTo>
                        <a:cubicBezTo>
                          <a:pt x="6793248" y="495139"/>
                          <a:pt x="6785142" y="633140"/>
                          <a:pt x="6796216" y="707339"/>
                        </a:cubicBezTo>
                        <a:cubicBezTo>
                          <a:pt x="6600114" y="699844"/>
                          <a:pt x="6524712" y="690755"/>
                          <a:pt x="6320481" y="707339"/>
                        </a:cubicBezTo>
                        <a:cubicBezTo>
                          <a:pt x="6116250" y="723923"/>
                          <a:pt x="5977022" y="698373"/>
                          <a:pt x="5844746" y="707339"/>
                        </a:cubicBezTo>
                        <a:cubicBezTo>
                          <a:pt x="5712470" y="716305"/>
                          <a:pt x="5451355" y="728589"/>
                          <a:pt x="5097162" y="707339"/>
                        </a:cubicBezTo>
                        <a:cubicBezTo>
                          <a:pt x="4742969" y="686089"/>
                          <a:pt x="4750118" y="725648"/>
                          <a:pt x="4621427" y="707339"/>
                        </a:cubicBezTo>
                        <a:cubicBezTo>
                          <a:pt x="4492736" y="689030"/>
                          <a:pt x="4163256" y="684237"/>
                          <a:pt x="3941805" y="707339"/>
                        </a:cubicBezTo>
                        <a:cubicBezTo>
                          <a:pt x="3720354" y="730441"/>
                          <a:pt x="3650163" y="733436"/>
                          <a:pt x="3398108" y="707339"/>
                        </a:cubicBezTo>
                        <a:cubicBezTo>
                          <a:pt x="3146053" y="681242"/>
                          <a:pt x="2938302" y="677643"/>
                          <a:pt x="2718486" y="707339"/>
                        </a:cubicBezTo>
                        <a:cubicBezTo>
                          <a:pt x="2498670" y="737035"/>
                          <a:pt x="2302616" y="684022"/>
                          <a:pt x="2038865" y="707339"/>
                        </a:cubicBezTo>
                        <a:cubicBezTo>
                          <a:pt x="1775114" y="730656"/>
                          <a:pt x="1534264" y="735197"/>
                          <a:pt x="1359243" y="707339"/>
                        </a:cubicBezTo>
                        <a:cubicBezTo>
                          <a:pt x="1184222" y="679481"/>
                          <a:pt x="995481" y="702819"/>
                          <a:pt x="679622" y="707339"/>
                        </a:cubicBezTo>
                        <a:cubicBezTo>
                          <a:pt x="363763" y="711859"/>
                          <a:pt x="319907" y="722968"/>
                          <a:pt x="0" y="707339"/>
                        </a:cubicBezTo>
                        <a:cubicBezTo>
                          <a:pt x="5888" y="600781"/>
                          <a:pt x="-13577" y="468738"/>
                          <a:pt x="0" y="346596"/>
                        </a:cubicBezTo>
                        <a:cubicBezTo>
                          <a:pt x="13577" y="224454"/>
                          <a:pt x="11157" y="147435"/>
                          <a:pt x="0" y="0"/>
                        </a:cubicBezTo>
                        <a:close/>
                      </a:path>
                      <a:path w="6796216" h="707339" stroke="0" extrusionOk="0">
                        <a:moveTo>
                          <a:pt x="0" y="0"/>
                        </a:moveTo>
                        <a:cubicBezTo>
                          <a:pt x="263315" y="-30526"/>
                          <a:pt x="376806" y="9684"/>
                          <a:pt x="611659" y="0"/>
                        </a:cubicBezTo>
                        <a:cubicBezTo>
                          <a:pt x="846512" y="-9684"/>
                          <a:pt x="891261" y="7906"/>
                          <a:pt x="1087395" y="0"/>
                        </a:cubicBezTo>
                        <a:cubicBezTo>
                          <a:pt x="1283529" y="-7906"/>
                          <a:pt x="1589456" y="-31082"/>
                          <a:pt x="1902940" y="0"/>
                        </a:cubicBezTo>
                        <a:cubicBezTo>
                          <a:pt x="2216425" y="31082"/>
                          <a:pt x="2379094" y="16346"/>
                          <a:pt x="2514600" y="0"/>
                        </a:cubicBezTo>
                        <a:cubicBezTo>
                          <a:pt x="2650106" y="-16346"/>
                          <a:pt x="2844185" y="-9705"/>
                          <a:pt x="3126259" y="0"/>
                        </a:cubicBezTo>
                        <a:cubicBezTo>
                          <a:pt x="3408333" y="9705"/>
                          <a:pt x="3570046" y="30492"/>
                          <a:pt x="3941805" y="0"/>
                        </a:cubicBezTo>
                        <a:cubicBezTo>
                          <a:pt x="4313564" y="-30492"/>
                          <a:pt x="4271388" y="-6842"/>
                          <a:pt x="4485503" y="0"/>
                        </a:cubicBezTo>
                        <a:cubicBezTo>
                          <a:pt x="4699618" y="6842"/>
                          <a:pt x="5075277" y="-32953"/>
                          <a:pt x="5301048" y="0"/>
                        </a:cubicBezTo>
                        <a:cubicBezTo>
                          <a:pt x="5526820" y="32953"/>
                          <a:pt x="5936401" y="-16251"/>
                          <a:pt x="6116594" y="0"/>
                        </a:cubicBezTo>
                        <a:cubicBezTo>
                          <a:pt x="6296787" y="16251"/>
                          <a:pt x="6530551" y="-19925"/>
                          <a:pt x="6796216" y="0"/>
                        </a:cubicBezTo>
                        <a:cubicBezTo>
                          <a:pt x="6784583" y="142871"/>
                          <a:pt x="6784773" y="268773"/>
                          <a:pt x="6796216" y="367816"/>
                        </a:cubicBezTo>
                        <a:cubicBezTo>
                          <a:pt x="6807659" y="466859"/>
                          <a:pt x="6809430" y="635617"/>
                          <a:pt x="6796216" y="707339"/>
                        </a:cubicBezTo>
                        <a:cubicBezTo>
                          <a:pt x="6594473" y="692597"/>
                          <a:pt x="6415900" y="688270"/>
                          <a:pt x="6320481" y="707339"/>
                        </a:cubicBezTo>
                        <a:cubicBezTo>
                          <a:pt x="6225062" y="726408"/>
                          <a:pt x="5893318" y="735647"/>
                          <a:pt x="5504935" y="707339"/>
                        </a:cubicBezTo>
                        <a:cubicBezTo>
                          <a:pt x="5116552" y="679031"/>
                          <a:pt x="5086185" y="691357"/>
                          <a:pt x="4961238" y="707339"/>
                        </a:cubicBezTo>
                        <a:cubicBezTo>
                          <a:pt x="4836291" y="723321"/>
                          <a:pt x="4462847" y="736123"/>
                          <a:pt x="4281616" y="707339"/>
                        </a:cubicBezTo>
                        <a:cubicBezTo>
                          <a:pt x="4100385" y="678555"/>
                          <a:pt x="3678545" y="697772"/>
                          <a:pt x="3466070" y="707339"/>
                        </a:cubicBezTo>
                        <a:cubicBezTo>
                          <a:pt x="3253595" y="716906"/>
                          <a:pt x="2936958" y="700962"/>
                          <a:pt x="2786449" y="707339"/>
                        </a:cubicBezTo>
                        <a:cubicBezTo>
                          <a:pt x="2635940" y="713716"/>
                          <a:pt x="2490099" y="684128"/>
                          <a:pt x="2310713" y="707339"/>
                        </a:cubicBezTo>
                        <a:cubicBezTo>
                          <a:pt x="2131327" y="730550"/>
                          <a:pt x="1923778" y="684436"/>
                          <a:pt x="1767016" y="707339"/>
                        </a:cubicBezTo>
                        <a:cubicBezTo>
                          <a:pt x="1610254" y="730242"/>
                          <a:pt x="1304265" y="708629"/>
                          <a:pt x="951470" y="707339"/>
                        </a:cubicBezTo>
                        <a:cubicBezTo>
                          <a:pt x="598675" y="706049"/>
                          <a:pt x="386513" y="732125"/>
                          <a:pt x="0" y="707339"/>
                        </a:cubicBezTo>
                        <a:cubicBezTo>
                          <a:pt x="11046" y="553247"/>
                          <a:pt x="16916" y="483304"/>
                          <a:pt x="0" y="367816"/>
                        </a:cubicBezTo>
                        <a:cubicBezTo>
                          <a:pt x="-16916" y="252328"/>
                          <a:pt x="-6144" y="1543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1AAD9D6-A050-CB43-09DE-36B821D27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2C7E956-58AE-204E-0D57-2A072646C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103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50460210-518C-53B2-BB9F-4F6C96E9073C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647A518D-C975-96B6-D767-262B5ED4D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4: RS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23B4BFA-4158-54D0-92D7-AA6E2E78E445}"/>
              </a:ext>
            </a:extLst>
          </p:cNvPr>
          <p:cNvSpPr txBox="1"/>
          <p:nvPr/>
        </p:nvSpPr>
        <p:spPr>
          <a:xfrm>
            <a:off x="3287218" y="1477116"/>
            <a:ext cx="2946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Hierarchy of RS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CB487934-FE63-E1EC-A639-B5C46E322E3D}"/>
                  </a:ext>
                </a:extLst>
              </p:cNvPr>
              <p:cNvSpPr txBox="1"/>
              <p:nvPr/>
            </p:nvSpPr>
            <p:spPr>
              <a:xfrm>
                <a:off x="4270840" y="2205681"/>
                <a:ext cx="7030771" cy="4544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𝛥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0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0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)) ≤</m:t>
                      </m:r>
                      <m:func>
                        <m:funcPr>
                          <m:ctrlPr>
                            <a:rPr lang="en-US" sz="20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1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000" b="1" i="0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lang="en-US" sz="2000" b="1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sz="2000" b="1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sz="2000" b="1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r>
                            <a:rPr lang="en-US" sz="20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  <m:r>
                            <a:rPr lang="en-US" sz="20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̅(</m:t>
                          </m:r>
                          <m:r>
                            <a:rPr lang="en-US" sz="20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20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20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000" b="1" i="1" dirty="0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sz="2000" b="1" i="1" dirty="0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dirty="0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  <m:r>
                        <a:rPr lang="en-US" sz="200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000" b="1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sz="2000" b="1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̅</m:t>
                      </m:r>
                      <m:r>
                        <a:rPr lang="en-US" sz="2000" b="1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sz="2000" b="1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sz="2000" b="1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sz="2000" b="1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∀ 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CB487934-FE63-E1EC-A639-B5C46E322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0840" y="2205681"/>
                <a:ext cx="7030771" cy="454420"/>
              </a:xfrm>
              <a:prstGeom prst="rect">
                <a:avLst/>
              </a:prstGeom>
              <a:blipFill>
                <a:blip r:embed="rId3"/>
                <a:stretch>
                  <a:fillRect l="-434" r="-87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olo 1">
            <a:extLst>
              <a:ext uri="{FF2B5EF4-FFF2-40B4-BE49-F238E27FC236}">
                <a16:creationId xmlns:a16="http://schemas.microsoft.com/office/drawing/2014/main" id="{0789A106-8517-9D04-4FA0-9CFA50C9BAC1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Stability Robustness to pitch-roll dynamics. uncertain 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1DA3247E-1B54-0B81-7432-A7C35E3D05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Unstructured RS condition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Scalings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Structured singular values: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noProof="0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noProof="0"/>
                  <a:t>-analysis.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endParaRPr lang="en-US" noProof="0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noProof="0"/>
              </a:p>
            </p:txBody>
          </p:sp>
        </mc:Choice>
        <mc:Fallback xmlns="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1DA3247E-1B54-0B81-7432-A7C35E3D0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4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magine 13" descr="Immagine che contiene testo, schermata, Biglietto Post-it, Rettangolo&#10;&#10;Il contenuto generato dall'IA potrebbe non essere corretto.">
            <a:extLst>
              <a:ext uri="{FF2B5EF4-FFF2-40B4-BE49-F238E27FC236}">
                <a16:creationId xmlns:a16="http://schemas.microsoft.com/office/drawing/2014/main" id="{E577533E-7349-9156-FC45-528AEDBBA1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1" b="72930"/>
          <a:stretch>
            <a:fillRect/>
          </a:stretch>
        </p:blipFill>
        <p:spPr>
          <a:xfrm>
            <a:off x="3174010" y="3155080"/>
            <a:ext cx="3710235" cy="1565201"/>
          </a:xfrm>
          <a:prstGeom prst="rect">
            <a:avLst/>
          </a:prstGeom>
        </p:spPr>
      </p:pic>
      <p:pic>
        <p:nvPicPr>
          <p:cNvPr id="15" name="Immagine 14" descr="Immagine che contiene testo, schermata, Biglietto Post-it, Rettangolo&#10;&#10;Il contenuto generato dall'IA potrebbe non essere corretto.">
            <a:extLst>
              <a:ext uri="{FF2B5EF4-FFF2-40B4-BE49-F238E27FC236}">
                <a16:creationId xmlns:a16="http://schemas.microsoft.com/office/drawing/2014/main" id="{7925D1AC-116D-A093-E4E7-67FD424497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50" b="33831"/>
          <a:stretch>
            <a:fillRect/>
          </a:stretch>
        </p:blipFill>
        <p:spPr>
          <a:xfrm>
            <a:off x="7628002" y="2718677"/>
            <a:ext cx="3833102" cy="2246608"/>
          </a:xfrm>
          <a:prstGeom prst="rect">
            <a:avLst/>
          </a:prstGeom>
        </p:spPr>
      </p:pic>
      <p:pic>
        <p:nvPicPr>
          <p:cNvPr id="17" name="Immagine 16" descr="Immagine che contiene testo, schermata, Biglietto Post-it, Rettangolo&#10;&#10;Il contenuto generato dall'IA potrebbe non essere corretto.">
            <a:extLst>
              <a:ext uri="{FF2B5EF4-FFF2-40B4-BE49-F238E27FC236}">
                <a16:creationId xmlns:a16="http://schemas.microsoft.com/office/drawing/2014/main" id="{03D73F43-057D-8951-3180-53E7D0AA59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214"/>
          <a:stretch>
            <a:fillRect/>
          </a:stretch>
        </p:blipFill>
        <p:spPr>
          <a:xfrm>
            <a:off x="3157449" y="4668913"/>
            <a:ext cx="3821223" cy="16824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DEE46B1A-9CA3-5062-DB89-CDFF1629A4A6}"/>
                  </a:ext>
                </a:extLst>
              </p:cNvPr>
              <p:cNvSpPr txBox="1"/>
              <p:nvPr/>
            </p:nvSpPr>
            <p:spPr>
              <a:xfrm>
                <a:off x="7602279" y="5231219"/>
                <a:ext cx="3491597" cy="10552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RS condition now is</a:t>
                </a:r>
              </a:p>
              <a:p>
                <a:endParaRPr lang="en-US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1" i="1" smtClean="0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b="1" smtClean="0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𝐦𝐢𝐧</m:t>
                            </m:r>
                          </m:e>
                          <m:lim>
                            <m:r>
                              <a:rPr lang="en-US" b="1" i="1" smtClean="0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  <m:r>
                              <a:rPr lang="en-US" b="1" i="1" smtClean="0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 smtClean="0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en-US" b="1" i="1" smtClean="0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lim>
                        </m:limLow>
                      </m:fName>
                      <m:e>
                        <m:r>
                          <a:rPr lang="en-US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  <m:r>
                          <a:rPr lang="en-US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̅</m:t>
                        </m:r>
                        <m:r>
                          <a:rPr lang="en-US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  <m:r>
                          <a:rPr lang="en-US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  <m:r>
                          <a:rPr lang="en-US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/>
                  <a:t>&lt;1 </a:t>
                </a:r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DEE46B1A-9CA3-5062-DB89-CDFF1629A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279" y="5231219"/>
                <a:ext cx="3491597" cy="1055225"/>
              </a:xfrm>
              <a:prstGeom prst="rect">
                <a:avLst/>
              </a:prstGeom>
              <a:blipFill>
                <a:blip r:embed="rId6"/>
                <a:stretch>
                  <a:fillRect l="-1396" t="-2312" r="-1920" b="-2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reccia destra 19">
            <a:extLst>
              <a:ext uri="{FF2B5EF4-FFF2-40B4-BE49-F238E27FC236}">
                <a16:creationId xmlns:a16="http://schemas.microsoft.com/office/drawing/2014/main" id="{26BFEAF8-4D85-338E-E8DF-8B7B540A22D5}"/>
              </a:ext>
            </a:extLst>
          </p:cNvPr>
          <p:cNvSpPr/>
          <p:nvPr/>
        </p:nvSpPr>
        <p:spPr>
          <a:xfrm>
            <a:off x="7019355" y="3794131"/>
            <a:ext cx="473537" cy="95699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ccia destra 20">
            <a:extLst>
              <a:ext uri="{FF2B5EF4-FFF2-40B4-BE49-F238E27FC236}">
                <a16:creationId xmlns:a16="http://schemas.microsoft.com/office/drawing/2014/main" id="{6D370285-4633-EDA6-B690-5F40DED3A52A}"/>
              </a:ext>
            </a:extLst>
          </p:cNvPr>
          <p:cNvSpPr/>
          <p:nvPr/>
        </p:nvSpPr>
        <p:spPr>
          <a:xfrm rot="8429579">
            <a:off x="7107017" y="4672431"/>
            <a:ext cx="473537" cy="95699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38C98FF8-0E9F-9CE8-5538-846EF28A3A86}"/>
                  </a:ext>
                </a:extLst>
              </p:cNvPr>
              <p:cNvSpPr txBox="1"/>
              <p:nvPr/>
            </p:nvSpPr>
            <p:spPr>
              <a:xfrm>
                <a:off x="422031" y="4139921"/>
                <a:ext cx="22620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38C98FF8-0E9F-9CE8-5538-846EF28A3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31" y="4139921"/>
                <a:ext cx="2262094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B325A6C2-CFE2-C6F2-4E09-AC0F80FB4D44}"/>
                  </a:ext>
                </a:extLst>
              </p:cNvPr>
              <p:cNvSpPr txBox="1"/>
              <p:nvPr/>
            </p:nvSpPr>
            <p:spPr>
              <a:xfrm>
                <a:off x="422031" y="4723159"/>
                <a:ext cx="20713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solidFill>
                            <a:srgbClr val="F2AA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b="0" i="1" smtClean="0">
                          <a:solidFill>
                            <a:srgbClr val="F2AA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F2AA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b="0" i="1" smtClean="0">
                          <a:solidFill>
                            <a:srgbClr val="F2AA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F2AA00"/>
                          </a:solidFill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 lang="en-US" b="0" i="1" smtClean="0">
                          <a:solidFill>
                            <a:srgbClr val="F2AA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2AA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F2AA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F2AA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2AA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F2AA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b="0" i="1" smtClean="0">
                          <a:solidFill>
                            <a:srgbClr val="F2AA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>
                  <a:solidFill>
                    <a:srgbClr val="F2AA00"/>
                  </a:solidFill>
                </a:endParaRPr>
              </a:p>
            </p:txBody>
          </p:sp>
        </mc:Choice>
        <mc:Fallback xmlns="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B325A6C2-CFE2-C6F2-4E09-AC0F80FB4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31" y="4723159"/>
                <a:ext cx="2071336" cy="369332"/>
              </a:xfrm>
              <a:prstGeom prst="rect">
                <a:avLst/>
              </a:prstGeom>
              <a:blipFill>
                <a:blip r:embed="rId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50480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AAD66-C8DE-960C-6812-536506400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BF87E92-3C9E-66E7-E8D5-0312008B5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CE10FA6-9C3D-C7DB-EFC4-88AFA8CA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104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F46DD-03A1-8B84-8F73-D8A334DE91E9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6D6BE178-7205-599D-D70D-5F031BE47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4: RS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2366EC71-D9FE-C636-018D-A743D76BAAB4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Stability Robustness to pitch-roll dynamics. uncertain 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62ACD8D5-F10C-5823-87DC-B1E5DB9DD8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Unstructured RS condition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Scalings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Step 0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 noProof="0">
                    <a:solidFill>
                      <a:schemeClr val="bg1">
                        <a:lumMod val="50000"/>
                      </a:schemeClr>
                    </a:solidFill>
                  </a:rPr>
                  <a:t>Step 1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bg1">
                        <a:lumMod val="50000"/>
                      </a:schemeClr>
                    </a:solidFill>
                  </a:rPr>
                  <a:t>Step 2</a:t>
                </a:r>
                <a:endParaRPr lang="en-US" noProof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Structured singular values: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noProof="0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noProof="0"/>
                  <a:t>-analysis.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endParaRPr lang="en-US" noProof="0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noProof="0"/>
              </a:p>
            </p:txBody>
          </p:sp>
        </mc:Choice>
        <mc:Fallback xmlns="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62ACD8D5-F10C-5823-87DC-B1E5DB9DD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3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60D2B38B-93AC-FD7E-6B0E-7F34F055E75E}"/>
                  </a:ext>
                </a:extLst>
              </p:cNvPr>
              <p:cNvSpPr txBox="1"/>
              <p:nvPr/>
            </p:nvSpPr>
            <p:spPr>
              <a:xfrm>
                <a:off x="3195376" y="1439761"/>
                <a:ext cx="38410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Computation of the </a:t>
                </a:r>
                <a:r>
                  <a:rPr lang="en-US" err="1"/>
                  <a:t>scalings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60D2B38B-93AC-FD7E-6B0E-7F34F055E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376" y="1439761"/>
                <a:ext cx="3841052" cy="369332"/>
              </a:xfrm>
              <a:prstGeom prst="rect">
                <a:avLst/>
              </a:prstGeom>
              <a:blipFill>
                <a:blip r:embed="rId4"/>
                <a:stretch>
                  <a:fillRect l="-1270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BE15D35D-0785-FA3F-29CD-E5ED2E15C797}"/>
                  </a:ext>
                </a:extLst>
              </p:cNvPr>
              <p:cNvSpPr txBox="1"/>
              <p:nvPr/>
            </p:nvSpPr>
            <p:spPr>
              <a:xfrm>
                <a:off x="3195376" y="1902123"/>
                <a:ext cx="8354980" cy="5250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Step 0</a:t>
                </a:r>
                <a:r>
                  <a:rPr lang="en-US" b="1"/>
                  <a:t>: Problem set-up </a:t>
                </a:r>
              </a:p>
              <a:p>
                <a:r>
                  <a:rPr lang="en-US"/>
                  <a:t>-  select a discrete set of frequencies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/>
                  <a:t> and, so for each, we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j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that</a:t>
                </a:r>
              </a:p>
              <a:p>
                <a:r>
                  <a:rPr lang="en-US"/>
                  <a:t>    minimize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̅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/>
              </a:p>
              <a:p>
                <a:endParaRPr lang="en-US"/>
              </a:p>
              <a:p>
                <a:endParaRPr lang="en-US" sz="120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̅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/>
                  <a:t> depends only on the </a:t>
                </a:r>
                <a:r>
                  <a:rPr lang="en-US" err="1"/>
                  <a:t>scalings</a:t>
                </a:r>
                <a:r>
                  <a:rPr lang="en-US"/>
                  <a:t> ratios:</a:t>
                </a:r>
              </a:p>
              <a:p>
                <a:pPr marL="285750" indent="-285750">
                  <a:buFontTx/>
                  <a:buChar char="-"/>
                </a:pPr>
                <a:endParaRPr lang="en-US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, indeed in element </a:t>
                </a:r>
                <a:r>
                  <a:rPr lang="en-US" err="1"/>
                  <a:t>i,j</a:t>
                </a:r>
                <a:r>
                  <a:rPr lang="en-US"/>
                  <a:t> </a:t>
                </a:r>
              </a:p>
              <a:p>
                <a:endParaRPr lang="en-US" sz="1200"/>
              </a:p>
              <a:p>
                <a:r>
                  <a:rPr lang="en-US"/>
                  <a:t>I’ll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1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1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/>
                  <a:t>, so the matrix only depends on the ratios of the </a:t>
                </a:r>
                <a:r>
                  <a:rPr lang="en-US" err="1"/>
                  <a:t>scalings</a:t>
                </a:r>
                <a:r>
                  <a:rPr lang="en-US"/>
                  <a:t>.</a:t>
                </a:r>
              </a:p>
              <a:p>
                <a:pPr marL="285750" indent="-285750">
                  <a:buFontTx/>
                  <a:buChar char="-"/>
                </a:pPr>
                <a:endParaRPr lang="en-US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BE15D35D-0785-FA3F-29CD-E5ED2E15C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376" y="1902123"/>
                <a:ext cx="8354980" cy="5250733"/>
              </a:xfrm>
              <a:prstGeom prst="rect">
                <a:avLst/>
              </a:prstGeom>
              <a:blipFill>
                <a:blip r:embed="rId5"/>
                <a:stretch>
                  <a:fillRect l="-584" t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077F9207-37B8-83DE-F833-9CA79D1CC8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579" y="2603192"/>
            <a:ext cx="4684892" cy="481697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099341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7439-5481-6745-7553-FF77A912A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FB01B35-3FC4-158B-1807-D4BE12986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62AE78C-5E95-97CB-04A9-4E0643ED0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105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82697D98-A975-8713-ACA9-20A5D3C79AD4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A00FA3FD-5124-1943-F3F1-34DB83D2F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4: RS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4E1C387E-507B-560C-1209-C67781B7F839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Stability Robustness to pitch-roll dynamics. uncertain 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14B35E1C-2558-C6B7-FA8B-577A986ECC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Unstructured RS condition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Scalings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Step 0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 noProof="0">
                    <a:solidFill>
                      <a:schemeClr val="bg1">
                        <a:lumMod val="50000"/>
                      </a:schemeClr>
                    </a:solidFill>
                  </a:rPr>
                  <a:t>Step 1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bg1">
                        <a:lumMod val="50000"/>
                      </a:schemeClr>
                    </a:solidFill>
                  </a:rPr>
                  <a:t>Step 2</a:t>
                </a:r>
                <a:endParaRPr lang="en-US" noProof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Structured singular values: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noProof="0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noProof="0"/>
                  <a:t>-analysis.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endParaRPr lang="en-US" noProof="0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noProof="0"/>
              </a:p>
            </p:txBody>
          </p:sp>
        </mc:Choice>
        <mc:Fallback xmlns="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14B35E1C-2558-C6B7-FA8B-577A986EC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3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1BD9CA7-4B9C-E622-7567-A8C7C18FFADB}"/>
                  </a:ext>
                </a:extLst>
              </p:cNvPr>
              <p:cNvSpPr txBox="1"/>
              <p:nvPr/>
            </p:nvSpPr>
            <p:spPr>
              <a:xfrm>
                <a:off x="3195376" y="1691243"/>
                <a:ext cx="38410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Computation of the </a:t>
                </a:r>
                <a:r>
                  <a:rPr lang="en-US" err="1"/>
                  <a:t>scalings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01BD9CA7-4B9C-E622-7567-A8C7C18FF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376" y="1691243"/>
                <a:ext cx="3841052" cy="369332"/>
              </a:xfrm>
              <a:prstGeom prst="rect">
                <a:avLst/>
              </a:prstGeom>
              <a:blipFill>
                <a:blip r:embed="rId4"/>
                <a:stretch>
                  <a:fillRect l="-1270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5F16DCF3-C679-F680-CCED-36AADE7F51EE}"/>
                  </a:ext>
                </a:extLst>
              </p:cNvPr>
              <p:cNvSpPr txBox="1"/>
              <p:nvPr/>
            </p:nvSpPr>
            <p:spPr>
              <a:xfrm>
                <a:off x="3195376" y="2188057"/>
                <a:ext cx="8354980" cy="3159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Step 0</a:t>
                </a:r>
                <a:r>
                  <a:rPr lang="en-US" b="1"/>
                  <a:t>: Problem set-up </a:t>
                </a:r>
              </a:p>
              <a:p>
                <a:r>
                  <a:rPr lang="en-US"/>
                  <a:t>-  select a discrete set of frequencies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/>
                  <a:t> and, so for each, we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j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that</a:t>
                </a:r>
              </a:p>
              <a:p>
                <a:r>
                  <a:rPr lang="en-US"/>
                  <a:t>    minimize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̅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𝝎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𝝎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̅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b="1" i="1" dirty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))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depends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only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 err="1"/>
                      <m:t>scalings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ratios</m:t>
                    </m:r>
                    <m:r>
                      <m:rPr>
                        <m:nor/>
                      </m:rPr>
                      <a:rPr lang="en-US" dirty="0"/>
                      <m:t>:</m:t>
                    </m:r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>
                    <a:solidFill>
                      <a:srgbClr val="FF0000"/>
                    </a:solidFill>
                  </a:rPr>
                  <a:t>E.g. 2x2 case</a:t>
                </a:r>
                <a:r>
                  <a:rPr lang="en-US"/>
                  <a:t>:</a:t>
                </a:r>
              </a:p>
              <a:p>
                <a:endParaRPr lang="en-US"/>
              </a:p>
              <a:p>
                <a:pPr marL="285750" indent="-285750">
                  <a:buFontTx/>
                  <a:buChar char="-"/>
                </a:pPr>
                <a:endParaRPr lang="en-US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5F16DCF3-C679-F680-CCED-36AADE7F5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376" y="2188057"/>
                <a:ext cx="8354980" cy="3159326"/>
              </a:xfrm>
              <a:prstGeom prst="rect">
                <a:avLst/>
              </a:prstGeom>
              <a:blipFill>
                <a:blip r:embed="rId5"/>
                <a:stretch>
                  <a:fillRect l="-584" t="-1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127F326E-0FA5-734E-3856-9E5B61066404}"/>
                  </a:ext>
                </a:extLst>
              </p:cNvPr>
              <p:cNvSpPr txBox="1"/>
              <p:nvPr/>
            </p:nvSpPr>
            <p:spPr>
              <a:xfrm>
                <a:off x="3448910" y="4938801"/>
                <a:ext cx="8204554" cy="9181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skw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type m:val="skw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dirty="0" smtClean="0"/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. Only 1 </a:t>
                </a:r>
                <a:r>
                  <a:rPr lang="en-US" err="1"/>
                  <a:t>dof</a:t>
                </a:r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127F326E-0FA5-734E-3856-9E5B61066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910" y="4938801"/>
                <a:ext cx="8204554" cy="918136"/>
              </a:xfrm>
              <a:prstGeom prst="rect">
                <a:avLst/>
              </a:prstGeom>
              <a:blipFill>
                <a:blip r:embed="rId6"/>
                <a:stretch>
                  <a:fillRect r="-2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1345B6D2-32BA-9115-82D4-902EE9E4A0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579" y="3188151"/>
            <a:ext cx="4684892" cy="481697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1357636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8F9AC-D71E-2775-18F1-3A5308361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506EC73-553B-4D4A-80EC-ECE59CC29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E9F8569-83F3-0F16-8F5C-3E3EAE9C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106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C4983AF7-5483-815D-6FE2-30AD6EF38835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8CB7FE98-7F37-6808-F374-61CB0A48A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4: RS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1C2A1109-A373-B126-1AF9-304FD6D75DA3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Stability Robustness to pitch-roll dynamics. uncertain 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69D12FBF-F6AC-3940-2173-1A90713AE4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Unstructured RS condition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Scalings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Step 0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 noProof="0">
                    <a:solidFill>
                      <a:schemeClr val="bg1">
                        <a:lumMod val="50000"/>
                      </a:schemeClr>
                    </a:solidFill>
                  </a:rPr>
                  <a:t>Step 1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bg1">
                        <a:lumMod val="50000"/>
                      </a:schemeClr>
                    </a:solidFill>
                  </a:rPr>
                  <a:t>Step 2</a:t>
                </a:r>
                <a:endParaRPr lang="en-US" noProof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Structured singular values: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noProof="0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noProof="0"/>
                  <a:t>-analysis.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endParaRPr lang="en-US" noProof="0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noProof="0"/>
              </a:p>
            </p:txBody>
          </p:sp>
        </mc:Choice>
        <mc:Fallback xmlns="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69D12FBF-F6AC-3940-2173-1A90713AE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3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7673B8E-589A-5580-57AF-1A54FCC13809}"/>
                  </a:ext>
                </a:extLst>
              </p:cNvPr>
              <p:cNvSpPr txBox="1"/>
              <p:nvPr/>
            </p:nvSpPr>
            <p:spPr>
              <a:xfrm>
                <a:off x="3195376" y="1691243"/>
                <a:ext cx="38410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Computation of the </a:t>
                </a:r>
                <a:r>
                  <a:rPr lang="en-US" err="1"/>
                  <a:t>scalings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7673B8E-589A-5580-57AF-1A54FCC13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376" y="1691243"/>
                <a:ext cx="3841052" cy="369332"/>
              </a:xfrm>
              <a:prstGeom prst="rect">
                <a:avLst/>
              </a:prstGeom>
              <a:blipFill>
                <a:blip r:embed="rId4"/>
                <a:stretch>
                  <a:fillRect l="-1270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5C568424-1D91-C234-EEF6-BA1181FDE4B4}"/>
                  </a:ext>
                </a:extLst>
              </p:cNvPr>
              <p:cNvSpPr txBox="1"/>
              <p:nvPr/>
            </p:nvSpPr>
            <p:spPr>
              <a:xfrm>
                <a:off x="3195376" y="2188057"/>
                <a:ext cx="8354980" cy="2874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Step 0</a:t>
                </a:r>
                <a:r>
                  <a:rPr lang="en-US" b="1"/>
                  <a:t>: Problem set-up </a:t>
                </a:r>
              </a:p>
              <a:p>
                <a:r>
                  <a:rPr lang="en-US"/>
                  <a:t>-  select a </a:t>
                </a:r>
                <a:r>
                  <a:rPr lang="en-US" err="1"/>
                  <a:t>dscrete</a:t>
                </a:r>
                <a:r>
                  <a:rPr lang="en-US"/>
                  <a:t> set of frequencies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/>
                  <a:t> and, so for each, we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j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that</a:t>
                </a:r>
              </a:p>
              <a:p>
                <a:r>
                  <a:rPr lang="en-US"/>
                  <a:t>    minimize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̅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𝝎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𝝎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̅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b="1" i="1" dirty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))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depends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only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 err="1"/>
                      <m:t>scalings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ratios</m:t>
                    </m:r>
                    <m:r>
                      <m:rPr>
                        <m:nor/>
                      </m:rPr>
                      <a:rPr lang="pt-PT" b="0" i="0" dirty="0" smtClean="0"/>
                      <m:t>.</m:t>
                    </m:r>
                  </m:oMath>
                </a14:m>
                <a:endParaRPr lang="en-US"/>
              </a:p>
              <a:p>
                <a:endParaRPr lang="en-US"/>
              </a:p>
              <a:p>
                <a:pPr marL="285750" indent="-285750">
                  <a:buFontTx/>
                  <a:buChar char="-"/>
                </a:pPr>
                <a:r>
                  <a:rPr lang="en-US"/>
                  <a:t> </a:t>
                </a:r>
                <a:r>
                  <a:rPr lang="en-US">
                    <a:sym typeface="Wingdings" pitchFamily="2" charset="2"/>
                  </a:rPr>
                  <a:t> Normalization: we can fix one scaling to 1: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b="0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. Minimization problem in 11 variables.</a:t>
                </a:r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5C568424-1D91-C234-EEF6-BA1181FDE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376" y="2188057"/>
                <a:ext cx="8354980" cy="2874761"/>
              </a:xfrm>
              <a:prstGeom prst="rect">
                <a:avLst/>
              </a:prstGeom>
              <a:blipFill>
                <a:blip r:embed="rId5"/>
                <a:stretch>
                  <a:fillRect l="-584" t="-1271" b="-2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m 1">
            <a:extLst>
              <a:ext uri="{FF2B5EF4-FFF2-40B4-BE49-F238E27FC236}">
                <a16:creationId xmlns:a16="http://schemas.microsoft.com/office/drawing/2014/main" id="{E777444D-7831-F01B-8864-37DE87C5C0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444" y="3188151"/>
            <a:ext cx="4684892" cy="481697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7255032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4AE86-534E-AE9D-FDBE-709B81CF3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E894DAD-0A6B-EE01-D214-01B2B09A1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C2A85EA-2AD1-1564-680B-82E826E35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107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51D46DF7-52D7-1024-2797-932ABACCB596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98EB4BC3-6D24-282D-693B-DEA6CB299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4: RS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1765BF3F-8A42-0D21-C510-4F23709A368A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Stability Robustness to pitch-roll dynamics. uncertain 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42CAEE4B-9AAE-4EA7-767E-F8C3F29F40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Unstructured RS condition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Scalings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Step 0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 noProof="0">
                    <a:solidFill>
                      <a:schemeClr val="bg1">
                        <a:lumMod val="50000"/>
                      </a:schemeClr>
                    </a:solidFill>
                  </a:rPr>
                  <a:t>Step 1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bg1">
                        <a:lumMod val="50000"/>
                      </a:schemeClr>
                    </a:solidFill>
                  </a:rPr>
                  <a:t>Step 2</a:t>
                </a:r>
                <a:endParaRPr lang="en-US" noProof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Structured singular values: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noProof="0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noProof="0"/>
                  <a:t>-analysis.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endParaRPr lang="en-US" noProof="0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noProof="0"/>
              </a:p>
            </p:txBody>
          </p:sp>
        </mc:Choice>
        <mc:Fallback xmlns="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42CAEE4B-9AAE-4EA7-767E-F8C3F29F4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3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C6D11CCB-7B56-01E2-375C-AF55D480A3C0}"/>
                  </a:ext>
                </a:extLst>
              </p:cNvPr>
              <p:cNvSpPr txBox="1"/>
              <p:nvPr/>
            </p:nvSpPr>
            <p:spPr>
              <a:xfrm>
                <a:off x="3195376" y="1691243"/>
                <a:ext cx="38410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Computation of the </a:t>
                </a:r>
                <a:r>
                  <a:rPr lang="en-US" err="1"/>
                  <a:t>scalings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C6D11CCB-7B56-01E2-375C-AF55D480A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376" y="1691243"/>
                <a:ext cx="3841052" cy="369332"/>
              </a:xfrm>
              <a:prstGeom prst="rect">
                <a:avLst/>
              </a:prstGeom>
              <a:blipFill>
                <a:blip r:embed="rId4"/>
                <a:stretch>
                  <a:fillRect l="-1270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EFE6AFD8-B139-49EA-0235-9FF7BF7CBF70}"/>
                  </a:ext>
                </a:extLst>
              </p:cNvPr>
              <p:cNvSpPr txBox="1"/>
              <p:nvPr/>
            </p:nvSpPr>
            <p:spPr>
              <a:xfrm>
                <a:off x="3195375" y="2188057"/>
                <a:ext cx="8561195" cy="5090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Step 0</a:t>
                </a:r>
                <a:r>
                  <a:rPr lang="en-US" b="1"/>
                  <a:t>: Problem set-up </a:t>
                </a:r>
              </a:p>
              <a:p>
                <a:r>
                  <a:rPr lang="en-US"/>
                  <a:t>-  select a discrete set of frequencies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/>
                  <a:t> and, so for each, we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j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that</a:t>
                </a:r>
              </a:p>
              <a:p>
                <a:r>
                  <a:rPr lang="en-US"/>
                  <a:t>    minimize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̅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𝝎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𝝎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̅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b="1" i="1" dirty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dirty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pt-PT" b="0" i="0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depends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only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 err="1"/>
                      <m:t>scalings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ratios</m:t>
                    </m:r>
                    <m:r>
                      <m:rPr>
                        <m:nor/>
                      </m:rPr>
                      <a:rPr lang="pt-PT" dirty="0"/>
                      <m:t>.</m:t>
                    </m:r>
                  </m:oMath>
                </a14:m>
                <a:endParaRPr lang="en-US"/>
              </a:p>
              <a:p>
                <a:endParaRPr lang="en-US"/>
              </a:p>
              <a:p>
                <a:pPr marL="285750" indent="-285750">
                  <a:buFontTx/>
                  <a:buChar char="-"/>
                </a:pPr>
                <a:r>
                  <a:rPr lang="en-US"/>
                  <a:t> </a:t>
                </a:r>
                <a:r>
                  <a:rPr lang="en-US">
                    <a:sym typeface="Wingdings" pitchFamily="2" charset="2"/>
                  </a:rPr>
                  <a:t> Normalization: we can fix one scaling to 1: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b="0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. Minimization problem in 11 variables.</a:t>
                </a:r>
              </a:p>
              <a:p>
                <a:pPr marL="285750" indent="-285750">
                  <a:buFontTx/>
                  <a:buChar char="-"/>
                </a:pPr>
                <a:endParaRPr lang="en-US"/>
              </a:p>
              <a:p>
                <a:pPr marL="285750" indent="-285750">
                  <a:buFontTx/>
                  <a:buChar char="-"/>
                </a:pPr>
                <a:r>
                  <a:rPr lang="en-US"/>
                  <a:t>Look only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j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&gt;0 (</a:t>
                </a:r>
                <a:r>
                  <a:rPr lang="en-US" err="1"/>
                  <a:t>s.t.to</a:t>
                </a:r>
                <a:r>
                  <a:rPr lang="en-US"/>
                  <a:t> enable magnitude (&gt;0) fitting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), but restricted to limited values (e.g. &lt;100).</a:t>
                </a:r>
              </a:p>
              <a:p>
                <a:pPr marL="285750" indent="-285750">
                  <a:buFontTx/>
                  <a:buChar char="-"/>
                </a:pPr>
                <a:endParaRPr lang="en-US"/>
              </a:p>
              <a:p>
                <a:pPr marL="285750" indent="-285750">
                  <a:buFontTx/>
                  <a:buChar char="-"/>
                </a:pPr>
                <a:r>
                  <a:rPr lang="en-US"/>
                  <a:t>Change of variables: substitute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b="0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sSub>
                          <m:sSubPr>
                            <m:ctrlPr>
                              <a:rPr lang="en-US" i="1" smtClean="0">
                                <a:solidFill>
                                  <a:srgbClr val="F2AA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solidFill>
                                  <a:srgbClr val="F2AA0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solidFill>
                                  <a:srgbClr val="F2AA0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/>
                  <a:t> for i = 1,…,11 and optimize for 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lang="en-US"/>
                  <a:t>via MATLAB </a:t>
                </a:r>
                <a:r>
                  <a:rPr lang="en-US" err="1"/>
                  <a:t>fmincon</a:t>
                </a:r>
                <a:r>
                  <a:rPr lang="en-US"/>
                  <a:t>: gives real optimum solution, </a:t>
                </a:r>
                <a:r>
                  <a:rPr lang="en-US" err="1"/>
                  <a:t>s.t.</a:t>
                </a:r>
                <a:r>
                  <a:rPr lang="en-US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sSub>
                          <m:sSubPr>
                            <m:ctrlPr>
                              <a:rPr lang="en-US" i="1" smtClean="0">
                                <a:solidFill>
                                  <a:srgbClr val="F2AA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1" smtClean="0">
                                <a:solidFill>
                                  <a:srgbClr val="F2AA0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1" smtClean="0">
                                <a:solidFill>
                                  <a:srgbClr val="F2AA0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 &gt;</m:t>
                    </m:r>
                    <m:r>
                      <a:rPr lang="en-US" b="0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/>
              </a:p>
              <a:p>
                <a:pPr marL="285750" indent="-285750">
                  <a:buFontTx/>
                  <a:buChar char="-"/>
                </a:pPr>
                <a:endParaRPr lang="en-US"/>
              </a:p>
              <a:p>
                <a:pPr marL="285750" indent="-285750">
                  <a:buFontTx/>
                  <a:buChar char="-"/>
                </a:pPr>
                <a:endParaRPr lang="en-US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EFE6AFD8-B139-49EA-0235-9FF7BF7CB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375" y="2188057"/>
                <a:ext cx="8561195" cy="5090753"/>
              </a:xfrm>
              <a:prstGeom prst="rect">
                <a:avLst/>
              </a:prstGeom>
              <a:blipFill>
                <a:blip r:embed="rId5"/>
                <a:stretch>
                  <a:fillRect l="-569" t="-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m 1">
            <a:extLst>
              <a:ext uri="{FF2B5EF4-FFF2-40B4-BE49-F238E27FC236}">
                <a16:creationId xmlns:a16="http://schemas.microsoft.com/office/drawing/2014/main" id="{A93F059D-4F80-D81E-0041-86D5C7C3BE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444" y="3129975"/>
            <a:ext cx="4684892" cy="481697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9657673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B5B51-668C-1FB8-CB49-EA68DE2F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C09B11D-A3CE-7724-407B-DB8B7427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E3A6399-7A66-03E7-0C7B-F4221C234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108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C74F8E58-0237-91F7-4BD8-6770BAD08C81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02DD595D-1CDB-6829-55CE-EA8981EAD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4: RS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077A242-B153-F7E0-4C6A-A56C9711A371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Stability Robustness to pitch-roll dynamics. uncertain 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931823A9-0FA1-38B7-9750-0DE6BCA6FA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Unstructured RS condition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Scalings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Step 0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 noProof="0">
                    <a:solidFill>
                      <a:schemeClr val="bg1">
                        <a:lumMod val="50000"/>
                      </a:schemeClr>
                    </a:solidFill>
                  </a:rPr>
                  <a:t>Step 1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bg1">
                        <a:lumMod val="50000"/>
                      </a:schemeClr>
                    </a:solidFill>
                  </a:rPr>
                  <a:t>Step 2</a:t>
                </a:r>
                <a:endParaRPr lang="en-US" noProof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Structured singular values: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noProof="0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noProof="0"/>
                  <a:t>-analysis.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endParaRPr lang="en-US" noProof="0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noProof="0"/>
              </a:p>
            </p:txBody>
          </p:sp>
        </mc:Choice>
        <mc:Fallback xmlns="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931823A9-0FA1-38B7-9750-0DE6BCA6F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3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FDCF0B28-5730-D65F-1506-EF52CBE21D63}"/>
                  </a:ext>
                </a:extLst>
              </p:cNvPr>
              <p:cNvSpPr txBox="1"/>
              <p:nvPr/>
            </p:nvSpPr>
            <p:spPr>
              <a:xfrm>
                <a:off x="3195376" y="1691243"/>
                <a:ext cx="38410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Computation of the </a:t>
                </a:r>
                <a:r>
                  <a:rPr lang="en-US" err="1"/>
                  <a:t>scalings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FDCF0B28-5730-D65F-1506-EF52CBE21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376" y="1691243"/>
                <a:ext cx="3841052" cy="369332"/>
              </a:xfrm>
              <a:prstGeom prst="rect">
                <a:avLst/>
              </a:prstGeom>
              <a:blipFill>
                <a:blip r:embed="rId4"/>
                <a:stretch>
                  <a:fillRect l="-1270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BE6A2B5A-F6E4-64B4-8D85-4F8AA3419B8E}"/>
                  </a:ext>
                </a:extLst>
              </p:cNvPr>
              <p:cNvSpPr txBox="1"/>
              <p:nvPr/>
            </p:nvSpPr>
            <p:spPr>
              <a:xfrm>
                <a:off x="3212123" y="2335411"/>
                <a:ext cx="8354980" cy="2497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Step 0</a:t>
                </a:r>
                <a:r>
                  <a:rPr lang="en-US" b="1"/>
                  <a:t>: Problem set-up </a:t>
                </a:r>
              </a:p>
              <a:p>
                <a:endParaRPr lang="en-US" b="1"/>
              </a:p>
              <a:p>
                <a:r>
                  <a:rPr lang="en-US"/>
                  <a:t>-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e</m:t>
                                        </m:r>
                                      </m:e>
                                      <m:sup>
                                        <m:sSubSup>
                                          <m:sSubSupPr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</m:sup>
                                        </m:sSubSup>
                                      </m:sup>
                                    </m:sSup>
                                  </m:e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e</m:t>
                                        </m:r>
                                      </m:e>
                                      <m:sup>
                                        <m:sSubSup>
                                          <m:sSubSupPr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  <m:t>11</m:t>
                                            </m:r>
                                          </m:sub>
                                          <m:sup>
                                            <m: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</m:sup>
                                        </m:sSubSup>
                                      </m:sup>
                                    </m:sSup>
                                  </m:e>
                                </m:mr>
                              </m:m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- Constraints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/>
                  <a:t> (&lt;100)become constraints on x optimization</a:t>
                </a:r>
              </a:p>
              <a:p>
                <a:pPr marL="285750" indent="-285750">
                  <a:buFontTx/>
                  <a:buChar char="-"/>
                </a:pPr>
                <a:endParaRPr lang="en-US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BE6A2B5A-F6E4-64B4-8D85-4F8AA3419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2123" y="2335411"/>
                <a:ext cx="8354980" cy="2497800"/>
              </a:xfrm>
              <a:prstGeom prst="rect">
                <a:avLst/>
              </a:prstGeom>
              <a:blipFill>
                <a:blip r:embed="rId5"/>
                <a:stretch>
                  <a:fillRect l="-657" t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186643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80063-8577-3BC9-D8F8-111A5D691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6058580-98F4-6F63-E769-BD92BB8FE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5E1B8C2-A729-43FD-F339-84535312F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109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AAD14431-1E63-A456-3CC1-B229D6C106E4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DB97C302-E99B-FA54-F27A-83B1489B8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4: RS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2774284-49F8-208C-64D1-9F3C56819783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Stability Robustness to pitch-roll dynamics. uncertain 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DA12A54B-16F4-EC9B-68D7-9AAA14453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Unstructured RS condition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Scalings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bg1">
                        <a:lumMod val="50000"/>
                      </a:schemeClr>
                    </a:solidFill>
                  </a:rPr>
                  <a:t>Step 0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Step 1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bg1">
                        <a:lumMod val="50000"/>
                      </a:schemeClr>
                    </a:solidFill>
                  </a:rPr>
                  <a:t>Step 2</a:t>
                </a:r>
                <a:endParaRPr lang="en-US" noProof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Structured singular values: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noProof="0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noProof="0"/>
                  <a:t>-analysis.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endParaRPr lang="en-US" noProof="0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noProof="0"/>
              </a:p>
            </p:txBody>
          </p:sp>
        </mc:Choice>
        <mc:Fallback xmlns="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DA12A54B-16F4-EC9B-68D7-9AAA14453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3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36E15555-02AC-CE15-CBB9-D4FC603FA197}"/>
                  </a:ext>
                </a:extLst>
              </p:cNvPr>
              <p:cNvSpPr txBox="1"/>
              <p:nvPr/>
            </p:nvSpPr>
            <p:spPr>
              <a:xfrm>
                <a:off x="3195376" y="1691243"/>
                <a:ext cx="38410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Computation of the </a:t>
                </a:r>
                <a:r>
                  <a:rPr lang="en-US" err="1"/>
                  <a:t>scalings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36E15555-02AC-CE15-CBB9-D4FC603FA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376" y="1691243"/>
                <a:ext cx="3841052" cy="369332"/>
              </a:xfrm>
              <a:prstGeom prst="rect">
                <a:avLst/>
              </a:prstGeom>
              <a:blipFill>
                <a:blip r:embed="rId4"/>
                <a:stretch>
                  <a:fillRect l="-1270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B1809412-D3C3-1630-137F-B7D949739C75}"/>
                  </a:ext>
                </a:extLst>
              </p:cNvPr>
              <p:cNvSpPr txBox="1"/>
              <p:nvPr/>
            </p:nvSpPr>
            <p:spPr>
              <a:xfrm>
                <a:off x="3212123" y="2335411"/>
                <a:ext cx="86449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Step 1</a:t>
                </a:r>
                <a:r>
                  <a:rPr lang="en-US" b="1"/>
                  <a:t>: Minimization </a:t>
                </a:r>
                <a:r>
                  <a:rPr lang="en-US"/>
                  <a:t>via </a:t>
                </a:r>
                <a:r>
                  <a:rPr lang="en-US" i="1" err="1"/>
                  <a:t>fmincon</a:t>
                </a:r>
                <a:r>
                  <a:rPr lang="en-US"/>
                  <a:t>, frequency by frequency to find 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j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B1809412-D3C3-1630-137F-B7D949739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2123" y="2335411"/>
                <a:ext cx="8644914" cy="369332"/>
              </a:xfrm>
              <a:prstGeom prst="rect">
                <a:avLst/>
              </a:prstGeom>
              <a:blipFill>
                <a:blip r:embed="rId5"/>
                <a:stretch>
                  <a:fillRect l="-635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4617968B-5AB9-6C03-7743-195D6E71B2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682" y="2704743"/>
            <a:ext cx="6592654" cy="3883344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1253638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F3932-4672-FF91-08AC-1552CEE42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2D3EBDA-AFCE-28D0-1ACC-0BA62069C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9E15FFC-6DB6-4ED5-42F5-F17A4665F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110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3E25A-8D60-D54F-75B4-6A1A949FB888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7D614951-3AA2-F04D-884B-819EEB954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4: RS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2D8CC0D6-21FD-3FB1-31A5-DA7937D4C385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Stability Robustness to pitch-roll dynamics. uncertain 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70BC95C0-583B-E9B3-E49E-A1F0CE22E2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Unstructured RS condition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Scalings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bg1">
                        <a:lumMod val="50000"/>
                      </a:schemeClr>
                    </a:solidFill>
                  </a:rPr>
                  <a:t>Step 0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Step 1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bg1">
                        <a:lumMod val="50000"/>
                      </a:schemeClr>
                    </a:solidFill>
                  </a:rPr>
                  <a:t>Step 2</a:t>
                </a:r>
                <a:endParaRPr lang="en-US" noProof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Structured singular values: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noProof="0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noProof="0"/>
                  <a:t>-analysis.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endParaRPr lang="en-US" noProof="0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noProof="0"/>
              </a:p>
            </p:txBody>
          </p:sp>
        </mc:Choice>
        <mc:Fallback xmlns="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70BC95C0-583B-E9B3-E49E-A1F0CE22E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3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DC7B677D-359F-95DF-F546-D776A21946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989" y="1439761"/>
            <a:ext cx="7731180" cy="517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483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88B22-B295-53C0-58A5-9EF167794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3CED44B-82EC-0CE1-5F66-41F7894A7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4EA55C5-CF37-81E4-3253-DD1DA71F2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111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AA95A43-55D8-CAE2-9BEF-FE641F728EC2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8C9E3202-27F3-2EA5-69D3-869AFFB98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4: RS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CC97D6A8-1F7E-074C-D193-0702B4ED4DA6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Stability Robustness to pitch-roll dynamics. uncertain 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32D320CC-756D-F72C-6982-4C65824D8E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Unstructured RS condition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Scalings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bg1">
                        <a:lumMod val="50000"/>
                      </a:schemeClr>
                    </a:solidFill>
                  </a:rPr>
                  <a:t>Step 0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Step 1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bg1">
                        <a:lumMod val="50000"/>
                      </a:schemeClr>
                    </a:solidFill>
                  </a:rPr>
                  <a:t>Step 2</a:t>
                </a:r>
                <a:endParaRPr lang="en-US" noProof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Structured singular values: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noProof="0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noProof="0"/>
                  <a:t>-analysis.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endParaRPr lang="en-US" noProof="0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noProof="0"/>
              </a:p>
            </p:txBody>
          </p:sp>
        </mc:Choice>
        <mc:Fallback xmlns="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32D320CC-756D-F72C-6982-4C65824D8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3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B774D424-F5A7-1838-2FFB-DEC8912B90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090" y="2156179"/>
            <a:ext cx="3134952" cy="1296237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7E77FA56-8E86-DA2E-540A-B1B0E90085CB}"/>
              </a:ext>
            </a:extLst>
          </p:cNvPr>
          <p:cNvSpPr txBox="1"/>
          <p:nvPr/>
        </p:nvSpPr>
        <p:spPr>
          <a:xfrm>
            <a:off x="9234435" y="1416818"/>
            <a:ext cx="273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Applying the </a:t>
            </a:r>
            <a:r>
              <a:rPr lang="en-US" err="1"/>
              <a:t>scalings</a:t>
            </a:r>
            <a:r>
              <a:rPr lang="en-US"/>
              <a:t> in </a:t>
            </a:r>
          </a:p>
          <a:p>
            <a:r>
              <a:rPr lang="en-US"/>
              <a:t>a discrete manner on 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egnaposto testo 6">
                <a:extLst>
                  <a:ext uri="{FF2B5EF4-FFF2-40B4-BE49-F238E27FC236}">
                    <a16:creationId xmlns:a16="http://schemas.microsoft.com/office/drawing/2014/main" id="{CC937F7B-B6F1-29B0-4AC0-FBDB9221A7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97062" y="3697891"/>
                <a:ext cx="2913979" cy="2964166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i="1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b="1">
                    <a:solidFill>
                      <a:srgbClr val="0070C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̅</m:t>
                    </m:r>
                  </m:oMath>
                </a14:m>
                <a:r>
                  <a:rPr lang="en-US"/>
                  <a:t> =0.759 = --2.4dB&lt; 0dB   </a:t>
                </a:r>
                <a:endParaRPr lang="en-US" b="1">
                  <a:solidFill>
                    <a:srgbClr val="FF0000"/>
                  </a:solidFill>
                </a:endParaRPr>
              </a:p>
              <a:p>
                <a:pPr algn="just"/>
                <a:endParaRPr lang="en-US" b="1">
                  <a:solidFill>
                    <a:srgbClr val="0070C0"/>
                  </a:solidFill>
                </a:endParaRPr>
              </a:p>
              <a:p>
                <a:r>
                  <a:rPr lang="en-US" b="1">
                    <a:solidFill>
                      <a:srgbClr val="0070C0"/>
                    </a:solidFill>
                  </a:rPr>
                  <a:t>Remark.:</a:t>
                </a:r>
                <a:r>
                  <a:rPr lang="en-US">
                    <a:solidFill>
                      <a:srgbClr val="0070C0"/>
                    </a:solidFill>
                  </a:rPr>
                  <a:t> real, discrete </a:t>
                </a:r>
                <a:r>
                  <a:rPr lang="en-US" err="1">
                    <a:solidFill>
                      <a:srgbClr val="0070C0"/>
                    </a:solidFill>
                  </a:rPr>
                  <a:t>scalings</a:t>
                </a:r>
                <a:r>
                  <a:rPr lang="en-US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>
                    <a:solidFill>
                      <a:srgbClr val="0070C0"/>
                    </a:solidFill>
                  </a:rPr>
                  <a:t>are able to diminish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̅</m:t>
                    </m:r>
                  </m:oMath>
                </a14:m>
                <a:r>
                  <a:rPr lang="en-US" b="1">
                    <a:solidFill>
                      <a:srgbClr val="0070C0"/>
                    </a:solidFill>
                  </a:rPr>
                  <a:t>.</a:t>
                </a:r>
              </a:p>
              <a:p>
                <a:endParaRPr lang="en-US" b="1">
                  <a:solidFill>
                    <a:srgbClr val="0070C0"/>
                  </a:solidFill>
                </a:endParaRPr>
              </a:p>
              <a:p>
                <a:endParaRPr lang="en-US" b="1">
                  <a:solidFill>
                    <a:srgbClr val="0070C0"/>
                  </a:solidFill>
                </a:endParaRPr>
              </a:p>
              <a:p>
                <a:r>
                  <a:rPr lang="en-US" b="1">
                    <a:solidFill>
                      <a:srgbClr val="0070C0"/>
                    </a:solidFill>
                  </a:rPr>
                  <a:t>Complex </a:t>
                </a:r>
                <a:r>
                  <a:rPr lang="en-US" b="1" err="1">
                    <a:solidFill>
                      <a:srgbClr val="0070C0"/>
                    </a:solidFill>
                  </a:rPr>
                  <a:t>scalings</a:t>
                </a:r>
                <a:r>
                  <a:rPr lang="en-US" b="1">
                    <a:solidFill>
                      <a:srgbClr val="0070C0"/>
                    </a:solidFill>
                  </a:rPr>
                  <a:t> </a:t>
                </a:r>
                <a:r>
                  <a:rPr lang="en-US" b="1" err="1">
                    <a:solidFill>
                      <a:srgbClr val="0070C0"/>
                    </a:solidFill>
                  </a:rPr>
                  <a:t>s.t.</a:t>
                </a:r>
                <a:endParaRPr lang="en-US" b="1" i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)|=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US" b="1">
                  <a:solidFill>
                    <a:srgbClr val="0070C0"/>
                  </a:solidFill>
                </a:endParaRPr>
              </a:p>
              <a:p>
                <a:pPr algn="just"/>
                <a:endParaRPr lang="en-US" b="1">
                  <a:solidFill>
                    <a:srgbClr val="0070C0"/>
                  </a:solidFill>
                </a:endParaRPr>
              </a:p>
              <a:p>
                <a:pPr algn="just"/>
                <a:endParaRPr lang="en-US" b="1">
                  <a:solidFill>
                    <a:srgbClr val="0070C0"/>
                  </a:solidFill>
                </a:endParaRPr>
              </a:p>
              <a:p>
                <a:pPr algn="just"/>
                <a:endParaRPr lang="en-US" b="1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" name="Segnaposto testo 6">
                <a:extLst>
                  <a:ext uri="{FF2B5EF4-FFF2-40B4-BE49-F238E27FC236}">
                    <a16:creationId xmlns:a16="http://schemas.microsoft.com/office/drawing/2014/main" id="{CC937F7B-B6F1-29B0-4AC0-FBDB9221A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062" y="3697891"/>
                <a:ext cx="2913979" cy="2964166"/>
              </a:xfrm>
              <a:prstGeom prst="rect">
                <a:avLst/>
              </a:prstGeom>
              <a:blipFill>
                <a:blip r:embed="rId5"/>
                <a:stretch>
                  <a:fillRect l="-3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B9A10E51-A42F-BEF6-02B4-8CD0672969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634" y="1846448"/>
            <a:ext cx="6449390" cy="430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995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92D77-0D3A-B6AB-76E4-EE1CF421E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168DD55-DF09-CBD3-461A-1B7B3F909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C01BAAC-9BFC-32D0-6AA3-22CE1BA4D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112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61C452E1-8544-C796-D962-A9CE9B888969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BB7217AF-B142-CEA5-F1C4-B8A73AF0D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4: RS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C458EF08-9806-6674-6F1C-7A5EC578F1F7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Stability Robustness to pitch-roll dynamics. uncertain 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D4E53F22-FE74-1814-B17A-5C7CF962DA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Unstructured RS condition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Scalings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bg1">
                        <a:lumMod val="50000"/>
                      </a:schemeClr>
                    </a:solidFill>
                  </a:rPr>
                  <a:t>Step 0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 noProof="0">
                    <a:solidFill>
                      <a:schemeClr val="bg1">
                        <a:lumMod val="50000"/>
                      </a:schemeClr>
                    </a:solidFill>
                  </a:rPr>
                  <a:t>Step 1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Step 2</a:t>
                </a: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Structured singular values: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noProof="0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noProof="0"/>
                  <a:t>-analysis.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endParaRPr lang="en-US" noProof="0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noProof="0"/>
              </a:p>
            </p:txBody>
          </p:sp>
        </mc:Choice>
        <mc:Fallback xmlns="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D4E53F22-FE74-1814-B17A-5C7CF962D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3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BA2AF155-64D7-015E-0E3C-CE535F931274}"/>
                  </a:ext>
                </a:extLst>
              </p:cNvPr>
              <p:cNvSpPr txBox="1"/>
              <p:nvPr/>
            </p:nvSpPr>
            <p:spPr>
              <a:xfrm>
                <a:off x="3195376" y="1691243"/>
                <a:ext cx="38410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Computation of the </a:t>
                </a:r>
                <a:r>
                  <a:rPr lang="en-US" err="1"/>
                  <a:t>scalings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solidFill>
                              <a:srgbClr val="F2AA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i="1" smtClean="0">
                        <a:solidFill>
                          <a:srgbClr val="F2AA00"/>
                        </a:solidFill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BA2AF155-64D7-015E-0E3C-CE535F931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376" y="1691243"/>
                <a:ext cx="3841052" cy="369332"/>
              </a:xfrm>
              <a:prstGeom prst="rect">
                <a:avLst/>
              </a:prstGeom>
              <a:blipFill>
                <a:blip r:embed="rId4"/>
                <a:stretch>
                  <a:fillRect l="-1270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sellaDiTesto 5">
            <a:extLst>
              <a:ext uri="{FF2B5EF4-FFF2-40B4-BE49-F238E27FC236}">
                <a16:creationId xmlns:a16="http://schemas.microsoft.com/office/drawing/2014/main" id="{8BAA9DD2-6920-97A1-55C0-E69E0F3EEED9}"/>
              </a:ext>
            </a:extLst>
          </p:cNvPr>
          <p:cNvSpPr txBox="1"/>
          <p:nvPr/>
        </p:nvSpPr>
        <p:spPr>
          <a:xfrm>
            <a:off x="3212123" y="2148799"/>
            <a:ext cx="86449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tx2">
                    <a:lumMod val="75000"/>
                    <a:lumOff val="25000"/>
                  </a:schemeClr>
                </a:solidFill>
              </a:rPr>
              <a:t>Step 2:</a:t>
            </a:r>
            <a:r>
              <a:rPr lang="en-US" sz="160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/>
              <a:t>Fit frequency response magnitude data with </a:t>
            </a:r>
            <a:r>
              <a:rPr lang="en-US" sz="1600" b="1"/>
              <a:t>stable (</a:t>
            </a:r>
            <a:r>
              <a:rPr lang="en-US" sz="1600" b="1" err="1"/>
              <a:t>s.t.</a:t>
            </a:r>
            <a:r>
              <a:rPr lang="en-US" sz="1600" b="1"/>
              <a:t> D has LHP poles), minimum-phase (</a:t>
            </a:r>
            <a:r>
              <a:rPr lang="en-US" sz="1600" b="1" err="1"/>
              <a:t>s.t.</a:t>
            </a:r>
            <a:r>
              <a:rPr lang="en-US" sz="1600" b="1"/>
              <a:t> D^-1 has LHP poles)</a:t>
            </a:r>
            <a:r>
              <a:rPr lang="en-US" sz="1600"/>
              <a:t> order </a:t>
            </a:r>
            <a:r>
              <a:rPr lang="en-US" sz="1600" b="1"/>
              <a:t>n</a:t>
            </a:r>
            <a:r>
              <a:rPr lang="en-US" sz="1600"/>
              <a:t> transfer functions using </a:t>
            </a:r>
            <a:r>
              <a:rPr lang="en-US" sz="1600" b="1">
                <a:solidFill>
                  <a:schemeClr val="tx2">
                    <a:lumMod val="75000"/>
                    <a:lumOff val="25000"/>
                  </a:schemeClr>
                </a:solidFill>
              </a:rPr>
              <a:t>log-Chebyshev magnitude design.</a:t>
            </a:r>
            <a:endParaRPr lang="en-US" sz="1600" b="1"/>
          </a:p>
        </p:txBody>
      </p:sp>
      <p:pic>
        <p:nvPicPr>
          <p:cNvPr id="14" name="Immagine 13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BB688CB6-01A4-AB40-2FC5-1C350B2844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448" y="3194362"/>
            <a:ext cx="5365104" cy="1444751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3B486B03-3F3F-F831-579B-B4225BBB03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352" y="5284872"/>
            <a:ext cx="6986685" cy="605344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CB6FAFA9-7F12-906E-1F17-97B93E0852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352" y="5868041"/>
            <a:ext cx="6986686" cy="630567"/>
          </a:xfrm>
          <a:prstGeom prst="rect">
            <a:avLst/>
          </a:prstGeom>
        </p:spPr>
      </p:pic>
      <p:sp>
        <p:nvSpPr>
          <p:cNvPr id="20" name="Rettangolo 19">
            <a:extLst>
              <a:ext uri="{FF2B5EF4-FFF2-40B4-BE49-F238E27FC236}">
                <a16:creationId xmlns:a16="http://schemas.microsoft.com/office/drawing/2014/main" id="{7E7A90FC-6BF7-5E3F-82D1-321A4720CF88}"/>
              </a:ext>
            </a:extLst>
          </p:cNvPr>
          <p:cNvSpPr/>
          <p:nvPr/>
        </p:nvSpPr>
        <p:spPr>
          <a:xfrm>
            <a:off x="3741575" y="4142793"/>
            <a:ext cx="2726459" cy="173714"/>
          </a:xfrm>
          <a:prstGeom prst="rect">
            <a:avLst/>
          </a:prstGeom>
          <a:noFill/>
          <a:ln w="28575">
            <a:solidFill>
              <a:srgbClr val="3B35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2114A541-7187-25A9-4104-09466074A888}"/>
              </a:ext>
            </a:extLst>
          </p:cNvPr>
          <p:cNvSpPr/>
          <p:nvPr/>
        </p:nvSpPr>
        <p:spPr>
          <a:xfrm>
            <a:off x="4870351" y="5265681"/>
            <a:ext cx="6986685" cy="1232928"/>
          </a:xfrm>
          <a:prstGeom prst="rect">
            <a:avLst/>
          </a:prstGeom>
          <a:noFill/>
          <a:ln w="12700">
            <a:solidFill>
              <a:srgbClr val="3B35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egnaposto testo 5">
            <a:extLst>
              <a:ext uri="{FF2B5EF4-FFF2-40B4-BE49-F238E27FC236}">
                <a16:creationId xmlns:a16="http://schemas.microsoft.com/office/drawing/2014/main" id="{89D31646-36E8-D75A-41B0-559FD385B1E6}"/>
              </a:ext>
            </a:extLst>
          </p:cNvPr>
          <p:cNvSpPr txBox="1">
            <a:spLocks/>
          </p:cNvSpPr>
          <p:nvPr/>
        </p:nvSpPr>
        <p:spPr>
          <a:xfrm>
            <a:off x="4870349" y="5004511"/>
            <a:ext cx="2509208" cy="365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MATLAB  documentation 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4939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8DE50-CFAA-1871-EDA8-2CC29BAF7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B5EE2AB-DF62-65E2-1B8E-250356FC5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8B2E5DB-20B1-A8A7-AD75-331DD4B6F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113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5B55D97E-D6D2-5B7F-48D3-0EAC56B33521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C7CB25B8-D50E-C403-E411-F82DC198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4: RS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323430B-8DA5-6C54-088D-9BB09F333E14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Stability Robustness to pitch-roll dynamics. uncertain 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4D912E0C-0A34-1543-0343-54A9C09087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Unstructured RS condition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Scalings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bg1">
                        <a:lumMod val="50000"/>
                      </a:schemeClr>
                    </a:solidFill>
                  </a:rPr>
                  <a:t>Step 0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 noProof="0">
                    <a:solidFill>
                      <a:schemeClr val="bg1">
                        <a:lumMod val="50000"/>
                      </a:schemeClr>
                    </a:solidFill>
                  </a:rPr>
                  <a:t>Step 1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Step 2</a:t>
                </a: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Structured singular values: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noProof="0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noProof="0"/>
                  <a:t>-analysis.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endParaRPr lang="en-US" noProof="0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noProof="0"/>
              </a:p>
            </p:txBody>
          </p:sp>
        </mc:Choice>
        <mc:Fallback xmlns="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4D912E0C-0A34-1543-0343-54A9C0908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3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23C559B-E828-D379-DEFC-31B129F7A2F1}"/>
              </a:ext>
            </a:extLst>
          </p:cNvPr>
          <p:cNvSpPr txBox="1"/>
          <p:nvPr/>
        </p:nvSpPr>
        <p:spPr>
          <a:xfrm>
            <a:off x="660400" y="478686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e.g.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99DA7F8-B0E3-BDDC-64C2-4E10F10673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670" y="1448566"/>
            <a:ext cx="6152834" cy="420299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A3B0842-4206-03D3-CAE2-C8D8A3CDCD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88" y="5300399"/>
            <a:ext cx="5193612" cy="1447400"/>
          </a:xfrm>
          <a:prstGeom prst="rect">
            <a:avLst/>
          </a:prstGeom>
          <a:ln w="12700">
            <a:solidFill>
              <a:srgbClr val="3B35DE"/>
            </a:solidFill>
          </a:ln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1A51561E-0B86-E80F-9551-4687BD64BAF3}"/>
              </a:ext>
            </a:extLst>
          </p:cNvPr>
          <p:cNvSpPr txBox="1"/>
          <p:nvPr/>
        </p:nvSpPr>
        <p:spPr>
          <a:xfrm>
            <a:off x="3040655" y="2060575"/>
            <a:ext cx="2622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5</a:t>
            </a:r>
            <a:r>
              <a:rPr lang="pt-PT" baseline="30000"/>
              <a:t>th</a:t>
            </a:r>
            <a:r>
              <a:rPr lang="pt-PT"/>
              <a:t> </a:t>
            </a:r>
            <a:r>
              <a:rPr lang="pt-PT" err="1"/>
              <a:t>order</a:t>
            </a:r>
            <a:r>
              <a:rPr lang="pt-PT"/>
              <a:t> </a:t>
            </a:r>
            <a:r>
              <a:rPr lang="pt-PT" err="1"/>
              <a:t>Chebyshev</a:t>
            </a:r>
            <a:r>
              <a:rPr lang="pt-PT"/>
              <a:t> – </a:t>
            </a:r>
            <a:r>
              <a:rPr lang="pt-PT" err="1"/>
              <a:t>fitted</a:t>
            </a:r>
            <a:r>
              <a:rPr lang="pt-PT"/>
              <a:t> </a:t>
            </a:r>
            <a:r>
              <a:rPr lang="pt-PT" err="1"/>
              <a:t>scalings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8912979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BA5B9-A03D-7FC1-8ECC-3DBD53EDB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8B07869-E5B0-6BA1-FDC3-29E32A7E4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C8F897D-1DC3-F211-54D6-1EC284099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114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3A71E86-2C67-204C-9A77-4A718592F48A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05D44B22-6F95-D53C-E366-B7E789A03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4: RS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A460BAD9-EC40-E582-178A-ACF81A82734E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Stability Robustness to pitch-roll dynamics. uncertain coupling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81D8CC7-7B2C-3195-4AA7-A5797F096139}"/>
              </a:ext>
            </a:extLst>
          </p:cNvPr>
          <p:cNvSpPr txBox="1"/>
          <p:nvPr/>
        </p:nvSpPr>
        <p:spPr>
          <a:xfrm>
            <a:off x="9223418" y="1023565"/>
            <a:ext cx="2465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Applying the complex</a:t>
            </a:r>
          </a:p>
          <a:p>
            <a:r>
              <a:rPr lang="en-US"/>
              <a:t> </a:t>
            </a:r>
            <a:r>
              <a:rPr lang="en-US" err="1"/>
              <a:t>scalings</a:t>
            </a:r>
            <a:r>
              <a:rPr lang="en-US"/>
              <a:t> on 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egnaposto testo 6">
                <a:extLst>
                  <a:ext uri="{FF2B5EF4-FFF2-40B4-BE49-F238E27FC236}">
                    <a16:creationId xmlns:a16="http://schemas.microsoft.com/office/drawing/2014/main" id="{90549C1E-F6E0-F6A5-5A02-D6EA49AEAA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6888" y="3312299"/>
                <a:ext cx="3104153" cy="3274409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i="1">
                  <a:latin typeface="Cambria Math" panose="02040503050406030204" pitchFamily="18" charset="0"/>
                </a:endParaRPr>
              </a:p>
              <a:p>
                <a:pPr algn="just"/>
                <a:r>
                  <a:rPr lang="en-US" b="1">
                    <a:solidFill>
                      <a:srgbClr val="0070C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̅</m:t>
                    </m:r>
                  </m:oMath>
                </a14:m>
                <a:r>
                  <a:rPr lang="en-US"/>
                  <a:t> =1.04 =0.3 &gt;0dB   </a:t>
                </a:r>
              </a:p>
              <a:p>
                <a:pPr algn="just"/>
                <a:r>
                  <a:rPr lang="en-US"/>
                  <a:t>-&gt;</a:t>
                </a:r>
                <a:r>
                  <a:rPr lang="en-US" b="1">
                    <a:solidFill>
                      <a:srgbClr val="FF0000"/>
                    </a:solidFill>
                  </a:rPr>
                  <a:t> </a:t>
                </a:r>
                <a:r>
                  <a:rPr lang="en-US"/>
                  <a:t>RS test </a:t>
                </a:r>
                <a:r>
                  <a:rPr lang="en-US" b="1">
                    <a:solidFill>
                      <a:srgbClr val="FF0000"/>
                    </a:solidFill>
                  </a:rPr>
                  <a:t>inconclusive</a:t>
                </a:r>
                <a:endParaRPr lang="en-US">
                  <a:solidFill>
                    <a:srgbClr val="FF0000"/>
                  </a:solidFill>
                </a:endParaRPr>
              </a:p>
              <a:p>
                <a:pPr algn="just"/>
                <a:endParaRPr lang="en-US" b="1">
                  <a:solidFill>
                    <a:srgbClr val="FF0000"/>
                  </a:solidFill>
                </a:endParaRPr>
              </a:p>
              <a:p>
                <a:pPr algn="just"/>
                <a:endParaRPr lang="en-US" b="1">
                  <a:solidFill>
                    <a:srgbClr val="0070C0"/>
                  </a:solidFill>
                </a:endParaRPr>
              </a:p>
              <a:p>
                <a:r>
                  <a:rPr lang="en-US" b="1">
                    <a:solidFill>
                      <a:srgbClr val="0070C0"/>
                    </a:solidFill>
                  </a:rPr>
                  <a:t>Remark 1.:</a:t>
                </a:r>
                <a:r>
                  <a:rPr lang="en-US">
                    <a:solidFill>
                      <a:srgbClr val="0070C0"/>
                    </a:solidFill>
                  </a:rPr>
                  <a:t> </a:t>
                </a:r>
                <a:r>
                  <a:rPr lang="en-US" err="1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slighlty</a:t>
                </a:r>
                <a:r>
                  <a:rPr lang="en-US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 more conservative than before due to</a:t>
                </a:r>
              </a:p>
              <a:p>
                <a:r>
                  <a:rPr lang="en-US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- Fitting of the magnitude with order n limited</a:t>
                </a:r>
              </a:p>
              <a:p>
                <a:r>
                  <a:rPr lang="en-US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- Complex fitting that doesn’t take into consideration the phase</a:t>
                </a:r>
                <a:endParaRPr lang="en-US" b="1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  <a:p>
                <a:pPr algn="just"/>
                <a:endParaRPr lang="en-US" b="1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" name="Segnaposto testo 6">
                <a:extLst>
                  <a:ext uri="{FF2B5EF4-FFF2-40B4-BE49-F238E27FC236}">
                    <a16:creationId xmlns:a16="http://schemas.microsoft.com/office/drawing/2014/main" id="{90549C1E-F6E0-F6A5-5A02-D6EA49AEA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888" y="3312299"/>
                <a:ext cx="3104153" cy="3274409"/>
              </a:xfrm>
              <a:prstGeom prst="rect">
                <a:avLst/>
              </a:prstGeom>
              <a:blipFill>
                <a:blip r:embed="rId3"/>
                <a:stretch>
                  <a:fillRect l="-3536" r="-1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magine 13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7D898A0A-56FA-E064-9C74-FAF2E15B8F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8" y="1690588"/>
            <a:ext cx="3187538" cy="1762125"/>
          </a:xfrm>
          <a:prstGeom prst="rect">
            <a:avLst/>
          </a:prstGeom>
          <a:ln w="12700">
            <a:solidFill>
              <a:srgbClr val="3B35DE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Segnaposto testo 5">
                <a:extLst>
                  <a:ext uri="{FF2B5EF4-FFF2-40B4-BE49-F238E27FC236}">
                    <a16:creationId xmlns:a16="http://schemas.microsoft.com/office/drawing/2014/main" id="{5057CA5E-1E9E-5D1E-ABD8-836F1834CD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Unstructured RS condition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Scalings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bg1">
                        <a:lumMod val="50000"/>
                      </a:schemeClr>
                    </a:solidFill>
                  </a:rPr>
                  <a:t>Step 0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 noProof="0">
                    <a:solidFill>
                      <a:schemeClr val="bg1">
                        <a:lumMod val="50000"/>
                      </a:schemeClr>
                    </a:solidFill>
                  </a:rPr>
                  <a:t>Step 1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Step 2</a:t>
                </a: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Structured singular values: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noProof="0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noProof="0"/>
                  <a:t>-analysis.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endParaRPr lang="en-US" noProof="0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noProof="0"/>
              </a:p>
            </p:txBody>
          </p:sp>
        </mc:Choice>
        <mc:Fallback xmlns="">
          <p:sp>
            <p:nvSpPr>
              <p:cNvPr id="20" name="Segnaposto testo 5">
                <a:extLst>
                  <a:ext uri="{FF2B5EF4-FFF2-40B4-BE49-F238E27FC236}">
                    <a16:creationId xmlns:a16="http://schemas.microsoft.com/office/drawing/2014/main" id="{5057CA5E-1E9E-5D1E-ABD8-836F1834C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5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0B168D12-0D90-700A-69A7-1055D192D8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631" y="1690588"/>
            <a:ext cx="6509118" cy="433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8015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96E84-9ADF-578A-DECA-FB1CBDB23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143D4FB-A736-05A7-8B55-6B6288675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666BC74-13D0-30FC-0602-DC22586A1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115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130F54B-F287-6666-60EA-7D4ABFBB3C87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F7990215-A7C7-9470-7FC0-0C599A687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4: RS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3E20C7D0-BD60-4534-2D44-6FEBAC41CA0E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Stability Robustness to pitch-roll dynamics. uncertain 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egnaposto testo 6">
                <a:extLst>
                  <a:ext uri="{FF2B5EF4-FFF2-40B4-BE49-F238E27FC236}">
                    <a16:creationId xmlns:a16="http://schemas.microsoft.com/office/drawing/2014/main" id="{D05E7CF5-0C65-148B-39C6-D5F35B64F7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48580" y="3708545"/>
                <a:ext cx="3104153" cy="3253389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b="1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̅</m:t>
                    </m:r>
                  </m:oMath>
                </a14:m>
                <a:r>
                  <a:rPr lang="en-US"/>
                  <a:t> =1.04 =0.3 &gt;0dB   </a:t>
                </a:r>
              </a:p>
              <a:p>
                <a:pPr algn="just"/>
                <a:r>
                  <a:rPr lang="en-US"/>
                  <a:t>-&gt;</a:t>
                </a:r>
                <a:r>
                  <a:rPr lang="en-US" b="1">
                    <a:solidFill>
                      <a:srgbClr val="FF0000"/>
                    </a:solidFill>
                  </a:rPr>
                  <a:t> </a:t>
                </a:r>
                <a:r>
                  <a:rPr lang="en-US"/>
                  <a:t>RS test </a:t>
                </a:r>
                <a:r>
                  <a:rPr lang="en-US" b="1">
                    <a:solidFill>
                      <a:srgbClr val="FF0000"/>
                    </a:solidFill>
                  </a:rPr>
                  <a:t>inconclusive</a:t>
                </a:r>
                <a:endParaRPr lang="en-US" b="1">
                  <a:solidFill>
                    <a:srgbClr val="0070C0"/>
                  </a:solidFill>
                </a:endParaRPr>
              </a:p>
              <a:p>
                <a:endParaRPr lang="en-US" b="1">
                  <a:solidFill>
                    <a:srgbClr val="0070C0"/>
                  </a:solidFill>
                </a:endParaRPr>
              </a:p>
              <a:p>
                <a:r>
                  <a:rPr lang="en-US" b="1">
                    <a:solidFill>
                      <a:srgbClr val="0070C0"/>
                    </a:solidFill>
                  </a:rPr>
                  <a:t>Remark 2:</a:t>
                </a:r>
                <a:r>
                  <a:rPr lang="en-US"/>
                  <a:t>- Lower orders n are unable to describe the magnitude variability; higher orders n are affected by ‘noise’ in the numerical solution.</a:t>
                </a:r>
                <a:endParaRPr lang="en-US" b="1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  <a:p>
                <a:pPr algn="just"/>
                <a:endParaRPr lang="en-US" b="1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" name="Segnaposto testo 6">
                <a:extLst>
                  <a:ext uri="{FF2B5EF4-FFF2-40B4-BE49-F238E27FC236}">
                    <a16:creationId xmlns:a16="http://schemas.microsoft.com/office/drawing/2014/main" id="{D05E7CF5-0C65-148B-39C6-D5F35B64F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580" y="3708545"/>
                <a:ext cx="3104153" cy="3253389"/>
              </a:xfrm>
              <a:prstGeom prst="rect">
                <a:avLst/>
              </a:prstGeom>
              <a:blipFill>
                <a:blip r:embed="rId3"/>
                <a:stretch>
                  <a:fillRect l="-3529" t="-1124" r="-27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testo 5">
                <a:extLst>
                  <a:ext uri="{FF2B5EF4-FFF2-40B4-BE49-F238E27FC236}">
                    <a16:creationId xmlns:a16="http://schemas.microsoft.com/office/drawing/2014/main" id="{9AAA514F-750D-4B30-82F5-6BF4B752C0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Unstructured RS condition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Scalings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>
                    <a:solidFill>
                      <a:schemeClr val="bg1">
                        <a:lumMod val="50000"/>
                      </a:schemeClr>
                    </a:solidFill>
                  </a:rPr>
                  <a:t>Step 0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 noProof="0">
                    <a:solidFill>
                      <a:schemeClr val="bg1">
                        <a:lumMod val="50000"/>
                      </a:schemeClr>
                    </a:solidFill>
                  </a:rPr>
                  <a:t>Step 1</a:t>
                </a:r>
              </a:p>
              <a:p>
                <a:pPr marL="800100" lvl="1" indent="-342900">
                  <a:buFont typeface="Arial" panose="020B0604020202020204" pitchFamily="34" charset="0"/>
                  <a:buAutoNum type="arabicPeriod"/>
                </a:pPr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Step 2</a:t>
                </a: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Structured singular values: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noProof="0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noProof="0"/>
                  <a:t>-analysis.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endParaRPr lang="en-US" noProof="0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noProof="0"/>
              </a:p>
            </p:txBody>
          </p:sp>
        </mc:Choice>
        <mc:Fallback xmlns="">
          <p:sp>
            <p:nvSpPr>
              <p:cNvPr id="4" name="Segnaposto testo 5">
                <a:extLst>
                  <a:ext uri="{FF2B5EF4-FFF2-40B4-BE49-F238E27FC236}">
                    <a16:creationId xmlns:a16="http://schemas.microsoft.com/office/drawing/2014/main" id="{9AAA514F-750D-4B30-82F5-6BF4B752C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4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7153780C-8451-CF44-2C0C-E2A70FABE6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631" y="1690588"/>
            <a:ext cx="6509118" cy="4335639"/>
          </a:xfrm>
          <a:prstGeom prst="rect">
            <a:avLst/>
          </a:prstGeom>
        </p:spPr>
      </p:pic>
      <p:sp>
        <p:nvSpPr>
          <p:cNvPr id="7" name="CasellaDiTesto 7">
            <a:extLst>
              <a:ext uri="{FF2B5EF4-FFF2-40B4-BE49-F238E27FC236}">
                <a16:creationId xmlns:a16="http://schemas.microsoft.com/office/drawing/2014/main" id="{5F6C1271-8A39-C28B-5958-2E41B17FB239}"/>
              </a:ext>
            </a:extLst>
          </p:cNvPr>
          <p:cNvSpPr txBox="1"/>
          <p:nvPr/>
        </p:nvSpPr>
        <p:spPr>
          <a:xfrm>
            <a:off x="9223418" y="1023565"/>
            <a:ext cx="2465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Applying the complex</a:t>
            </a:r>
          </a:p>
          <a:p>
            <a:r>
              <a:rPr lang="en-US"/>
              <a:t> </a:t>
            </a:r>
            <a:r>
              <a:rPr lang="en-US" err="1"/>
              <a:t>scalings</a:t>
            </a:r>
            <a:r>
              <a:rPr lang="en-US"/>
              <a:t> on M:</a:t>
            </a:r>
          </a:p>
        </p:txBody>
      </p:sp>
      <p:pic>
        <p:nvPicPr>
          <p:cNvPr id="11" name="Immagine 13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873EE0D9-B544-A93A-2AE9-81C7CAE651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8" y="1690588"/>
            <a:ext cx="3187538" cy="1762125"/>
          </a:xfrm>
          <a:prstGeom prst="rect">
            <a:avLst/>
          </a:prstGeom>
          <a:ln w="12700">
            <a:solidFill>
              <a:srgbClr val="3B35DE"/>
            </a:solidFill>
          </a:ln>
        </p:spPr>
      </p:pic>
    </p:spTree>
    <p:extLst>
      <p:ext uri="{BB962C8B-B14F-4D97-AF65-F5344CB8AC3E}">
        <p14:creationId xmlns:p14="http://schemas.microsoft.com/office/powerpoint/2010/main" val="52170155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38141-535A-52C2-9ECC-E015CAAEC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FD47FC-2722-8D41-8127-4C5DA8DF1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559018-9E65-C04F-976A-1E5F6F6B6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116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854469F-B899-C61D-1028-B0B421D922D6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7A02DFD8-C01C-D8B5-42CF-D7C89991B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4: RS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566F5148-5026-F6C8-9B14-18C5E9FF9DEF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Stability Robustness to pitch-roll dynamics. uncertain coupling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8338ECB-4072-35A7-4CB1-EF8DF47B8D63}"/>
              </a:ext>
            </a:extLst>
          </p:cNvPr>
          <p:cNvSpPr/>
          <p:nvPr/>
        </p:nvSpPr>
        <p:spPr>
          <a:xfrm>
            <a:off x="4176584" y="2060575"/>
            <a:ext cx="6796216" cy="707339"/>
          </a:xfrm>
          <a:prstGeom prst="rect">
            <a:avLst/>
          </a:prstGeom>
          <a:solidFill>
            <a:schemeClr val="tx2">
              <a:lumMod val="10000"/>
              <a:lumOff val="90000"/>
              <a:alpha val="0"/>
            </a:schemeClr>
          </a:solidFill>
          <a:ln w="28575">
            <a:solidFill>
              <a:schemeClr val="bg1">
                <a:lumMod val="8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796216"/>
                      <a:gd name="connsiteY0" fmla="*/ 0 h 707339"/>
                      <a:gd name="connsiteX1" fmla="*/ 475735 w 6796216"/>
                      <a:gd name="connsiteY1" fmla="*/ 0 h 707339"/>
                      <a:gd name="connsiteX2" fmla="*/ 1291281 w 6796216"/>
                      <a:gd name="connsiteY2" fmla="*/ 0 h 707339"/>
                      <a:gd name="connsiteX3" fmla="*/ 2038865 w 6796216"/>
                      <a:gd name="connsiteY3" fmla="*/ 0 h 707339"/>
                      <a:gd name="connsiteX4" fmla="*/ 2514600 w 6796216"/>
                      <a:gd name="connsiteY4" fmla="*/ 0 h 707339"/>
                      <a:gd name="connsiteX5" fmla="*/ 3126259 w 6796216"/>
                      <a:gd name="connsiteY5" fmla="*/ 0 h 707339"/>
                      <a:gd name="connsiteX6" fmla="*/ 3941805 w 6796216"/>
                      <a:gd name="connsiteY6" fmla="*/ 0 h 707339"/>
                      <a:gd name="connsiteX7" fmla="*/ 4621427 w 6796216"/>
                      <a:gd name="connsiteY7" fmla="*/ 0 h 707339"/>
                      <a:gd name="connsiteX8" fmla="*/ 5369011 w 6796216"/>
                      <a:gd name="connsiteY8" fmla="*/ 0 h 707339"/>
                      <a:gd name="connsiteX9" fmla="*/ 5980670 w 6796216"/>
                      <a:gd name="connsiteY9" fmla="*/ 0 h 707339"/>
                      <a:gd name="connsiteX10" fmla="*/ 6796216 w 6796216"/>
                      <a:gd name="connsiteY10" fmla="*/ 0 h 707339"/>
                      <a:gd name="connsiteX11" fmla="*/ 6796216 w 6796216"/>
                      <a:gd name="connsiteY11" fmla="*/ 367816 h 707339"/>
                      <a:gd name="connsiteX12" fmla="*/ 6796216 w 6796216"/>
                      <a:gd name="connsiteY12" fmla="*/ 707339 h 707339"/>
                      <a:gd name="connsiteX13" fmla="*/ 6320481 w 6796216"/>
                      <a:gd name="connsiteY13" fmla="*/ 707339 h 707339"/>
                      <a:gd name="connsiteX14" fmla="*/ 5844746 w 6796216"/>
                      <a:gd name="connsiteY14" fmla="*/ 707339 h 707339"/>
                      <a:gd name="connsiteX15" fmla="*/ 5097162 w 6796216"/>
                      <a:gd name="connsiteY15" fmla="*/ 707339 h 707339"/>
                      <a:gd name="connsiteX16" fmla="*/ 4621427 w 6796216"/>
                      <a:gd name="connsiteY16" fmla="*/ 707339 h 707339"/>
                      <a:gd name="connsiteX17" fmla="*/ 3941805 w 6796216"/>
                      <a:gd name="connsiteY17" fmla="*/ 707339 h 707339"/>
                      <a:gd name="connsiteX18" fmla="*/ 3398108 w 6796216"/>
                      <a:gd name="connsiteY18" fmla="*/ 707339 h 707339"/>
                      <a:gd name="connsiteX19" fmla="*/ 2718486 w 6796216"/>
                      <a:gd name="connsiteY19" fmla="*/ 707339 h 707339"/>
                      <a:gd name="connsiteX20" fmla="*/ 2038865 w 6796216"/>
                      <a:gd name="connsiteY20" fmla="*/ 707339 h 707339"/>
                      <a:gd name="connsiteX21" fmla="*/ 1359243 w 6796216"/>
                      <a:gd name="connsiteY21" fmla="*/ 707339 h 707339"/>
                      <a:gd name="connsiteX22" fmla="*/ 679622 w 6796216"/>
                      <a:gd name="connsiteY22" fmla="*/ 707339 h 707339"/>
                      <a:gd name="connsiteX23" fmla="*/ 0 w 6796216"/>
                      <a:gd name="connsiteY23" fmla="*/ 707339 h 707339"/>
                      <a:gd name="connsiteX24" fmla="*/ 0 w 6796216"/>
                      <a:gd name="connsiteY24" fmla="*/ 346596 h 707339"/>
                      <a:gd name="connsiteX25" fmla="*/ 0 w 6796216"/>
                      <a:gd name="connsiteY25" fmla="*/ 0 h 7073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6796216" h="707339" fill="none" extrusionOk="0">
                        <a:moveTo>
                          <a:pt x="0" y="0"/>
                        </a:moveTo>
                        <a:cubicBezTo>
                          <a:pt x="158482" y="13642"/>
                          <a:pt x="323873" y="11040"/>
                          <a:pt x="475735" y="0"/>
                        </a:cubicBezTo>
                        <a:cubicBezTo>
                          <a:pt x="627597" y="-11040"/>
                          <a:pt x="915688" y="15166"/>
                          <a:pt x="1291281" y="0"/>
                        </a:cubicBezTo>
                        <a:cubicBezTo>
                          <a:pt x="1666874" y="-15166"/>
                          <a:pt x="1842133" y="-8036"/>
                          <a:pt x="2038865" y="0"/>
                        </a:cubicBezTo>
                        <a:cubicBezTo>
                          <a:pt x="2235597" y="8036"/>
                          <a:pt x="2351084" y="-5965"/>
                          <a:pt x="2514600" y="0"/>
                        </a:cubicBezTo>
                        <a:cubicBezTo>
                          <a:pt x="2678117" y="5965"/>
                          <a:pt x="2906047" y="19441"/>
                          <a:pt x="3126259" y="0"/>
                        </a:cubicBezTo>
                        <a:cubicBezTo>
                          <a:pt x="3346471" y="-19441"/>
                          <a:pt x="3698246" y="16823"/>
                          <a:pt x="3941805" y="0"/>
                        </a:cubicBezTo>
                        <a:cubicBezTo>
                          <a:pt x="4185364" y="-16823"/>
                          <a:pt x="4300557" y="-22232"/>
                          <a:pt x="4621427" y="0"/>
                        </a:cubicBezTo>
                        <a:cubicBezTo>
                          <a:pt x="4942297" y="22232"/>
                          <a:pt x="5110142" y="-9604"/>
                          <a:pt x="5369011" y="0"/>
                        </a:cubicBezTo>
                        <a:cubicBezTo>
                          <a:pt x="5627880" y="9604"/>
                          <a:pt x="5700905" y="-25167"/>
                          <a:pt x="5980670" y="0"/>
                        </a:cubicBezTo>
                        <a:cubicBezTo>
                          <a:pt x="6260435" y="25167"/>
                          <a:pt x="6604054" y="-3449"/>
                          <a:pt x="6796216" y="0"/>
                        </a:cubicBezTo>
                        <a:cubicBezTo>
                          <a:pt x="6805476" y="155348"/>
                          <a:pt x="6799184" y="240493"/>
                          <a:pt x="6796216" y="367816"/>
                        </a:cubicBezTo>
                        <a:cubicBezTo>
                          <a:pt x="6793248" y="495139"/>
                          <a:pt x="6785142" y="633140"/>
                          <a:pt x="6796216" y="707339"/>
                        </a:cubicBezTo>
                        <a:cubicBezTo>
                          <a:pt x="6600114" y="699844"/>
                          <a:pt x="6524712" y="690755"/>
                          <a:pt x="6320481" y="707339"/>
                        </a:cubicBezTo>
                        <a:cubicBezTo>
                          <a:pt x="6116250" y="723923"/>
                          <a:pt x="5977022" y="698373"/>
                          <a:pt x="5844746" y="707339"/>
                        </a:cubicBezTo>
                        <a:cubicBezTo>
                          <a:pt x="5712470" y="716305"/>
                          <a:pt x="5451355" y="728589"/>
                          <a:pt x="5097162" y="707339"/>
                        </a:cubicBezTo>
                        <a:cubicBezTo>
                          <a:pt x="4742969" y="686089"/>
                          <a:pt x="4750118" y="725648"/>
                          <a:pt x="4621427" y="707339"/>
                        </a:cubicBezTo>
                        <a:cubicBezTo>
                          <a:pt x="4492736" y="689030"/>
                          <a:pt x="4163256" y="684237"/>
                          <a:pt x="3941805" y="707339"/>
                        </a:cubicBezTo>
                        <a:cubicBezTo>
                          <a:pt x="3720354" y="730441"/>
                          <a:pt x="3650163" y="733436"/>
                          <a:pt x="3398108" y="707339"/>
                        </a:cubicBezTo>
                        <a:cubicBezTo>
                          <a:pt x="3146053" y="681242"/>
                          <a:pt x="2938302" y="677643"/>
                          <a:pt x="2718486" y="707339"/>
                        </a:cubicBezTo>
                        <a:cubicBezTo>
                          <a:pt x="2498670" y="737035"/>
                          <a:pt x="2302616" y="684022"/>
                          <a:pt x="2038865" y="707339"/>
                        </a:cubicBezTo>
                        <a:cubicBezTo>
                          <a:pt x="1775114" y="730656"/>
                          <a:pt x="1534264" y="735197"/>
                          <a:pt x="1359243" y="707339"/>
                        </a:cubicBezTo>
                        <a:cubicBezTo>
                          <a:pt x="1184222" y="679481"/>
                          <a:pt x="995481" y="702819"/>
                          <a:pt x="679622" y="707339"/>
                        </a:cubicBezTo>
                        <a:cubicBezTo>
                          <a:pt x="363763" y="711859"/>
                          <a:pt x="319907" y="722968"/>
                          <a:pt x="0" y="707339"/>
                        </a:cubicBezTo>
                        <a:cubicBezTo>
                          <a:pt x="5888" y="600781"/>
                          <a:pt x="-13577" y="468738"/>
                          <a:pt x="0" y="346596"/>
                        </a:cubicBezTo>
                        <a:cubicBezTo>
                          <a:pt x="13577" y="224454"/>
                          <a:pt x="11157" y="147435"/>
                          <a:pt x="0" y="0"/>
                        </a:cubicBezTo>
                        <a:close/>
                      </a:path>
                      <a:path w="6796216" h="707339" stroke="0" extrusionOk="0">
                        <a:moveTo>
                          <a:pt x="0" y="0"/>
                        </a:moveTo>
                        <a:cubicBezTo>
                          <a:pt x="263315" y="-30526"/>
                          <a:pt x="376806" y="9684"/>
                          <a:pt x="611659" y="0"/>
                        </a:cubicBezTo>
                        <a:cubicBezTo>
                          <a:pt x="846512" y="-9684"/>
                          <a:pt x="891261" y="7906"/>
                          <a:pt x="1087395" y="0"/>
                        </a:cubicBezTo>
                        <a:cubicBezTo>
                          <a:pt x="1283529" y="-7906"/>
                          <a:pt x="1589456" y="-31082"/>
                          <a:pt x="1902940" y="0"/>
                        </a:cubicBezTo>
                        <a:cubicBezTo>
                          <a:pt x="2216425" y="31082"/>
                          <a:pt x="2379094" y="16346"/>
                          <a:pt x="2514600" y="0"/>
                        </a:cubicBezTo>
                        <a:cubicBezTo>
                          <a:pt x="2650106" y="-16346"/>
                          <a:pt x="2844185" y="-9705"/>
                          <a:pt x="3126259" y="0"/>
                        </a:cubicBezTo>
                        <a:cubicBezTo>
                          <a:pt x="3408333" y="9705"/>
                          <a:pt x="3570046" y="30492"/>
                          <a:pt x="3941805" y="0"/>
                        </a:cubicBezTo>
                        <a:cubicBezTo>
                          <a:pt x="4313564" y="-30492"/>
                          <a:pt x="4271388" y="-6842"/>
                          <a:pt x="4485503" y="0"/>
                        </a:cubicBezTo>
                        <a:cubicBezTo>
                          <a:pt x="4699618" y="6842"/>
                          <a:pt x="5075277" y="-32953"/>
                          <a:pt x="5301048" y="0"/>
                        </a:cubicBezTo>
                        <a:cubicBezTo>
                          <a:pt x="5526820" y="32953"/>
                          <a:pt x="5936401" y="-16251"/>
                          <a:pt x="6116594" y="0"/>
                        </a:cubicBezTo>
                        <a:cubicBezTo>
                          <a:pt x="6296787" y="16251"/>
                          <a:pt x="6530551" y="-19925"/>
                          <a:pt x="6796216" y="0"/>
                        </a:cubicBezTo>
                        <a:cubicBezTo>
                          <a:pt x="6784583" y="142871"/>
                          <a:pt x="6784773" y="268773"/>
                          <a:pt x="6796216" y="367816"/>
                        </a:cubicBezTo>
                        <a:cubicBezTo>
                          <a:pt x="6807659" y="466859"/>
                          <a:pt x="6809430" y="635617"/>
                          <a:pt x="6796216" y="707339"/>
                        </a:cubicBezTo>
                        <a:cubicBezTo>
                          <a:pt x="6594473" y="692597"/>
                          <a:pt x="6415900" y="688270"/>
                          <a:pt x="6320481" y="707339"/>
                        </a:cubicBezTo>
                        <a:cubicBezTo>
                          <a:pt x="6225062" y="726408"/>
                          <a:pt x="5893318" y="735647"/>
                          <a:pt x="5504935" y="707339"/>
                        </a:cubicBezTo>
                        <a:cubicBezTo>
                          <a:pt x="5116552" y="679031"/>
                          <a:pt x="5086185" y="691357"/>
                          <a:pt x="4961238" y="707339"/>
                        </a:cubicBezTo>
                        <a:cubicBezTo>
                          <a:pt x="4836291" y="723321"/>
                          <a:pt x="4462847" y="736123"/>
                          <a:pt x="4281616" y="707339"/>
                        </a:cubicBezTo>
                        <a:cubicBezTo>
                          <a:pt x="4100385" y="678555"/>
                          <a:pt x="3678545" y="697772"/>
                          <a:pt x="3466070" y="707339"/>
                        </a:cubicBezTo>
                        <a:cubicBezTo>
                          <a:pt x="3253595" y="716906"/>
                          <a:pt x="2936958" y="700962"/>
                          <a:pt x="2786449" y="707339"/>
                        </a:cubicBezTo>
                        <a:cubicBezTo>
                          <a:pt x="2635940" y="713716"/>
                          <a:pt x="2490099" y="684128"/>
                          <a:pt x="2310713" y="707339"/>
                        </a:cubicBezTo>
                        <a:cubicBezTo>
                          <a:pt x="2131327" y="730550"/>
                          <a:pt x="1923778" y="684436"/>
                          <a:pt x="1767016" y="707339"/>
                        </a:cubicBezTo>
                        <a:cubicBezTo>
                          <a:pt x="1610254" y="730242"/>
                          <a:pt x="1304265" y="708629"/>
                          <a:pt x="951470" y="707339"/>
                        </a:cubicBezTo>
                        <a:cubicBezTo>
                          <a:pt x="598675" y="706049"/>
                          <a:pt x="386513" y="732125"/>
                          <a:pt x="0" y="707339"/>
                        </a:cubicBezTo>
                        <a:cubicBezTo>
                          <a:pt x="11046" y="553247"/>
                          <a:pt x="16916" y="483304"/>
                          <a:pt x="0" y="367816"/>
                        </a:cubicBezTo>
                        <a:cubicBezTo>
                          <a:pt x="-16916" y="252328"/>
                          <a:pt x="-6144" y="1543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2C460B0-38B5-B345-9D36-B1D62FDDDB4C}"/>
              </a:ext>
            </a:extLst>
          </p:cNvPr>
          <p:cNvSpPr txBox="1"/>
          <p:nvPr/>
        </p:nvSpPr>
        <p:spPr>
          <a:xfrm>
            <a:off x="3287218" y="1477116"/>
            <a:ext cx="309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Hierarchy of RS methods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E13A4BC4-E23F-A64A-FC3D-3E95D542665E}"/>
                  </a:ext>
                </a:extLst>
              </p:cNvPr>
              <p:cNvSpPr txBox="1"/>
              <p:nvPr/>
            </p:nvSpPr>
            <p:spPr>
              <a:xfrm>
                <a:off x="4270840" y="2205681"/>
                <a:ext cx="6819816" cy="4458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𝜟</m:t>
                          </m:r>
                        </m:sub>
                      </m:sSub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sz="2000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)) 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sz="20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20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20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̅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0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0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jω</m:t>
                          </m:r>
                          <m:r>
                            <a:rPr lang="en-US" sz="20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m:rPr>
                          <m:sty m:val="p"/>
                        </m:rPr>
                        <a:rPr lang="en-US" sz="20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jω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000" i="1" dirty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a:rPr lang="en-US" sz="2000" b="0" i="1" dirty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dirty="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jω</m:t>
                      </m:r>
                      <m:r>
                        <a:rPr lang="en-US" sz="200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))≤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̅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0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))    ∀ 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E13A4BC4-E23F-A64A-FC3D-3E95D5426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0840" y="2205681"/>
                <a:ext cx="6819816" cy="445891"/>
              </a:xfrm>
              <a:prstGeom prst="rect">
                <a:avLst/>
              </a:prstGeom>
              <a:blipFill>
                <a:blip r:embed="rId3"/>
                <a:stretch>
                  <a:fillRect l="-179" b="-19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magine 12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E54582FC-D73F-F2F1-2AC5-19B3F7BA1A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513" y="2982041"/>
            <a:ext cx="4468789" cy="38274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9128E098-77C5-4C66-E8C7-68A40B2C52A8}"/>
                  </a:ext>
                </a:extLst>
              </p:cNvPr>
              <p:cNvSpPr txBox="1"/>
              <p:nvPr/>
            </p:nvSpPr>
            <p:spPr>
              <a:xfrm>
                <a:off x="8051801" y="3048857"/>
                <a:ext cx="366498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/>
                  <a:t>Structured singular value (</a:t>
                </a:r>
                <a:r>
                  <a:rPr lang="en-US" err="1"/>
                  <a:t>ssv</a:t>
                </a:r>
                <a:r>
                  <a:rPr lang="en-US"/>
                  <a:t>): </a:t>
                </a:r>
                <a:endParaRPr lang="en-US" b="0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/>
                  <a:t>-analysis (IFF condition)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9128E098-77C5-4C66-E8C7-68A40B2C5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801" y="3048857"/>
                <a:ext cx="3664988" cy="923330"/>
              </a:xfrm>
              <a:prstGeom prst="rect">
                <a:avLst/>
              </a:prstGeom>
              <a:blipFill>
                <a:blip r:embed="rId5"/>
                <a:stretch>
                  <a:fillRect l="-1498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Segnaposto testo 5">
                <a:extLst>
                  <a:ext uri="{FF2B5EF4-FFF2-40B4-BE49-F238E27FC236}">
                    <a16:creationId xmlns:a16="http://schemas.microsoft.com/office/drawing/2014/main" id="{145141B7-78EA-E44C-4F53-0BE07C06D5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Unstructured RS condition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Scalings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Structured singular values: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-analysis.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endParaRPr lang="en-US" noProof="0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noProof="0"/>
              </a:p>
            </p:txBody>
          </p:sp>
        </mc:Choice>
        <mc:Fallback xmlns="">
          <p:sp>
            <p:nvSpPr>
              <p:cNvPr id="2" name="Segnaposto testo 5">
                <a:extLst>
                  <a:ext uri="{FF2B5EF4-FFF2-40B4-BE49-F238E27FC236}">
                    <a16:creationId xmlns:a16="http://schemas.microsoft.com/office/drawing/2014/main" id="{145141B7-78EA-E44C-4F53-0BE07C06D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6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030977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2CBE3-3672-EBBD-2BD3-25AD26F98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4828A34-D05D-943D-D459-D8F80EF40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40EE7DC-BDBD-46DD-117B-03EE4FF04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117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1F655EC-DD05-6B76-9F04-CA06ADC76801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B036EE04-2513-DE6E-07EC-B02ACD043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4: RS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27ECEA2D-7764-70CB-DA58-72E89A800591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Stability Robustness to pitch-roll dynamics. uncertain coupling</a:t>
            </a:r>
          </a:p>
        </p:txBody>
      </p:sp>
      <p:pic>
        <p:nvPicPr>
          <p:cNvPr id="13" name="Immagine 12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86B0174F-FD92-6085-C457-1680368D12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514" y="1623140"/>
            <a:ext cx="5785786" cy="4955459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36DDE354-2861-7C0D-2CD9-840B7017776F}"/>
              </a:ext>
            </a:extLst>
          </p:cNvPr>
          <p:cNvSpPr/>
          <p:nvPr/>
        </p:nvSpPr>
        <p:spPr>
          <a:xfrm>
            <a:off x="3095514" y="4699000"/>
            <a:ext cx="4105386" cy="279399"/>
          </a:xfrm>
          <a:prstGeom prst="rect">
            <a:avLst/>
          </a:prstGeom>
          <a:noFill/>
          <a:ln w="28575">
            <a:solidFill>
              <a:srgbClr val="3B35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magine 11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9EFAFB6D-AFE6-B414-515D-85589E0AA2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722" y="5626099"/>
            <a:ext cx="4042078" cy="952499"/>
          </a:xfrm>
          <a:prstGeom prst="rect">
            <a:avLst/>
          </a:prstGeom>
          <a:ln w="28575">
            <a:solidFill>
              <a:srgbClr val="3B35DE"/>
            </a:solidFill>
          </a:ln>
        </p:spPr>
      </p:pic>
      <p:sp>
        <p:nvSpPr>
          <p:cNvPr id="14" name="Segnaposto testo 5">
            <a:extLst>
              <a:ext uri="{FF2B5EF4-FFF2-40B4-BE49-F238E27FC236}">
                <a16:creationId xmlns:a16="http://schemas.microsoft.com/office/drawing/2014/main" id="{C1B1BC43-BDFB-7353-7061-4DA1127A5385}"/>
              </a:ext>
            </a:extLst>
          </p:cNvPr>
          <p:cNvSpPr txBox="1">
            <a:spLocks/>
          </p:cNvSpPr>
          <p:nvPr/>
        </p:nvSpPr>
        <p:spPr>
          <a:xfrm>
            <a:off x="9967761" y="5269779"/>
            <a:ext cx="2509208" cy="365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MATLAB  documentation 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testo 5">
                <a:extLst>
                  <a:ext uri="{FF2B5EF4-FFF2-40B4-BE49-F238E27FC236}">
                    <a16:creationId xmlns:a16="http://schemas.microsoft.com/office/drawing/2014/main" id="{0508D2EB-9B4A-4658-4D39-09A67A5D98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Unstructured RS condition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Scalings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Structured singular values: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-analysis.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endParaRPr lang="en-US" noProof="0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noProof="0"/>
              </a:p>
            </p:txBody>
          </p:sp>
        </mc:Choice>
        <mc:Fallback xmlns="">
          <p:sp>
            <p:nvSpPr>
              <p:cNvPr id="4" name="Segnaposto testo 5">
                <a:extLst>
                  <a:ext uri="{FF2B5EF4-FFF2-40B4-BE49-F238E27FC236}">
                    <a16:creationId xmlns:a16="http://schemas.microsoft.com/office/drawing/2014/main" id="{0508D2EB-9B4A-4658-4D39-09A67A5D9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5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204696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CEB8A-6974-5B9D-0FE9-A3746A0D3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CE0D3F8-C1DB-5D29-218F-3713BAB6F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688" y="1798528"/>
            <a:ext cx="7277100" cy="4864100"/>
          </a:xfrm>
          <a:prstGeom prst="rect">
            <a:avLst/>
          </a:prstGeom>
        </p:spPr>
      </p:pic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457E6D4-BD4E-1DD6-07FE-007C2188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615ED23-0E4D-208C-1CC1-F5C3B376D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118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6B72113-CD53-50E3-360F-5C0D26079F36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9AD002B8-A2BB-945E-9561-00E339D81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4: RS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B2B8CA77-E18C-1C11-13C7-26CCDD1C7464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Stability Robustness to pitch-roll dynamics. uncertain 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C1C5005E-CB1B-D52F-52E0-ED6BF69A9632}"/>
                  </a:ext>
                </a:extLst>
              </p:cNvPr>
              <p:cNvSpPr txBox="1"/>
              <p:nvPr/>
            </p:nvSpPr>
            <p:spPr>
              <a:xfrm>
                <a:off x="3095514" y="1429196"/>
                <a:ext cx="92710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Δ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pt-PT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0.3462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1-&gt;</a:t>
                </a:r>
                <a:r>
                  <a:rPr lang="en-US" b="1">
                    <a:solidFill>
                      <a:srgbClr val="00B050"/>
                    </a:solidFill>
                  </a:rPr>
                  <a:t>RS</a:t>
                </a:r>
                <a:r>
                  <a:rPr lang="en-US"/>
                  <a:t> : </a:t>
                </a:r>
                <a:r>
                  <a:rPr lang="en-US" b="1">
                    <a:solidFill>
                      <a:srgbClr val="0070C0"/>
                    </a:solidFill>
                  </a:rPr>
                  <a:t>The system is robustly stable with respect to coupling.</a:t>
                </a:r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C1C5005E-CB1B-D52F-52E0-ED6BF69A9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14" y="1429196"/>
                <a:ext cx="9271001" cy="369332"/>
              </a:xfrm>
              <a:prstGeom prst="rect">
                <a:avLst/>
              </a:prstGeom>
              <a:blipFill>
                <a:blip r:embed="rId4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ttangolo 24">
            <a:extLst>
              <a:ext uri="{FF2B5EF4-FFF2-40B4-BE49-F238E27FC236}">
                <a16:creationId xmlns:a16="http://schemas.microsoft.com/office/drawing/2014/main" id="{FFFD6E5A-301B-C76B-751A-2995A97D2032}"/>
              </a:ext>
            </a:extLst>
          </p:cNvPr>
          <p:cNvSpPr/>
          <p:nvPr/>
        </p:nvSpPr>
        <p:spPr>
          <a:xfrm>
            <a:off x="8229601" y="2006504"/>
            <a:ext cx="779001" cy="423403"/>
          </a:xfrm>
          <a:prstGeom prst="rect">
            <a:avLst/>
          </a:prstGeom>
          <a:noFill/>
          <a:ln>
            <a:solidFill>
              <a:srgbClr val="3B35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DB384FC-E993-7954-570D-5F2815879E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257" y="2706120"/>
            <a:ext cx="3155608" cy="2024532"/>
          </a:xfrm>
          <a:prstGeom prst="rect">
            <a:avLst/>
          </a:prstGeom>
          <a:ln>
            <a:solidFill>
              <a:srgbClr val="3B35DE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egnaposto testo 5">
                <a:extLst>
                  <a:ext uri="{FF2B5EF4-FFF2-40B4-BE49-F238E27FC236}">
                    <a16:creationId xmlns:a16="http://schemas.microsoft.com/office/drawing/2014/main" id="{658D0CCF-436D-AA43-02E4-ED6E00CAEF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Unstructured RS condition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Scalings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Structured singular values: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-analysis.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endParaRPr lang="en-US" noProof="0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noProof="0"/>
              </a:p>
            </p:txBody>
          </p:sp>
        </mc:Choice>
        <mc:Fallback xmlns="">
          <p:sp>
            <p:nvSpPr>
              <p:cNvPr id="12" name="Segnaposto testo 5">
                <a:extLst>
                  <a:ext uri="{FF2B5EF4-FFF2-40B4-BE49-F238E27FC236}">
                    <a16:creationId xmlns:a16="http://schemas.microsoft.com/office/drawing/2014/main" id="{658D0CCF-436D-AA43-02E4-ED6E00CAE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6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618461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6C3E5-D88B-D239-24B5-B73357FA6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8B1BC7D-4A54-50FC-880F-500364FD4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EE9B772-7E98-30D3-4B1E-0FC5E96F8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119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DB910BB1-0D2A-A9C6-3754-E8D358CFE170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3E5B1E1A-CE62-6828-C338-830EE3179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4: RS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ABE4699-CA2E-B199-92A5-9FEE9743E67D}"/>
              </a:ext>
            </a:extLst>
          </p:cNvPr>
          <p:cNvSpPr txBox="1"/>
          <p:nvPr/>
        </p:nvSpPr>
        <p:spPr>
          <a:xfrm>
            <a:off x="3448554" y="1342265"/>
            <a:ext cx="14237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chemeClr val="tx2">
                    <a:lumMod val="75000"/>
                    <a:lumOff val="25000"/>
                  </a:schemeClr>
                </a:solidFill>
              </a:rPr>
              <a:t>Hierarchy of</a:t>
            </a:r>
          </a:p>
          <a:p>
            <a:r>
              <a:rPr lang="en-US" sz="1600" b="1">
                <a:solidFill>
                  <a:schemeClr val="tx2">
                    <a:lumMod val="75000"/>
                    <a:lumOff val="25000"/>
                  </a:schemeClr>
                </a:solidFill>
              </a:rPr>
              <a:t> RS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6ABE3B4E-4D8B-08FE-CA92-C1F2E14357D8}"/>
                  </a:ext>
                </a:extLst>
              </p:cNvPr>
              <p:cNvSpPr txBox="1"/>
              <p:nvPr/>
            </p:nvSpPr>
            <p:spPr>
              <a:xfrm>
                <a:off x="5273696" y="1500834"/>
                <a:ext cx="5260286" cy="3567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jω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)) ≤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̅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jω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jω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60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600" i="1" smtClean="0">
                          <a:latin typeface="Cambria Math" panose="02040503050406030204" pitchFamily="18" charset="0"/>
                        </a:rPr>
                        <m:t>jω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))≤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̅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jω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))    ∀ 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6ABE3B4E-4D8B-08FE-CA92-C1F2E1435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696" y="1500834"/>
                <a:ext cx="5260286" cy="356764"/>
              </a:xfrm>
              <a:prstGeom prst="rect">
                <a:avLst/>
              </a:prstGeom>
              <a:blipFill>
                <a:blip r:embed="rId3"/>
                <a:stretch>
                  <a:fillRect l="-1043" r="-695" b="-16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olo 1">
            <a:extLst>
              <a:ext uri="{FF2B5EF4-FFF2-40B4-BE49-F238E27FC236}">
                <a16:creationId xmlns:a16="http://schemas.microsoft.com/office/drawing/2014/main" id="{1FCF1A26-BE13-E43D-B9AD-88B266FB5F28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Stability Robustness to pitch-roll dynamics. uncertain 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368E8B20-DC58-4E5A-DC48-2E69E5D7E9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lang="it-IT"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Unstructured RS condition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noProof="0"/>
                  <a:t>Scalings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Structured singular values:</a:t>
                </a:r>
                <a14:m>
                  <m:oMath xmlns:m="http://schemas.openxmlformats.org/officeDocument/2006/math">
                    <m:r>
                      <a:rPr lang="en-US" b="1" i="1" noProof="0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b="1" noProof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-analysis.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b="1" noProof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endParaRPr lang="en-US" noProof="0"/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noProof="0"/>
              </a:p>
            </p:txBody>
          </p:sp>
        </mc:Choice>
        <mc:Fallback xmlns="">
          <p:sp>
            <p:nvSpPr>
              <p:cNvPr id="11" name="Segnaposto testo 5">
                <a:extLst>
                  <a:ext uri="{FF2B5EF4-FFF2-40B4-BE49-F238E27FC236}">
                    <a16:creationId xmlns:a16="http://schemas.microsoft.com/office/drawing/2014/main" id="{368E8B20-DC58-4E5A-DC48-2E69E5D7E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2060575"/>
                <a:ext cx="2383298" cy="4429125"/>
              </a:xfrm>
              <a:prstGeom prst="rect">
                <a:avLst/>
              </a:prstGeom>
              <a:blipFill>
                <a:blip r:embed="rId4"/>
                <a:stretch>
                  <a:fillRect l="-4604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ttangolo 15">
            <a:extLst>
              <a:ext uri="{FF2B5EF4-FFF2-40B4-BE49-F238E27FC236}">
                <a16:creationId xmlns:a16="http://schemas.microsoft.com/office/drawing/2014/main" id="{C52C6A10-07E2-C5F4-D7ED-8751C209D411}"/>
              </a:ext>
            </a:extLst>
          </p:cNvPr>
          <p:cNvSpPr/>
          <p:nvPr/>
        </p:nvSpPr>
        <p:spPr>
          <a:xfrm>
            <a:off x="5143501" y="1411707"/>
            <a:ext cx="5390481" cy="445892"/>
          </a:xfrm>
          <a:prstGeom prst="rect">
            <a:avLst/>
          </a:prstGeom>
          <a:solidFill>
            <a:schemeClr val="tx2">
              <a:lumMod val="10000"/>
              <a:lumOff val="90000"/>
              <a:alpha val="27214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796216"/>
                      <a:gd name="connsiteY0" fmla="*/ 0 h 707339"/>
                      <a:gd name="connsiteX1" fmla="*/ 475735 w 6796216"/>
                      <a:gd name="connsiteY1" fmla="*/ 0 h 707339"/>
                      <a:gd name="connsiteX2" fmla="*/ 1291281 w 6796216"/>
                      <a:gd name="connsiteY2" fmla="*/ 0 h 707339"/>
                      <a:gd name="connsiteX3" fmla="*/ 2038865 w 6796216"/>
                      <a:gd name="connsiteY3" fmla="*/ 0 h 707339"/>
                      <a:gd name="connsiteX4" fmla="*/ 2514600 w 6796216"/>
                      <a:gd name="connsiteY4" fmla="*/ 0 h 707339"/>
                      <a:gd name="connsiteX5" fmla="*/ 3126259 w 6796216"/>
                      <a:gd name="connsiteY5" fmla="*/ 0 h 707339"/>
                      <a:gd name="connsiteX6" fmla="*/ 3941805 w 6796216"/>
                      <a:gd name="connsiteY6" fmla="*/ 0 h 707339"/>
                      <a:gd name="connsiteX7" fmla="*/ 4621427 w 6796216"/>
                      <a:gd name="connsiteY7" fmla="*/ 0 h 707339"/>
                      <a:gd name="connsiteX8" fmla="*/ 5369011 w 6796216"/>
                      <a:gd name="connsiteY8" fmla="*/ 0 h 707339"/>
                      <a:gd name="connsiteX9" fmla="*/ 5980670 w 6796216"/>
                      <a:gd name="connsiteY9" fmla="*/ 0 h 707339"/>
                      <a:gd name="connsiteX10" fmla="*/ 6796216 w 6796216"/>
                      <a:gd name="connsiteY10" fmla="*/ 0 h 707339"/>
                      <a:gd name="connsiteX11" fmla="*/ 6796216 w 6796216"/>
                      <a:gd name="connsiteY11" fmla="*/ 367816 h 707339"/>
                      <a:gd name="connsiteX12" fmla="*/ 6796216 w 6796216"/>
                      <a:gd name="connsiteY12" fmla="*/ 707339 h 707339"/>
                      <a:gd name="connsiteX13" fmla="*/ 6320481 w 6796216"/>
                      <a:gd name="connsiteY13" fmla="*/ 707339 h 707339"/>
                      <a:gd name="connsiteX14" fmla="*/ 5844746 w 6796216"/>
                      <a:gd name="connsiteY14" fmla="*/ 707339 h 707339"/>
                      <a:gd name="connsiteX15" fmla="*/ 5097162 w 6796216"/>
                      <a:gd name="connsiteY15" fmla="*/ 707339 h 707339"/>
                      <a:gd name="connsiteX16" fmla="*/ 4621427 w 6796216"/>
                      <a:gd name="connsiteY16" fmla="*/ 707339 h 707339"/>
                      <a:gd name="connsiteX17" fmla="*/ 3941805 w 6796216"/>
                      <a:gd name="connsiteY17" fmla="*/ 707339 h 707339"/>
                      <a:gd name="connsiteX18" fmla="*/ 3398108 w 6796216"/>
                      <a:gd name="connsiteY18" fmla="*/ 707339 h 707339"/>
                      <a:gd name="connsiteX19" fmla="*/ 2718486 w 6796216"/>
                      <a:gd name="connsiteY19" fmla="*/ 707339 h 707339"/>
                      <a:gd name="connsiteX20" fmla="*/ 2038865 w 6796216"/>
                      <a:gd name="connsiteY20" fmla="*/ 707339 h 707339"/>
                      <a:gd name="connsiteX21" fmla="*/ 1359243 w 6796216"/>
                      <a:gd name="connsiteY21" fmla="*/ 707339 h 707339"/>
                      <a:gd name="connsiteX22" fmla="*/ 679622 w 6796216"/>
                      <a:gd name="connsiteY22" fmla="*/ 707339 h 707339"/>
                      <a:gd name="connsiteX23" fmla="*/ 0 w 6796216"/>
                      <a:gd name="connsiteY23" fmla="*/ 707339 h 707339"/>
                      <a:gd name="connsiteX24" fmla="*/ 0 w 6796216"/>
                      <a:gd name="connsiteY24" fmla="*/ 346596 h 707339"/>
                      <a:gd name="connsiteX25" fmla="*/ 0 w 6796216"/>
                      <a:gd name="connsiteY25" fmla="*/ 0 h 7073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6796216" h="707339" fill="none" extrusionOk="0">
                        <a:moveTo>
                          <a:pt x="0" y="0"/>
                        </a:moveTo>
                        <a:cubicBezTo>
                          <a:pt x="158482" y="13642"/>
                          <a:pt x="323873" y="11040"/>
                          <a:pt x="475735" y="0"/>
                        </a:cubicBezTo>
                        <a:cubicBezTo>
                          <a:pt x="627597" y="-11040"/>
                          <a:pt x="915688" y="15166"/>
                          <a:pt x="1291281" y="0"/>
                        </a:cubicBezTo>
                        <a:cubicBezTo>
                          <a:pt x="1666874" y="-15166"/>
                          <a:pt x="1842133" y="-8036"/>
                          <a:pt x="2038865" y="0"/>
                        </a:cubicBezTo>
                        <a:cubicBezTo>
                          <a:pt x="2235597" y="8036"/>
                          <a:pt x="2351084" y="-5965"/>
                          <a:pt x="2514600" y="0"/>
                        </a:cubicBezTo>
                        <a:cubicBezTo>
                          <a:pt x="2678117" y="5965"/>
                          <a:pt x="2906047" y="19441"/>
                          <a:pt x="3126259" y="0"/>
                        </a:cubicBezTo>
                        <a:cubicBezTo>
                          <a:pt x="3346471" y="-19441"/>
                          <a:pt x="3698246" y="16823"/>
                          <a:pt x="3941805" y="0"/>
                        </a:cubicBezTo>
                        <a:cubicBezTo>
                          <a:pt x="4185364" y="-16823"/>
                          <a:pt x="4300557" y="-22232"/>
                          <a:pt x="4621427" y="0"/>
                        </a:cubicBezTo>
                        <a:cubicBezTo>
                          <a:pt x="4942297" y="22232"/>
                          <a:pt x="5110142" y="-9604"/>
                          <a:pt x="5369011" y="0"/>
                        </a:cubicBezTo>
                        <a:cubicBezTo>
                          <a:pt x="5627880" y="9604"/>
                          <a:pt x="5700905" y="-25167"/>
                          <a:pt x="5980670" y="0"/>
                        </a:cubicBezTo>
                        <a:cubicBezTo>
                          <a:pt x="6260435" y="25167"/>
                          <a:pt x="6604054" y="-3449"/>
                          <a:pt x="6796216" y="0"/>
                        </a:cubicBezTo>
                        <a:cubicBezTo>
                          <a:pt x="6805476" y="155348"/>
                          <a:pt x="6799184" y="240493"/>
                          <a:pt x="6796216" y="367816"/>
                        </a:cubicBezTo>
                        <a:cubicBezTo>
                          <a:pt x="6793248" y="495139"/>
                          <a:pt x="6785142" y="633140"/>
                          <a:pt x="6796216" y="707339"/>
                        </a:cubicBezTo>
                        <a:cubicBezTo>
                          <a:pt x="6600114" y="699844"/>
                          <a:pt x="6524712" y="690755"/>
                          <a:pt x="6320481" y="707339"/>
                        </a:cubicBezTo>
                        <a:cubicBezTo>
                          <a:pt x="6116250" y="723923"/>
                          <a:pt x="5977022" y="698373"/>
                          <a:pt x="5844746" y="707339"/>
                        </a:cubicBezTo>
                        <a:cubicBezTo>
                          <a:pt x="5712470" y="716305"/>
                          <a:pt x="5451355" y="728589"/>
                          <a:pt x="5097162" y="707339"/>
                        </a:cubicBezTo>
                        <a:cubicBezTo>
                          <a:pt x="4742969" y="686089"/>
                          <a:pt x="4750118" y="725648"/>
                          <a:pt x="4621427" y="707339"/>
                        </a:cubicBezTo>
                        <a:cubicBezTo>
                          <a:pt x="4492736" y="689030"/>
                          <a:pt x="4163256" y="684237"/>
                          <a:pt x="3941805" y="707339"/>
                        </a:cubicBezTo>
                        <a:cubicBezTo>
                          <a:pt x="3720354" y="730441"/>
                          <a:pt x="3650163" y="733436"/>
                          <a:pt x="3398108" y="707339"/>
                        </a:cubicBezTo>
                        <a:cubicBezTo>
                          <a:pt x="3146053" y="681242"/>
                          <a:pt x="2938302" y="677643"/>
                          <a:pt x="2718486" y="707339"/>
                        </a:cubicBezTo>
                        <a:cubicBezTo>
                          <a:pt x="2498670" y="737035"/>
                          <a:pt x="2302616" y="684022"/>
                          <a:pt x="2038865" y="707339"/>
                        </a:cubicBezTo>
                        <a:cubicBezTo>
                          <a:pt x="1775114" y="730656"/>
                          <a:pt x="1534264" y="735197"/>
                          <a:pt x="1359243" y="707339"/>
                        </a:cubicBezTo>
                        <a:cubicBezTo>
                          <a:pt x="1184222" y="679481"/>
                          <a:pt x="995481" y="702819"/>
                          <a:pt x="679622" y="707339"/>
                        </a:cubicBezTo>
                        <a:cubicBezTo>
                          <a:pt x="363763" y="711859"/>
                          <a:pt x="319907" y="722968"/>
                          <a:pt x="0" y="707339"/>
                        </a:cubicBezTo>
                        <a:cubicBezTo>
                          <a:pt x="5888" y="600781"/>
                          <a:pt x="-13577" y="468738"/>
                          <a:pt x="0" y="346596"/>
                        </a:cubicBezTo>
                        <a:cubicBezTo>
                          <a:pt x="13577" y="224454"/>
                          <a:pt x="11157" y="147435"/>
                          <a:pt x="0" y="0"/>
                        </a:cubicBezTo>
                        <a:close/>
                      </a:path>
                      <a:path w="6796216" h="707339" stroke="0" extrusionOk="0">
                        <a:moveTo>
                          <a:pt x="0" y="0"/>
                        </a:moveTo>
                        <a:cubicBezTo>
                          <a:pt x="263315" y="-30526"/>
                          <a:pt x="376806" y="9684"/>
                          <a:pt x="611659" y="0"/>
                        </a:cubicBezTo>
                        <a:cubicBezTo>
                          <a:pt x="846512" y="-9684"/>
                          <a:pt x="891261" y="7906"/>
                          <a:pt x="1087395" y="0"/>
                        </a:cubicBezTo>
                        <a:cubicBezTo>
                          <a:pt x="1283529" y="-7906"/>
                          <a:pt x="1589456" y="-31082"/>
                          <a:pt x="1902940" y="0"/>
                        </a:cubicBezTo>
                        <a:cubicBezTo>
                          <a:pt x="2216425" y="31082"/>
                          <a:pt x="2379094" y="16346"/>
                          <a:pt x="2514600" y="0"/>
                        </a:cubicBezTo>
                        <a:cubicBezTo>
                          <a:pt x="2650106" y="-16346"/>
                          <a:pt x="2844185" y="-9705"/>
                          <a:pt x="3126259" y="0"/>
                        </a:cubicBezTo>
                        <a:cubicBezTo>
                          <a:pt x="3408333" y="9705"/>
                          <a:pt x="3570046" y="30492"/>
                          <a:pt x="3941805" y="0"/>
                        </a:cubicBezTo>
                        <a:cubicBezTo>
                          <a:pt x="4313564" y="-30492"/>
                          <a:pt x="4271388" y="-6842"/>
                          <a:pt x="4485503" y="0"/>
                        </a:cubicBezTo>
                        <a:cubicBezTo>
                          <a:pt x="4699618" y="6842"/>
                          <a:pt x="5075277" y="-32953"/>
                          <a:pt x="5301048" y="0"/>
                        </a:cubicBezTo>
                        <a:cubicBezTo>
                          <a:pt x="5526820" y="32953"/>
                          <a:pt x="5936401" y="-16251"/>
                          <a:pt x="6116594" y="0"/>
                        </a:cubicBezTo>
                        <a:cubicBezTo>
                          <a:pt x="6296787" y="16251"/>
                          <a:pt x="6530551" y="-19925"/>
                          <a:pt x="6796216" y="0"/>
                        </a:cubicBezTo>
                        <a:cubicBezTo>
                          <a:pt x="6784583" y="142871"/>
                          <a:pt x="6784773" y="268773"/>
                          <a:pt x="6796216" y="367816"/>
                        </a:cubicBezTo>
                        <a:cubicBezTo>
                          <a:pt x="6807659" y="466859"/>
                          <a:pt x="6809430" y="635617"/>
                          <a:pt x="6796216" y="707339"/>
                        </a:cubicBezTo>
                        <a:cubicBezTo>
                          <a:pt x="6594473" y="692597"/>
                          <a:pt x="6415900" y="688270"/>
                          <a:pt x="6320481" y="707339"/>
                        </a:cubicBezTo>
                        <a:cubicBezTo>
                          <a:pt x="6225062" y="726408"/>
                          <a:pt x="5893318" y="735647"/>
                          <a:pt x="5504935" y="707339"/>
                        </a:cubicBezTo>
                        <a:cubicBezTo>
                          <a:pt x="5116552" y="679031"/>
                          <a:pt x="5086185" y="691357"/>
                          <a:pt x="4961238" y="707339"/>
                        </a:cubicBezTo>
                        <a:cubicBezTo>
                          <a:pt x="4836291" y="723321"/>
                          <a:pt x="4462847" y="736123"/>
                          <a:pt x="4281616" y="707339"/>
                        </a:cubicBezTo>
                        <a:cubicBezTo>
                          <a:pt x="4100385" y="678555"/>
                          <a:pt x="3678545" y="697772"/>
                          <a:pt x="3466070" y="707339"/>
                        </a:cubicBezTo>
                        <a:cubicBezTo>
                          <a:pt x="3253595" y="716906"/>
                          <a:pt x="2936958" y="700962"/>
                          <a:pt x="2786449" y="707339"/>
                        </a:cubicBezTo>
                        <a:cubicBezTo>
                          <a:pt x="2635940" y="713716"/>
                          <a:pt x="2490099" y="684128"/>
                          <a:pt x="2310713" y="707339"/>
                        </a:cubicBezTo>
                        <a:cubicBezTo>
                          <a:pt x="2131327" y="730550"/>
                          <a:pt x="1923778" y="684436"/>
                          <a:pt x="1767016" y="707339"/>
                        </a:cubicBezTo>
                        <a:cubicBezTo>
                          <a:pt x="1610254" y="730242"/>
                          <a:pt x="1304265" y="708629"/>
                          <a:pt x="951470" y="707339"/>
                        </a:cubicBezTo>
                        <a:cubicBezTo>
                          <a:pt x="598675" y="706049"/>
                          <a:pt x="386513" y="732125"/>
                          <a:pt x="0" y="707339"/>
                        </a:cubicBezTo>
                        <a:cubicBezTo>
                          <a:pt x="11046" y="553247"/>
                          <a:pt x="16916" y="483304"/>
                          <a:pt x="0" y="367816"/>
                        </a:cubicBezTo>
                        <a:cubicBezTo>
                          <a:pt x="-16916" y="252328"/>
                          <a:pt x="-6144" y="1543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879AF58-2153-5BB1-1F2C-28D08FE76E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644" y="1922575"/>
            <a:ext cx="721360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3245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CAC2B-C06E-0921-74A9-034D8E0B2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86586E-1497-A2AA-336D-BC43C6D5A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 5: Monte Carlo Campaign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1F05E12-8C16-DEA9-5C7A-50217BD93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26D3B-03D2-4B47-B87E-FB37B34FF9BC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C1EA474-6304-705A-BAA9-1E0155B24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120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F0F2DDAC-EB79-6372-83E4-8969FD6C9A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3600"/>
              <a:t>TASK</a:t>
            </a:r>
            <a:endParaRPr lang="en-US"/>
          </a:p>
          <a:p>
            <a:r>
              <a:rPr lang="en-US"/>
              <a:t>5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388A4F6-A741-D403-0A05-ED638660FC1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-5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68458" y="2596443"/>
            <a:ext cx="6545986" cy="4809068"/>
          </a:xfrm>
          <a:prstGeom prst="rect">
            <a:avLst/>
          </a:prstGeom>
        </p:spPr>
      </p:pic>
      <p:sp>
        <p:nvSpPr>
          <p:cNvPr id="7" name="Segnaposto piè di pagina 3">
            <a:extLst>
              <a:ext uri="{FF2B5EF4-FFF2-40B4-BE49-F238E27FC236}">
                <a16:creationId xmlns:a16="http://schemas.microsoft.com/office/drawing/2014/main" id="{22BD6132-E312-C934-EEF5-DA9B76F0E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4" y="39688"/>
            <a:ext cx="7204381" cy="365125"/>
          </a:xfrm>
        </p:spPr>
        <p:txBody>
          <a:bodyPr anchor="b">
            <a:normAutofit/>
          </a:bodyPr>
          <a:lstStyle/>
          <a:p>
            <a:pPr lvl="0"/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86119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6663D-ED47-10D3-B515-25869FBBE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9A17E2A-8378-79F9-E5BF-F0C8F374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C875023-6CA6-6B71-AF9A-9AAFDB6ED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121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2589F4BF-49BC-46C5-059D-378016751E4A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2807A290-08BD-BA66-4B2D-FB53D35C7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DE98539-3D92-CAF6-722B-E7F74A3F5CD9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256F3913-5C98-D804-112B-C6D27133152B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  <a:endParaRPr lang="en-US" noProof="0"/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C7E73AD9-C3AF-1482-72B4-97FBD5C0DF68}"/>
                  </a:ext>
                </a:extLst>
              </p:cNvPr>
              <p:cNvSpPr txBox="1"/>
              <p:nvPr/>
            </p:nvSpPr>
            <p:spPr>
              <a:xfrm>
                <a:off x="2964267" y="1168507"/>
                <a:ext cx="9037233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noProof="0"/>
                  <a:t>Robustness implementation and verifications worked assuming </a:t>
                </a:r>
                <a:r>
                  <a:rPr lang="en-US" sz="1600" b="1" noProof="0"/>
                  <a:t>uniform distributions</a:t>
                </a:r>
                <a:r>
                  <a:rPr lang="en-US" sz="1600" noProof="0"/>
                  <a:t>.</a:t>
                </a:r>
              </a:p>
              <a:p>
                <a:r>
                  <a:rPr lang="en-US" sz="1600"/>
                  <a:t>N</a:t>
                </a:r>
                <a:r>
                  <a:rPr lang="en-US" sz="1600" noProof="0"/>
                  <a:t>ow we exploit them to provide insight on the real robustness using</a:t>
                </a:r>
                <a:r>
                  <a:rPr lang="en-US" sz="1600" b="1" noProof="0"/>
                  <a:t> statistical information </a:t>
                </a:r>
                <a:r>
                  <a:rPr lang="en-US" sz="1600" noProof="0"/>
                  <a:t>about our uncertainty. </a:t>
                </a:r>
              </a:p>
              <a:p>
                <a:r>
                  <a:rPr lang="en-US" sz="1600" noProof="0"/>
                  <a:t>Additionally, after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1" noProof="0" smtClean="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en-US" sz="1600" noProof="0"/>
                  <a:t>-analysis, this is the last resort for robustness testing. </a:t>
                </a:r>
              </a:p>
              <a:p>
                <a:endParaRPr lang="en-US" sz="1600" noProof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C7E73AD9-C3AF-1482-72B4-97FBD5C0D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267" y="1168507"/>
                <a:ext cx="9037233" cy="1323439"/>
              </a:xfrm>
              <a:prstGeom prst="rect">
                <a:avLst/>
              </a:prstGeom>
              <a:blipFill>
                <a:blip r:embed="rId3"/>
                <a:stretch>
                  <a:fillRect l="-337" t="-1843" r="-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Gaussian Distribution - an overview | ScienceDirect Topics">
            <a:extLst>
              <a:ext uri="{FF2B5EF4-FFF2-40B4-BE49-F238E27FC236}">
                <a16:creationId xmlns:a16="http://schemas.microsoft.com/office/drawing/2014/main" id="{F5EB1CC7-3BC3-BEAA-C25C-A06752144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57" y="4686300"/>
            <a:ext cx="2732137" cy="2042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76B6018F-AC1E-E21A-58D6-DC72C0C89AB9}"/>
                  </a:ext>
                </a:extLst>
              </p:cNvPr>
              <p:cNvSpPr txBox="1"/>
              <p:nvPr/>
            </p:nvSpPr>
            <p:spPr>
              <a:xfrm>
                <a:off x="3291367" y="3265725"/>
                <a:ext cx="2314095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</m:oMath>
                </a14:m>
                <a:r>
                  <a:rPr lang="en-US"/>
                  <a:t> ~ N(-0.1068 ,4%)</a:t>
                </a:r>
              </a:p>
              <a:p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/>
                  <a:t> ~ N(-0.1192,2%)</a:t>
                </a:r>
              </a:p>
              <a:p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/>
                  <a:t> ~ N(2.6478, 2%)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76B6018F-AC1E-E21A-58D6-DC72C0C89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367" y="3265725"/>
                <a:ext cx="2314095" cy="1754326"/>
              </a:xfrm>
              <a:prstGeom prst="rect">
                <a:avLst/>
              </a:prstGeom>
              <a:blipFill>
                <a:blip r:embed="rId5"/>
                <a:stretch>
                  <a:fillRect t="-1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AE9322F7-E00C-B568-382E-89BFD47F316C}"/>
                  </a:ext>
                </a:extLst>
              </p:cNvPr>
              <p:cNvSpPr txBox="1"/>
              <p:nvPr/>
            </p:nvSpPr>
            <p:spPr>
              <a:xfrm>
                <a:off x="3291367" y="5612688"/>
                <a:ext cx="2347053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en-US"/>
                  <a:t> ~ N(10.1647,1.5%)</a:t>
                </a:r>
              </a:p>
              <a:p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en-US"/>
                  <a:t> ~ N(450.7085,1%)</a:t>
                </a:r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AE9322F7-E00C-B568-382E-89BFD47F3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367" y="5612688"/>
                <a:ext cx="2347053" cy="1477328"/>
              </a:xfrm>
              <a:prstGeom prst="rect">
                <a:avLst/>
              </a:prstGeom>
              <a:blipFill>
                <a:blip r:embed="rId6"/>
                <a:stretch>
                  <a:fillRect t="-2066" r="-4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4E0856B4-C7F3-0648-0FDF-60C0CB991377}"/>
                  </a:ext>
                </a:extLst>
              </p:cNvPr>
              <p:cNvSpPr txBox="1"/>
              <p:nvPr/>
            </p:nvSpPr>
            <p:spPr>
              <a:xfrm>
                <a:off x="10232279" y="4090471"/>
                <a:ext cx="23832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/>
                  <a:t>~ U(-15°,15°)</a:t>
                </a:r>
              </a:p>
            </p:txBody>
          </p:sp>
        </mc:Choice>
        <mc:Fallback xmlns="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4E0856B4-C7F3-0648-0FDF-60C0CB991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279" y="4090471"/>
                <a:ext cx="2383298" cy="369332"/>
              </a:xfrm>
              <a:prstGeom prst="rect">
                <a:avLst/>
              </a:prstGeom>
              <a:blipFill>
                <a:blip r:embed="rId7"/>
                <a:stretch>
                  <a:fillRect l="-769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269E0684-3B0A-F758-1BE6-D006E809ABC6}"/>
              </a:ext>
            </a:extLst>
          </p:cNvPr>
          <p:cNvSpPr txBox="1"/>
          <p:nvPr/>
        </p:nvSpPr>
        <p:spPr>
          <a:xfrm>
            <a:off x="3312142" y="2885199"/>
            <a:ext cx="2419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Stability derivatives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4AAC26E1-FE1B-9CF7-1DF0-F4829CBB4FCC}"/>
              </a:ext>
            </a:extLst>
          </p:cNvPr>
          <p:cNvSpPr txBox="1"/>
          <p:nvPr/>
        </p:nvSpPr>
        <p:spPr>
          <a:xfrm>
            <a:off x="3312142" y="5243356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Control derivatives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7CE409BF-7FCB-F19D-A927-5D11DFFAB0D5}"/>
              </a:ext>
            </a:extLst>
          </p:cNvPr>
          <p:cNvSpPr txBox="1"/>
          <p:nvPr/>
        </p:nvSpPr>
        <p:spPr>
          <a:xfrm>
            <a:off x="10318008" y="3721139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>
                    <a:lumMod val="50000"/>
                    <a:lumOff val="50000"/>
                  </a:schemeClr>
                </a:solidFill>
              </a:rPr>
              <a:t>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296C89C7-2DFE-90D9-16CF-C6E5F31BFB53}"/>
                  </a:ext>
                </a:extLst>
              </p:cNvPr>
              <p:cNvSpPr txBox="1"/>
              <p:nvPr/>
            </p:nvSpPr>
            <p:spPr>
              <a:xfrm>
                <a:off x="6629556" y="3265725"/>
                <a:ext cx="2351862" cy="1779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</m:sSub>
                  </m:oMath>
                </a14:m>
                <a:r>
                  <a:rPr lang="en-US"/>
                  <a:t> ~ N(-0.1068, 4%)</a:t>
                </a:r>
              </a:p>
              <a:p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q</m:t>
                        </m:r>
                      </m:sub>
                    </m:sSub>
                  </m:oMath>
                </a14:m>
                <a:r>
                  <a:rPr lang="en-US"/>
                  <a:t> ~ N(0.1192,2%)</a:t>
                </a:r>
              </a:p>
              <a:p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/>
                  <a:t> ~ N(-2.6478, 2%)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296C89C7-2DFE-90D9-16CF-C6E5F31BF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556" y="3265725"/>
                <a:ext cx="2351862" cy="1779013"/>
              </a:xfrm>
              <a:prstGeom prst="rect">
                <a:avLst/>
              </a:prstGeom>
              <a:blipFill>
                <a:blip r:embed="rId8"/>
                <a:stretch>
                  <a:fillRect t="-1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9ACE813A-8BA5-D9C8-B68B-A1C816D665AC}"/>
                  </a:ext>
                </a:extLst>
              </p:cNvPr>
              <p:cNvSpPr txBox="1"/>
              <p:nvPr/>
            </p:nvSpPr>
            <p:spPr>
              <a:xfrm>
                <a:off x="6629556" y="5612688"/>
                <a:ext cx="243521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en-US"/>
                  <a:t> ~ N(-10.1647,1.5%)</a:t>
                </a:r>
              </a:p>
              <a:p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en-US"/>
                  <a:t> ~ N(450.7085,1%)</a:t>
                </a:r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9ACE813A-8BA5-D9C8-B68B-A1C816D66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556" y="5612688"/>
                <a:ext cx="2435218" cy="1477328"/>
              </a:xfrm>
              <a:prstGeom prst="rect">
                <a:avLst/>
              </a:prstGeom>
              <a:blipFill>
                <a:blip r:embed="rId9"/>
                <a:stretch>
                  <a:fillRect t="-2066" r="-5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583F9CA5-10F6-04B1-9293-1B5D716924D6}"/>
              </a:ext>
            </a:extLst>
          </p:cNvPr>
          <p:cNvSpPr txBox="1"/>
          <p:nvPr/>
        </p:nvSpPr>
        <p:spPr>
          <a:xfrm>
            <a:off x="3312142" y="2477228"/>
            <a:ext cx="2085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>
                    <a:lumMod val="50000"/>
                    <a:lumOff val="50000"/>
                  </a:schemeClr>
                </a:solidFill>
              </a:rPr>
              <a:t>Lateral dynamics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92252455-EAC5-292A-4B5D-07D23321A452}"/>
              </a:ext>
            </a:extLst>
          </p:cNvPr>
          <p:cNvSpPr txBox="1"/>
          <p:nvPr/>
        </p:nvSpPr>
        <p:spPr>
          <a:xfrm>
            <a:off x="6610027" y="5224768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Control derivatives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03DE29B0-3AA5-D61D-6BA8-EB19236269AC}"/>
              </a:ext>
            </a:extLst>
          </p:cNvPr>
          <p:cNvSpPr txBox="1"/>
          <p:nvPr/>
        </p:nvSpPr>
        <p:spPr>
          <a:xfrm>
            <a:off x="9414984" y="5897923"/>
            <a:ext cx="2688059" cy="83099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200"/>
              <a:t>- Second argument is not the </a:t>
            </a:r>
          </a:p>
          <a:p>
            <a:r>
              <a:rPr lang="en-US" sz="1200"/>
              <a:t>variance but standard deviation, </a:t>
            </a:r>
          </a:p>
          <a:p>
            <a:r>
              <a:rPr lang="en-US" sz="1200"/>
              <a:t>in terms of % of the mean; </a:t>
            </a:r>
          </a:p>
          <a:p>
            <a:r>
              <a:rPr lang="en-US" sz="1200"/>
              <a:t>- Units of measure are omitted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17EC8652-8DDC-D397-E889-67E250D58168}"/>
              </a:ext>
            </a:extLst>
          </p:cNvPr>
          <p:cNvSpPr txBox="1"/>
          <p:nvPr/>
        </p:nvSpPr>
        <p:spPr>
          <a:xfrm>
            <a:off x="6629556" y="2896393"/>
            <a:ext cx="2419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Stability derivatives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CD1345F3-37D4-7F5D-4940-38B3E4F4B8FD}"/>
              </a:ext>
            </a:extLst>
          </p:cNvPr>
          <p:cNvSpPr txBox="1"/>
          <p:nvPr/>
        </p:nvSpPr>
        <p:spPr>
          <a:xfrm>
            <a:off x="6594427" y="2499808"/>
            <a:ext cx="2719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>
                    <a:lumMod val="50000"/>
                    <a:lumOff val="50000"/>
                  </a:schemeClr>
                </a:solidFill>
              </a:rPr>
              <a:t>Longitudinal dynamics</a:t>
            </a:r>
          </a:p>
        </p:txBody>
      </p:sp>
    </p:spTree>
    <p:extLst>
      <p:ext uri="{BB962C8B-B14F-4D97-AF65-F5344CB8AC3E}">
        <p14:creationId xmlns:p14="http://schemas.microsoft.com/office/powerpoint/2010/main" val="269149405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9C3C8-55E8-259C-08FB-92BD0513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C5C0750-16A6-E91F-1785-A7BAFAFFF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195D9E9-D0BD-67B4-584C-B8E57F858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122</a:t>
            </a:fld>
            <a:endParaRPr lang="en-US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B20E2B0E-F588-3E31-AD7C-B4AB1F34A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0100774D-2306-1009-3F08-C200CB772CF6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4859EAE4-363A-7B1B-FA50-5394253A7BF3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D5F764B-C95F-4115-0AF4-93E62FCD2174}"/>
              </a:ext>
            </a:extLst>
          </p:cNvPr>
          <p:cNvSpPr txBox="1"/>
          <p:nvPr/>
        </p:nvSpPr>
        <p:spPr>
          <a:xfrm>
            <a:off x="2964267" y="1448566"/>
            <a:ext cx="90372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/>
              <a:t>Simulate entire system using:</a:t>
            </a:r>
            <a:endParaRPr lang="en-US" b="1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US" b="1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- </a:t>
            </a:r>
            <a:r>
              <a:rPr lang="en-US" noProof="0"/>
              <a:t>Uncertain system from </a:t>
            </a: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task 2 ,</a:t>
            </a:r>
          </a:p>
          <a:p>
            <a:r>
              <a:rPr lang="en-US" noProof="0"/>
              <a:t>- </a:t>
            </a:r>
            <a:r>
              <a:rPr lang="en-US"/>
              <a:t>Co</a:t>
            </a:r>
            <a:r>
              <a:rPr lang="en-US" noProof="0" err="1"/>
              <a:t>upling</a:t>
            </a:r>
            <a:r>
              <a:rPr lang="en-US" noProof="0"/>
              <a:t> from </a:t>
            </a: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task 4 </a:t>
            </a:r>
            <a:r>
              <a:rPr lang="en-US" noProof="0"/>
              <a:t>:</a:t>
            </a:r>
          </a:p>
          <a:p>
            <a:endParaRPr lang="en-US" noProof="0"/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30767278-827E-F0B4-F409-D5EB31C21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953" r="64154" b="1"/>
          <a:stretch>
            <a:fillRect/>
          </a:stretch>
        </p:blipFill>
        <p:spPr>
          <a:xfrm>
            <a:off x="8732805" y="1776253"/>
            <a:ext cx="2786063" cy="830274"/>
          </a:xfrm>
          <a:prstGeom prst="rect">
            <a:avLst/>
          </a:prstGeom>
        </p:spPr>
      </p:pic>
      <p:pic>
        <p:nvPicPr>
          <p:cNvPr id="34" name="Immagine 33" descr="Immagine che contiene schermata, Biglietto Post-it, Rettangolo, testo&#10;&#10;Il contenuto generato dall'IA potrebbe non essere corretto.">
            <a:extLst>
              <a:ext uri="{FF2B5EF4-FFF2-40B4-BE49-F238E27FC236}">
                <a16:creationId xmlns:a16="http://schemas.microsoft.com/office/drawing/2014/main" id="{08AD3C2B-24BB-529D-2A30-BA0BAE2C55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333" y="2748342"/>
            <a:ext cx="6996504" cy="3980578"/>
          </a:xfrm>
          <a:prstGeom prst="rect">
            <a:avLst/>
          </a:prstGeom>
        </p:spPr>
      </p:pic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AD2BC150-3853-6B07-32D6-A31E900C3A6A}"/>
              </a:ext>
            </a:extLst>
          </p:cNvPr>
          <p:cNvSpPr txBox="1"/>
          <p:nvPr/>
        </p:nvSpPr>
        <p:spPr>
          <a:xfrm>
            <a:off x="10536909" y="3960842"/>
            <a:ext cx="15359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All</a:t>
            </a:r>
          </a:p>
          <a:p>
            <a:r>
              <a:rPr lang="en-US"/>
              <a:t>blocks </a:t>
            </a:r>
          </a:p>
          <a:p>
            <a:r>
              <a:rPr lang="en-US"/>
              <a:t>are inherited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sellaDiTesto 35">
                <a:extLst>
                  <a:ext uri="{FF2B5EF4-FFF2-40B4-BE49-F238E27FC236}">
                    <a16:creationId xmlns:a16="http://schemas.microsoft.com/office/drawing/2014/main" id="{79A6A630-FC8D-9256-1DD8-8935A6B588FD}"/>
                  </a:ext>
                </a:extLst>
              </p:cNvPr>
              <p:cNvSpPr txBox="1"/>
              <p:nvPr/>
            </p:nvSpPr>
            <p:spPr>
              <a:xfrm>
                <a:off x="7482883" y="1247590"/>
                <a:ext cx="469070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Note: the control action on the system </a:t>
                </a:r>
              </a:p>
              <a:p>
                <a:r>
                  <a:rPr lang="en-US"/>
                  <a:t> is now u,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/>
                  <a:t> (which is the control effort)</a:t>
                </a:r>
              </a:p>
            </p:txBody>
          </p:sp>
        </mc:Choice>
        <mc:Fallback xmlns="">
          <p:sp>
            <p:nvSpPr>
              <p:cNvPr id="36" name="CasellaDiTesto 35">
                <a:extLst>
                  <a:ext uri="{FF2B5EF4-FFF2-40B4-BE49-F238E27FC236}">
                    <a16:creationId xmlns:a16="http://schemas.microsoft.com/office/drawing/2014/main" id="{79A6A630-FC8D-9256-1DD8-8935A6B58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883" y="1247590"/>
                <a:ext cx="4690708" cy="646331"/>
              </a:xfrm>
              <a:prstGeom prst="rect">
                <a:avLst/>
              </a:prstGeom>
              <a:blipFill>
                <a:blip r:embed="rId5"/>
                <a:stretch>
                  <a:fillRect l="-1170" t="-471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CB7D86A-78D0-FA6C-8414-A74BC32054E2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19385920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E7D3D-EDC4-5E9B-E241-F0A1BB769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51F61B6-B044-9AAD-F98D-668625243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0F23AAA-0762-56A5-7DDC-A8B8DEFF0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123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72F3E0F8-BA8A-4BC8-C9F4-E6D3DBA649B2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88711C01-04B5-5219-6081-9C0F23EC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014999F2-31CB-FADB-5B38-49842F5EE7EB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653172D9-BB9A-26DD-7A5C-AD44614DD292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111D9F4-5C3C-AF48-F0AF-82BAE88D6A06}"/>
              </a:ext>
            </a:extLst>
          </p:cNvPr>
          <p:cNvSpPr txBox="1"/>
          <p:nvPr/>
        </p:nvSpPr>
        <p:spPr>
          <a:xfrm>
            <a:off x="2964267" y="1448566"/>
            <a:ext cx="68342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/>
              <a:t>A. DYNAMIC PERFORMANCES</a:t>
            </a:r>
          </a:p>
          <a:p>
            <a:pPr marL="285750" indent="-285750">
              <a:buFontTx/>
              <a:buChar char="-"/>
            </a:pPr>
            <a:r>
              <a:rPr lang="en-US" noProof="0"/>
              <a:t>Performances defined in </a:t>
            </a:r>
          </a:p>
          <a:p>
            <a:pPr marL="285750" indent="-285750">
              <a:buFontTx/>
              <a:buChar char="-"/>
            </a:pP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task 1 (Weights)</a:t>
            </a:r>
          </a:p>
          <a:p>
            <a:endParaRPr lang="en-US" b="1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Complementary sensitivities  </a:t>
            </a:r>
            <a:r>
              <a:rPr lang="en-US"/>
              <a:t>of total uncertain system :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endParaRPr lang="en-US" b="1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US" b="1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US" b="1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US" b="1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US" b="1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noProof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EFFB793C-C5CF-41C6-14A5-1E61056B4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217" y="1623717"/>
            <a:ext cx="5532430" cy="621459"/>
          </a:xfrm>
          <a:prstGeom prst="rect">
            <a:avLst/>
          </a:prstGeom>
        </p:spPr>
      </p:pic>
      <p:pic>
        <p:nvPicPr>
          <p:cNvPr id="12" name="Immagine 11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D7EA1FE6-1C9B-B008-747B-58C46D81AB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963" y="3073379"/>
            <a:ext cx="7075223" cy="341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34672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CBC70-4409-3CD0-FE63-E37ACD25C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552515E-64ED-EB91-2956-4CFC18841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E568EA1-355D-C20F-9027-A9151AF24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124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341A14F-DC49-DAA2-204F-E8090F30C429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906D9A75-E34B-B0D4-0DDE-33322E78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5E803AA0-7C99-1470-3ED0-B3C64AB8978A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C1437221-6BFE-4EF5-B773-40AC380D416B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E7FADE6-269F-7B22-A2D7-E2D76FD24D86}"/>
              </a:ext>
            </a:extLst>
          </p:cNvPr>
          <p:cNvSpPr txBox="1"/>
          <p:nvPr/>
        </p:nvSpPr>
        <p:spPr>
          <a:xfrm>
            <a:off x="2964268" y="1448566"/>
            <a:ext cx="52130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/>
              <a:t>A. DYNAMIC PERFORMANCES</a:t>
            </a:r>
          </a:p>
          <a:p>
            <a:endParaRPr lang="en-US" b="1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/>
          </a:p>
          <a:p>
            <a:endParaRPr lang="en-US" b="1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US" b="1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US" b="1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US" b="1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US" b="1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noProof="0"/>
          </a:p>
        </p:txBody>
      </p:sp>
      <p:pic>
        <p:nvPicPr>
          <p:cNvPr id="6" name="Immagine 5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3451BEC3-FC22-D1BA-A11A-1125435A4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353" y="2064746"/>
            <a:ext cx="4532634" cy="46111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6934F28A-F026-EF8C-26F6-C958819BC635}"/>
                  </a:ext>
                </a:extLst>
              </p:cNvPr>
              <p:cNvSpPr txBox="1"/>
              <p:nvPr/>
            </p:nvSpPr>
            <p:spPr>
              <a:xfrm>
                <a:off x="7593072" y="2279562"/>
                <a:ext cx="453263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err="1"/>
                  <a:t>F</a:t>
                </a:r>
                <a:r>
                  <a:rPr lang="it-IT"/>
                  <a:t> of the system </a:t>
                </a:r>
                <a:r>
                  <a:rPr lang="it-IT" err="1"/>
                  <a:t>will</a:t>
                </a:r>
                <a:r>
                  <a:rPr lang="it-IT"/>
                  <a:t> </a:t>
                </a:r>
                <a:r>
                  <a:rPr lang="it-IT" err="1"/>
                  <a:t>have</a:t>
                </a:r>
                <a:r>
                  <a:rPr lang="it-IT"/>
                  <a:t> </a:t>
                </a:r>
                <a:r>
                  <a:rPr lang="it-IT" err="1"/>
                  <a:t>components</a:t>
                </a:r>
                <a:endParaRPr lang="it-IT"/>
              </a:p>
              <a:p>
                <a:r>
                  <a:rPr lang="it-IT"/>
                  <a:t>of </a:t>
                </a:r>
                <a:r>
                  <a:rPr lang="it-IT" err="1"/>
                  <a:t>order</a:t>
                </a:r>
                <a:r>
                  <a:rPr lang="it-IT"/>
                  <a:t> 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it-IT"/>
                  <a:t> 2:</a:t>
                </a:r>
              </a:p>
              <a:p>
                <a:r>
                  <a:rPr lang="it-IT"/>
                  <a:t> </a:t>
                </a:r>
              </a:p>
              <a:p>
                <a:r>
                  <a:rPr lang="it-IT"/>
                  <a:t>-&gt; 2° </a:t>
                </a:r>
                <a:r>
                  <a:rPr lang="it-IT" err="1"/>
                  <a:t>order</a:t>
                </a:r>
                <a:r>
                  <a:rPr lang="it-IT"/>
                  <a:t> </a:t>
                </a:r>
                <a:r>
                  <a:rPr lang="it-IT" err="1"/>
                  <a:t>approximation</a:t>
                </a:r>
                <a:r>
                  <a:rPr lang="it-IT"/>
                  <a:t> to </a:t>
                </a:r>
                <a:r>
                  <a:rPr lang="it-IT" err="1"/>
                  <a:t>evaluate</a:t>
                </a:r>
                <a:r>
                  <a:rPr lang="it-IT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ξ</m:t>
                    </m:r>
                  </m:oMath>
                </a14:m>
                <a:r>
                  <a:rPr lang="it-IT"/>
                  <a:t> </a:t>
                </a:r>
                <a:r>
                  <a:rPr lang="it-IT" err="1"/>
                  <a:t>difference</a:t>
                </a:r>
                <a:r>
                  <a:rPr lang="it-IT"/>
                  <a:t> with </a:t>
                </a:r>
                <a:r>
                  <a:rPr lang="it-IT" err="1"/>
                  <a:t>respect</a:t>
                </a:r>
                <a:r>
                  <a:rPr lang="it-IT"/>
                  <a:t> to the </a:t>
                </a:r>
                <a:r>
                  <a:rPr lang="it-IT" err="1"/>
                  <a:t>nominal</a:t>
                </a:r>
                <a:r>
                  <a:rPr lang="it-IT"/>
                  <a:t> design performances</a:t>
                </a: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6934F28A-F026-EF8C-26F6-C958819BC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072" y="2279562"/>
                <a:ext cx="4532635" cy="1754326"/>
              </a:xfrm>
              <a:prstGeom prst="rect">
                <a:avLst/>
              </a:prstGeom>
              <a:blipFill>
                <a:blip r:embed="rId4"/>
                <a:stretch>
                  <a:fillRect l="-1211" t="-1736" r="-1077" b="-4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214296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BCFB8-227A-D35A-5EFE-14935F728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7CB3064-BE87-13B4-BA66-1C87201C9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742F8CA-44AA-6863-ADB0-E90704BF4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125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8A6D64C-7846-B27F-5754-04837C769625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1B5EC003-4036-6CE4-3161-2AC9F1F9F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7AE0FD29-6C32-D49B-E768-160417B22860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7F281EEA-3B54-86A9-2ED6-98F615596415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05909BD-25C9-0519-03E6-89B2098AF9DE}"/>
              </a:ext>
            </a:extLst>
          </p:cNvPr>
          <p:cNvSpPr txBox="1"/>
          <p:nvPr/>
        </p:nvSpPr>
        <p:spPr>
          <a:xfrm>
            <a:off x="2964267" y="1448566"/>
            <a:ext cx="68342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B</a:t>
            </a:r>
            <a:r>
              <a:rPr lang="en-US" b="1" noProof="0"/>
              <a:t>. CONTROL EFFORT LIMITATION</a:t>
            </a:r>
          </a:p>
          <a:p>
            <a:pPr marL="285750" indent="-285750">
              <a:buFontTx/>
              <a:buChar char="-"/>
            </a:pPr>
            <a:r>
              <a:rPr lang="en-US"/>
              <a:t>Control limitations</a:t>
            </a:r>
            <a:r>
              <a:rPr lang="en-US" noProof="0"/>
              <a:t> defined in </a:t>
            </a:r>
          </a:p>
          <a:p>
            <a:pPr marL="285750" indent="-285750">
              <a:buFontTx/>
              <a:buChar char="-"/>
            </a:pP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task 1 (Weights)</a:t>
            </a:r>
          </a:p>
          <a:p>
            <a:endParaRPr lang="en-US" b="1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Control sensitivities </a:t>
            </a:r>
            <a:r>
              <a:rPr lang="en-US"/>
              <a:t>of total uncertain system: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endParaRPr lang="en-US" b="1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US" b="1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US" b="1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US" b="1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US" b="1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noProof="0"/>
          </a:p>
        </p:txBody>
      </p:sp>
      <p:pic>
        <p:nvPicPr>
          <p:cNvPr id="6" name="Immagine 5" descr="Immagine che contiene testo, Carattere, bianco, tipografia&#10;&#10;Il contenuto generato dall'IA potrebbe non essere corretto.">
            <a:extLst>
              <a:ext uri="{FF2B5EF4-FFF2-40B4-BE49-F238E27FC236}">
                <a16:creationId xmlns:a16="http://schemas.microsoft.com/office/drawing/2014/main" id="{881D506C-4677-060B-2294-ADB5A16D63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538" y="1524138"/>
            <a:ext cx="4114800" cy="635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EC4A8B8-4C5C-F725-3789-2CB9924DF7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938" y="3395657"/>
            <a:ext cx="7772400" cy="250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91556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D0EB1-CAF3-BD82-FB42-BC4B35FB1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6A3E140-ED4E-F41A-F8DC-46F00F141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D4FC66A-703B-E2DC-F78E-1F5E1DA95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126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CFAA534A-8D61-357C-A526-BE7CE2F70DF4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C0D40D55-0BA6-7AC2-BA81-A6841C7EE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7F6F6986-16EE-6142-CC70-D758E211F6E0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F244F7B8-7816-FA26-A51A-9BD48C9BEB87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46E903C-D819-4505-9349-E5E4974221E2}"/>
              </a:ext>
            </a:extLst>
          </p:cNvPr>
          <p:cNvSpPr txBox="1"/>
          <p:nvPr/>
        </p:nvSpPr>
        <p:spPr>
          <a:xfrm>
            <a:off x="3314700" y="1614488"/>
            <a:ext cx="3291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/>
              <a:t>Aleatory variables to monitor: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45499E81-7BE9-4DC2-6AD9-201BC521274F}"/>
                  </a:ext>
                </a:extLst>
              </p:cNvPr>
              <p:cNvSpPr txBox="1"/>
              <p:nvPr/>
            </p:nvSpPr>
            <p:spPr>
              <a:xfrm>
                <a:off x="4715436" y="2217524"/>
                <a:ext cx="1293111" cy="35280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ϕ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ϕ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lat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doublet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settl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ϕ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b="0" i="1" smtClean="0"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ϕ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45499E81-7BE9-4DC2-6AD9-201BC5212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436" y="2217524"/>
                <a:ext cx="1293111" cy="35280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BE9654BF-5D86-10D3-0C5D-FC322C8AB8F1}"/>
                  </a:ext>
                </a:extLst>
              </p:cNvPr>
              <p:cNvSpPr txBox="1"/>
              <p:nvPr/>
            </p:nvSpPr>
            <p:spPr>
              <a:xfrm>
                <a:off x="7619953" y="2242658"/>
                <a:ext cx="1341970" cy="34777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on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doublet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settl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b="0" i="1" smtClean="0"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BE9654BF-5D86-10D3-0C5D-FC322C8AB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953" y="2242658"/>
                <a:ext cx="1341970" cy="34777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725BDE7C-9727-1EC7-F6AE-1B4559C1545D}"/>
                  </a:ext>
                </a:extLst>
              </p:cNvPr>
              <p:cNvSpPr txBox="1"/>
              <p:nvPr/>
            </p:nvSpPr>
            <p:spPr>
              <a:xfrm>
                <a:off x="3554573" y="5720405"/>
                <a:ext cx="47310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err="1"/>
                  <a:t>Aleatory</a:t>
                </a:r>
                <a:r>
                  <a:rPr lang="it-IT"/>
                  <a:t> </a:t>
                </a:r>
                <a:r>
                  <a:rPr lang="it-IT" err="1"/>
                  <a:t>variables</a:t>
                </a:r>
                <a:r>
                  <a:rPr lang="it-IT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it-IT"/>
                  <a:t>, </a:t>
                </a:r>
                <a:r>
                  <a:rPr lang="it-IT" err="1"/>
                  <a:t>differently</a:t>
                </a:r>
                <a:r>
                  <a:rPr lang="it-IT"/>
                  <a:t> </a:t>
                </a:r>
                <a:r>
                  <a:rPr lang="it-IT" err="1"/>
                  <a:t>distributed</a:t>
                </a:r>
                <a:endParaRPr lang="it-IT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725BDE7C-9727-1EC7-F6AE-1B4559C15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573" y="5720405"/>
                <a:ext cx="4731039" cy="369332"/>
              </a:xfrm>
              <a:prstGeom prst="rect">
                <a:avLst/>
              </a:prstGeom>
              <a:blipFill>
                <a:blip r:embed="rId5"/>
                <a:stretch>
                  <a:fillRect l="-1031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261346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AB0E3-4705-780E-F245-AB9FE165A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28A6C96-5DAE-D3E9-742E-90F7C61E9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8CB7F24-DAB6-8D7C-A490-BB6EAE7D4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127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1F3F53E-E421-769E-EDD4-428F8A06B1FE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A9B25A58-D13B-541B-A06C-D66800EB6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CAB8A61C-F185-4DAA-4622-DFD1783603ED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F95DFD80-CCFF-FA72-D532-1E0B540C8D8B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3091A60-9939-1A2E-C537-78E34E7C9F6E}"/>
              </a:ext>
            </a:extLst>
          </p:cNvPr>
          <p:cNvSpPr txBox="1"/>
          <p:nvPr/>
        </p:nvSpPr>
        <p:spPr>
          <a:xfrm>
            <a:off x="3314700" y="1469000"/>
            <a:ext cx="8202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err="1"/>
              <a:t>Number</a:t>
            </a:r>
            <a:r>
              <a:rPr lang="it-IT"/>
              <a:t> of </a:t>
            </a:r>
            <a:r>
              <a:rPr lang="it-IT" err="1"/>
              <a:t>iterations</a:t>
            </a:r>
            <a:r>
              <a:rPr lang="it-IT"/>
              <a:t>:</a:t>
            </a:r>
          </a:p>
          <a:p>
            <a:r>
              <a:rPr lang="it-IT"/>
              <a:t>- </a:t>
            </a:r>
            <a:r>
              <a:rPr lang="it-IT" b="1"/>
              <a:t>k=500  </a:t>
            </a:r>
            <a:r>
              <a:rPr lang="it-IT" err="1"/>
              <a:t>seemingly</a:t>
            </a:r>
            <a:r>
              <a:rPr lang="it-IT"/>
              <a:t> way </a:t>
            </a:r>
            <a:r>
              <a:rPr lang="it-IT" err="1"/>
              <a:t>smaller</a:t>
            </a:r>
            <a:r>
              <a:rPr lang="it-IT"/>
              <a:t> </a:t>
            </a:r>
            <a:r>
              <a:rPr lang="it-IT" err="1"/>
              <a:t>than</a:t>
            </a:r>
            <a:r>
              <a:rPr lang="it-IT"/>
              <a:t> the one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will</a:t>
            </a:r>
            <a:r>
              <a:rPr lang="it-IT"/>
              <a:t> use in the </a:t>
            </a:r>
            <a:r>
              <a:rPr lang="it-IT" err="1"/>
              <a:t>actual</a:t>
            </a:r>
            <a:r>
              <a:rPr lang="it-IT"/>
              <a:t> MC</a:t>
            </a:r>
            <a:r>
              <a:rPr lang="en-US" noProof="0"/>
              <a:t>:</a:t>
            </a:r>
          </a:p>
        </p:txBody>
      </p:sp>
      <p:pic>
        <p:nvPicPr>
          <p:cNvPr id="7" name="Immagine 6" descr="Immagine che contiene testo, Carattere, schermata, documento&#10;&#10;Il contenuto generato dall'IA potrebbe non essere corretto.">
            <a:extLst>
              <a:ext uri="{FF2B5EF4-FFF2-40B4-BE49-F238E27FC236}">
                <a16:creationId xmlns:a16="http://schemas.microsoft.com/office/drawing/2014/main" id="{0018B533-FC2F-CDD3-E285-00AB532235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094" y="3185946"/>
            <a:ext cx="6290855" cy="3303754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09027CD-C536-FE38-EF2E-F4F4A5B7E8E7}"/>
              </a:ext>
            </a:extLst>
          </p:cNvPr>
          <p:cNvSpPr txBox="1"/>
          <p:nvPr/>
        </p:nvSpPr>
        <p:spPr>
          <a:xfrm>
            <a:off x="3258094" y="2717074"/>
            <a:ext cx="297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Generate random samples</a:t>
            </a:r>
          </a:p>
        </p:txBody>
      </p:sp>
    </p:spTree>
    <p:extLst>
      <p:ext uri="{BB962C8B-B14F-4D97-AF65-F5344CB8AC3E}">
        <p14:creationId xmlns:p14="http://schemas.microsoft.com/office/powerpoint/2010/main" val="137483688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6C53B-79B0-41DE-1262-304792049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EB3FD63-FC57-EC55-72EF-63A79A14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C296E51-0DD1-98E3-A009-CE9FFF7D6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128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D79F1656-F917-B0D9-600B-BF119A9B9A03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209BE5E7-1447-A808-92C2-AA01DFFA3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4797CD4B-2D59-F22B-2D9D-B5D197D6B7D3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374E90C0-6F23-0D90-45F8-464E94517355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p:pic>
        <p:nvPicPr>
          <p:cNvPr id="6" name="Immagine 5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AA2ADEC4-08BB-0F1D-1B6B-04EFC4368A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19"/>
          <a:stretch>
            <a:fillRect/>
          </a:stretch>
        </p:blipFill>
        <p:spPr>
          <a:xfrm>
            <a:off x="3243035" y="2271526"/>
            <a:ext cx="7772400" cy="38027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455F70EC-5299-AC9A-BBE4-3D6D1C062BA7}"/>
                  </a:ext>
                </a:extLst>
              </p:cNvPr>
              <p:cNvSpPr txBox="1"/>
              <p:nvPr/>
            </p:nvSpPr>
            <p:spPr>
              <a:xfrm>
                <a:off x="3256098" y="1837970"/>
                <a:ext cx="2933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/>
                  <a:t>1) </a:t>
                </a:r>
                <a:r>
                  <a:rPr lang="it-IT" err="1"/>
                  <a:t>Initialize</a:t>
                </a:r>
                <a:r>
                  <a:rPr lang="it-IT"/>
                  <a:t> m-</a:t>
                </a:r>
                <a:r>
                  <a:rPr lang="it-IT" err="1"/>
                  <a:t>th</a:t>
                </a:r>
                <a:r>
                  <a:rPr lang="it-IT"/>
                  <a:t> </a:t>
                </a:r>
                <a:r>
                  <a:rPr lang="it-IT" err="1"/>
                  <a:t>plant</a:t>
                </a:r>
                <a:r>
                  <a:rPr lang="it-IT"/>
                  <a:t>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it-IT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455F70EC-5299-AC9A-BBE4-3D6D1C062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6098" y="1837970"/>
                <a:ext cx="2933816" cy="369332"/>
              </a:xfrm>
              <a:prstGeom prst="rect">
                <a:avLst/>
              </a:prstGeom>
              <a:blipFill>
                <a:blip r:embed="rId4"/>
                <a:stretch>
                  <a:fillRect l="-1663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8F58E10-29C0-EA34-E566-61589C4580EE}"/>
              </a:ext>
            </a:extLst>
          </p:cNvPr>
          <p:cNvSpPr txBox="1"/>
          <p:nvPr/>
        </p:nvSpPr>
        <p:spPr>
          <a:xfrm>
            <a:off x="3243035" y="1404414"/>
            <a:ext cx="335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/>
              <a:t>For </a:t>
            </a:r>
            <a:r>
              <a:rPr lang="it-IT" b="1" err="1"/>
              <a:t>each</a:t>
            </a:r>
            <a:r>
              <a:rPr lang="it-IT" b="1"/>
              <a:t> </a:t>
            </a:r>
            <a:r>
              <a:rPr lang="it-IT" b="1" err="1"/>
              <a:t>iteration</a:t>
            </a:r>
            <a:r>
              <a:rPr lang="it-IT" b="1"/>
              <a:t> m out of k:</a:t>
            </a:r>
          </a:p>
        </p:txBody>
      </p:sp>
    </p:spTree>
    <p:extLst>
      <p:ext uri="{BB962C8B-B14F-4D97-AF65-F5344CB8AC3E}">
        <p14:creationId xmlns:p14="http://schemas.microsoft.com/office/powerpoint/2010/main" val="275645650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DBAB8-0257-4967-96D6-34F031706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5320691-0ECC-6C7B-10F6-6B5523760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C93BA88-AECB-9DAF-5943-FE986874E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129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8664F64-CC99-E165-426E-661E8CA9B310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D9AB3586-C340-2669-D244-EF35E7B50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FB64281F-A478-7AE4-2912-F9D92B360BB5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2B504665-05BB-A08A-2F9E-5C9FAA1C39A3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9167766-12F1-2C26-91D4-8F56A4C01EB7}"/>
              </a:ext>
            </a:extLst>
          </p:cNvPr>
          <p:cNvSpPr txBox="1"/>
          <p:nvPr/>
        </p:nvSpPr>
        <p:spPr>
          <a:xfrm>
            <a:off x="3370217" y="2181497"/>
            <a:ext cx="4838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2) Compute and store </a:t>
            </a:r>
            <a:r>
              <a:rPr lang="it-IT" err="1"/>
              <a:t>variables</a:t>
            </a:r>
            <a:r>
              <a:rPr lang="it-IT"/>
              <a:t> </a:t>
            </a:r>
            <a:r>
              <a:rPr lang="it-IT" err="1"/>
              <a:t>realizations</a:t>
            </a:r>
            <a:r>
              <a:rPr lang="it-IT"/>
              <a:t> 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492DBDE-D9BC-396A-2DBD-409AC89D4DA4}"/>
              </a:ext>
            </a:extLst>
          </p:cNvPr>
          <p:cNvSpPr txBox="1"/>
          <p:nvPr/>
        </p:nvSpPr>
        <p:spPr>
          <a:xfrm>
            <a:off x="3243035" y="1404414"/>
            <a:ext cx="335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/>
              <a:t>For </a:t>
            </a:r>
            <a:r>
              <a:rPr lang="it-IT" b="1" err="1"/>
              <a:t>each</a:t>
            </a:r>
            <a:r>
              <a:rPr lang="it-IT" b="1"/>
              <a:t> </a:t>
            </a:r>
            <a:r>
              <a:rPr lang="it-IT" b="1" err="1"/>
              <a:t>iteration</a:t>
            </a:r>
            <a:r>
              <a:rPr lang="it-IT" b="1"/>
              <a:t> m out of k: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AF7F8A78-ABD9-DBD9-6E1D-EAB6BF5A3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170" y="2971027"/>
            <a:ext cx="7946618" cy="338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5923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BF77-8772-9B96-8033-F794A773B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7B4E7BE-CA10-8689-7DDF-482C7F5D2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3A7CD8E-4110-0EB9-A762-157E820A7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130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B410042F-8804-42D8-0CFF-EBE612FE53B7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450D6273-6D24-9E7D-BB8B-9CCC38D6E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06381AA8-D4FD-FD03-F8D6-8485D08804CE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4E770E55-CF80-8D1F-B2B0-C79BB0F68FEF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07A5EA3-1B7E-4752-8721-7CD79EEF9B2F}"/>
              </a:ext>
            </a:extLst>
          </p:cNvPr>
          <p:cNvSpPr txBox="1"/>
          <p:nvPr/>
        </p:nvSpPr>
        <p:spPr>
          <a:xfrm>
            <a:off x="3370217" y="2181497"/>
            <a:ext cx="8148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3) Compute and store sample </a:t>
            </a:r>
            <a:r>
              <a:rPr lang="it-IT" err="1"/>
              <a:t>means</a:t>
            </a:r>
            <a:r>
              <a:rPr lang="it-IT"/>
              <a:t> and sample standard </a:t>
            </a:r>
            <a:r>
              <a:rPr lang="it-IT" err="1"/>
              <a:t>deviations</a:t>
            </a:r>
            <a:r>
              <a:rPr lang="it-IT"/>
              <a:t> </a:t>
            </a:r>
            <a:r>
              <a:rPr lang="it-IT" err="1"/>
              <a:t>using</a:t>
            </a:r>
            <a:endParaRPr lang="it-IT"/>
          </a:p>
          <a:p>
            <a:r>
              <a:rPr lang="it-IT"/>
              <a:t> </a:t>
            </a:r>
            <a:r>
              <a:rPr lang="it-IT" b="1"/>
              <a:t>m</a:t>
            </a:r>
            <a:r>
              <a:rPr lang="it-IT"/>
              <a:t> </a:t>
            </a:r>
            <a:r>
              <a:rPr lang="it-IT" err="1"/>
              <a:t>measurements</a:t>
            </a:r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A56F84F-D1A5-2CA0-07B8-8DFB2497A774}"/>
              </a:ext>
            </a:extLst>
          </p:cNvPr>
          <p:cNvSpPr txBox="1"/>
          <p:nvPr/>
        </p:nvSpPr>
        <p:spPr>
          <a:xfrm>
            <a:off x="3243035" y="1404414"/>
            <a:ext cx="335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/>
              <a:t>For </a:t>
            </a:r>
            <a:r>
              <a:rPr lang="it-IT" b="1" err="1"/>
              <a:t>each</a:t>
            </a:r>
            <a:r>
              <a:rPr lang="it-IT" b="1"/>
              <a:t> </a:t>
            </a:r>
            <a:r>
              <a:rPr lang="it-IT" b="1" err="1"/>
              <a:t>iteration</a:t>
            </a:r>
            <a:r>
              <a:rPr lang="it-IT" b="1"/>
              <a:t> m out of k:</a:t>
            </a:r>
          </a:p>
        </p:txBody>
      </p:sp>
      <p:pic>
        <p:nvPicPr>
          <p:cNvPr id="6" name="Immagine 5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B8E24BF3-01FC-6530-EB2D-77659F21D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591" y="3101938"/>
            <a:ext cx="5870484" cy="362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96264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E261B-25C0-BA69-8E05-9B62304FC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092ECA8-47DA-6D2A-293C-1955E8E60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001BED2-9CF7-1A38-60CA-FF31E9407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131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DC10DBF3-2840-BD35-DA58-089204871B14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2BEFC4B2-C106-014A-ABB6-5EA34CCCF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BC71A1F3-4F30-47F8-E65B-40C9A2078786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D78B4D08-1CA1-85BE-9330-4C54BE8ECCD7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D196373-7FFC-0382-32CF-E06EF3C351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79" y="1526797"/>
            <a:ext cx="9061508" cy="453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69045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F8AB2-1096-F3C5-B37E-3103A7FAB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C6D91F8-35BF-8F87-C883-2208F9172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7B7A2C1-122E-AA3F-4C43-1002B0D5D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132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B746AB11-4632-8418-5DB6-EC27D7E9A07D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F0F44A11-0F24-91DA-41E9-D4C8CD257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D002655C-153B-0EAF-691E-F778C5B47F87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3174F60E-98FC-EFB8-1694-D530ACDFEE53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3C7934B-1244-3ED2-026F-89C4D91BF91C}"/>
              </a:ext>
            </a:extLst>
          </p:cNvPr>
          <p:cNvSpPr txBox="1"/>
          <p:nvPr/>
        </p:nvSpPr>
        <p:spPr>
          <a:xfrm>
            <a:off x="3317966" y="2060575"/>
            <a:ext cx="87158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in </a:t>
            </a:r>
            <a:r>
              <a:rPr lang="it-IT" err="1"/>
              <a:t>lack</a:t>
            </a:r>
            <a:r>
              <a:rPr lang="it-IT"/>
              <a:t> of </a:t>
            </a:r>
            <a:r>
              <a:rPr lang="it-IT" err="1"/>
              <a:t>exact</a:t>
            </a:r>
            <a:r>
              <a:rPr lang="it-IT"/>
              <a:t> </a:t>
            </a:r>
            <a:r>
              <a:rPr lang="it-IT" err="1"/>
              <a:t>formulations</a:t>
            </a:r>
            <a:r>
              <a:rPr lang="it-IT"/>
              <a:t> for the standard </a:t>
            </a:r>
            <a:r>
              <a:rPr lang="it-IT" err="1"/>
              <a:t>deviations</a:t>
            </a:r>
            <a:r>
              <a:rPr lang="it-IT"/>
              <a:t> or the </a:t>
            </a:r>
            <a:r>
              <a:rPr lang="it-IT" err="1"/>
              <a:t>means</a:t>
            </a:r>
            <a:r>
              <a:rPr lang="it-IT"/>
              <a:t>, due to the</a:t>
            </a:r>
          </a:p>
          <a:p>
            <a:r>
              <a:rPr lang="it-IT" b="1"/>
              <a:t>non-</a:t>
            </a:r>
            <a:r>
              <a:rPr lang="it-IT" b="1" err="1"/>
              <a:t>linearities</a:t>
            </a:r>
            <a:r>
              <a:rPr lang="it-IT" b="1"/>
              <a:t> </a:t>
            </a:r>
            <a:r>
              <a:rPr lang="it-IT" err="1"/>
              <a:t>involved</a:t>
            </a:r>
            <a:r>
              <a:rPr lang="it-IT"/>
              <a:t> in the </a:t>
            </a:r>
            <a:r>
              <a:rPr lang="it-IT" err="1"/>
              <a:t>computations</a:t>
            </a:r>
            <a:r>
              <a:rPr lang="it-IT"/>
              <a:t> of the </a:t>
            </a:r>
            <a:r>
              <a:rPr lang="it-IT" err="1"/>
              <a:t>inspected</a:t>
            </a:r>
            <a:r>
              <a:rPr lang="it-IT"/>
              <a:t> </a:t>
            </a:r>
            <a:r>
              <a:rPr lang="it-IT" err="1"/>
              <a:t>quantities</a:t>
            </a:r>
            <a:r>
              <a:rPr lang="it-IT"/>
              <a:t>, </a:t>
            </a:r>
          </a:p>
          <a:p>
            <a:r>
              <a:rPr lang="it-IT" err="1"/>
              <a:t>we</a:t>
            </a:r>
            <a:r>
              <a:rPr lang="it-IT"/>
              <a:t> assume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3E5E72B9-02FB-30A7-C9E6-27FA8FD2269B}"/>
                  </a:ext>
                </a:extLst>
              </p:cNvPr>
              <p:cNvSpPr txBox="1"/>
              <p:nvPr/>
            </p:nvSpPr>
            <p:spPr>
              <a:xfrm>
                <a:off x="3317966" y="1427631"/>
                <a:ext cx="8129983" cy="4758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err="1"/>
                  <a:t>We</a:t>
                </a:r>
                <a:r>
                  <a:rPr lang="it-IT"/>
                  <a:t> can </a:t>
                </a:r>
                <a:r>
                  <a:rPr lang="it-IT" err="1"/>
                  <a:t>therefore</a:t>
                </a:r>
                <a:r>
                  <a:rPr lang="it-IT"/>
                  <a:t>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𝝈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̂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it-IT" b="1"/>
                  <a:t> </a:t>
                </a:r>
                <a:r>
                  <a:rPr lang="it-IT" b="1" err="1"/>
                  <a:t>convergence</a:t>
                </a:r>
                <a:r>
                  <a:rPr lang="it-IT" b="1"/>
                  <a:t> </a:t>
                </a:r>
                <a:r>
                  <a:rPr lang="it-IT"/>
                  <a:t>to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]( </m:t>
                    </m:r>
                    <m:groupChr>
                      <m:groupChrPr>
                        <m:chr m:val="→"/>
                        <m:vertJc m:val="bot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it-IT"/>
                  <a:t> for k&gt;&gt;), </a:t>
                </a:r>
                <a:r>
                  <a:rPr lang="it-IT" err="1"/>
                  <a:t>therefore</a:t>
                </a:r>
                <a:r>
                  <a:rPr lang="it-IT"/>
                  <a:t>:</a:t>
                </a:r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3E5E72B9-02FB-30A7-C9E6-27FA8FD22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966" y="1427631"/>
                <a:ext cx="8129983" cy="475836"/>
              </a:xfrm>
              <a:prstGeom prst="rect">
                <a:avLst/>
              </a:prstGeom>
              <a:blipFill>
                <a:blip r:embed="rId3"/>
                <a:stretch>
                  <a:fillRect l="-600" b="-29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819DD85D-8046-4B1D-28FE-346F87B5BF0E}"/>
                  </a:ext>
                </a:extLst>
              </p:cNvPr>
              <p:cNvSpPr txBox="1"/>
              <p:nvPr/>
            </p:nvSpPr>
            <p:spPr>
              <a:xfrm>
                <a:off x="6663896" y="2921445"/>
                <a:ext cx="1058175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≃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i="1"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̂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i="1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it-IT" i="1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it-IT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819DD85D-8046-4B1D-28FE-346F87B5B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896" y="2921445"/>
                <a:ext cx="1058175" cy="3815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5898FA7A-BF2B-4933-914C-979EA0EBED88}"/>
                  </a:ext>
                </a:extLst>
              </p:cNvPr>
              <p:cNvSpPr txBox="1"/>
              <p:nvPr/>
            </p:nvSpPr>
            <p:spPr>
              <a:xfrm>
                <a:off x="2949676" y="5781367"/>
                <a:ext cx="8167300" cy="4665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/>
                  <a:t>*: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̂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it-IT"/>
                  <a:t> </a:t>
                </a:r>
                <a:r>
                  <a:rPr lang="it-IT" err="1"/>
                  <a:t>is</a:t>
                </a:r>
                <a:r>
                  <a:rPr lang="it-IT"/>
                  <a:t> </a:t>
                </a:r>
                <a:r>
                  <a:rPr lang="it-IT" err="1"/>
                  <a:t>consistent</a:t>
                </a:r>
                <a:r>
                  <a:rPr lang="it-IT"/>
                  <a:t> in </a:t>
                </a:r>
                <a:r>
                  <a:rPr lang="it-IT" err="1"/>
                  <a:t>quadratic</a:t>
                </a:r>
                <a:r>
                  <a:rPr lang="it-IT"/>
                  <a:t> </a:t>
                </a:r>
                <a:r>
                  <a:rPr lang="it-IT" err="1"/>
                  <a:t>mean</a:t>
                </a:r>
                <a:r>
                  <a:rPr lang="it-IT"/>
                  <a:t>: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it-IT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r>
                          <m:rPr>
                            <m:nor/>
                          </m:rPr>
                          <a:rPr lang="it-IT" dirty="0"/>
                          <m:t>mse</m:t>
                        </m:r>
                        <m:r>
                          <m:rPr>
                            <m:nor/>
                          </m:rPr>
                          <a:rPr lang="it-IT" dirty="0"/>
                          <m:t> 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Σ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̂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it-IT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it-IT" b="0" i="1" smtClean="0">
                        <a:latin typeface="Cambria Math" panose="02040503050406030204" pitchFamily="18" charset="0"/>
                      </a:rPr>
                      <m:t>≜</m:t>
                    </m:r>
                    <m:limLow>
                      <m:limLow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Low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Σ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̂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it-IT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it-IT"/>
                  <a:t>=0 </a:t>
                </a: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5898FA7A-BF2B-4933-914C-979EA0EBE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676" y="5781367"/>
                <a:ext cx="8167300" cy="466538"/>
              </a:xfrm>
              <a:prstGeom prst="rect">
                <a:avLst/>
              </a:prstGeom>
              <a:blipFill>
                <a:blip r:embed="rId5"/>
                <a:stretch>
                  <a:fillRect l="-672" t="-3896" b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727579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12158-11AD-683F-0FA8-7893AA109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304A388-8DA4-5F84-2594-D9E655C6E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09C9533-BD83-5EBD-1888-71151E6E3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133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3FD1C7FA-4066-5835-324A-57D808A2BEDE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5B33D916-58A7-50AA-2056-F00361BA1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50719133-7033-E575-2174-034C7C04690B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C7FCB5CF-7D3D-24AD-8F12-B6A2B1C0BB9D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6AE51053-4C8B-29D8-9428-62253E408053}"/>
                  </a:ext>
                </a:extLst>
              </p:cNvPr>
              <p:cNvSpPr txBox="1"/>
              <p:nvPr/>
            </p:nvSpPr>
            <p:spPr>
              <a:xfrm>
                <a:off x="3323303" y="1907513"/>
                <a:ext cx="63160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/>
                  <a:t>- At </a:t>
                </a:r>
                <a:r>
                  <a:rPr lang="it-IT" err="1"/>
                  <a:t>each</a:t>
                </a:r>
                <a:r>
                  <a:rPr lang="it-IT"/>
                  <a:t> </a:t>
                </a:r>
                <a:r>
                  <a:rPr lang="it-IT" err="1"/>
                  <a:t>iteration</a:t>
                </a:r>
                <a:r>
                  <a:rPr lang="it-IT"/>
                  <a:t>/</a:t>
                </a:r>
                <a:r>
                  <a:rPr lang="it-IT" err="1"/>
                  <a:t>simulation</a:t>
                </a:r>
                <a:r>
                  <a:rPr lang="it-IT"/>
                  <a:t> I compute a </a:t>
                </a:r>
                <a:r>
                  <a:rPr lang="it-IT" err="1"/>
                  <a:t>realization</a:t>
                </a:r>
                <a:r>
                  <a:rPr lang="it-IT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it-IT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6AE51053-4C8B-29D8-9428-62253E408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303" y="1907513"/>
                <a:ext cx="6316088" cy="369332"/>
              </a:xfrm>
              <a:prstGeom prst="rect">
                <a:avLst/>
              </a:prstGeom>
              <a:blipFill>
                <a:blip r:embed="rId3"/>
                <a:stretch>
                  <a:fillRect l="-772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7FCE0D5A-E929-C500-E9D9-2BDEEE23FC76}"/>
                  </a:ext>
                </a:extLst>
              </p:cNvPr>
              <p:cNvSpPr txBox="1"/>
              <p:nvPr/>
            </p:nvSpPr>
            <p:spPr>
              <a:xfrm>
                <a:off x="3323303" y="2325298"/>
                <a:ext cx="7649063" cy="62628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it-IT"/>
                  <a:t>After n </a:t>
                </a:r>
                <a:r>
                  <a:rPr lang="it-IT" err="1"/>
                  <a:t>iterations</a:t>
                </a:r>
                <a:r>
                  <a:rPr lang="it-IT"/>
                  <a:t> I can compute </a:t>
                </a:r>
                <a:r>
                  <a:rPr lang="it-IT" err="1"/>
                  <a:t>their</a:t>
                </a:r>
                <a:r>
                  <a:rPr lang="it-IT"/>
                  <a:t> </a:t>
                </a:r>
                <a:r>
                  <a:rPr lang="it-IT" err="1"/>
                  <a:t>average</a:t>
                </a:r>
                <a:r>
                  <a:rPr lang="it-IT"/>
                  <a:t> </a:t>
                </a:r>
                <a:r>
                  <a:rPr lang="it-IT" err="1"/>
                  <a:t>mean</a:t>
                </a:r>
                <a:r>
                  <a:rPr lang="it-IT"/>
                  <a:t> </a:t>
                </a:r>
                <a:r>
                  <a:rPr lang="it-IT" err="1"/>
                  <a:t>estimation</a:t>
                </a:r>
                <a:r>
                  <a:rPr lang="it-IT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25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it-IT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it-IT"/>
                  <a:t>, </a:t>
                </a:r>
                <a:r>
                  <a:rPr lang="it-IT" err="1"/>
                  <a:t>as</a:t>
                </a:r>
                <a:r>
                  <a:rPr lang="it-IT"/>
                  <a:t> estimate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].</m:t>
                    </m:r>
                  </m:oMath>
                </a14:m>
                <a:endParaRPr lang="it-IT"/>
              </a:p>
              <a:p>
                <a:pPr marL="285750" indent="-285750">
                  <a:buFontTx/>
                  <a:buChar char="-"/>
                </a:pPr>
                <a:endParaRPr lang="it-IT"/>
              </a:p>
              <a:p>
                <a:pPr marL="285750" indent="-285750">
                  <a:buFontTx/>
                  <a:buChar char="-"/>
                </a:pPr>
                <a:r>
                  <a:rPr lang="it-IT"/>
                  <a:t>How </a:t>
                </a:r>
                <a:r>
                  <a:rPr lang="it-IT" err="1"/>
                  <a:t>many</a:t>
                </a:r>
                <a:r>
                  <a:rPr lang="it-IT"/>
                  <a:t> </a:t>
                </a:r>
                <a:r>
                  <a:rPr lang="it-IT" b="1"/>
                  <a:t>n </a:t>
                </a:r>
                <a:r>
                  <a:rPr lang="it-IT" b="1" err="1"/>
                  <a:t>iterations</a:t>
                </a:r>
                <a:r>
                  <a:rPr lang="it-IT" b="1"/>
                  <a:t> </a:t>
                </a:r>
                <a:r>
                  <a:rPr lang="it-IT"/>
                  <a:t>do I </a:t>
                </a:r>
                <a:r>
                  <a:rPr lang="it-IT" err="1"/>
                  <a:t>need</a:t>
                </a:r>
                <a:r>
                  <a:rPr lang="it-IT"/>
                  <a:t> </a:t>
                </a:r>
                <a:r>
                  <a:rPr lang="it-IT" err="1"/>
                  <a:t>s.t</a:t>
                </a:r>
                <a:r>
                  <a:rPr lang="it-IT"/>
                  <a:t>. I know </a:t>
                </a:r>
                <a:r>
                  <a:rPr lang="it-IT" err="1"/>
                  <a:t>that</a:t>
                </a:r>
                <a:r>
                  <a:rPr lang="it-IT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it-IT"/>
                  <a:t> </a:t>
                </a:r>
                <a:r>
                  <a:rPr lang="it-IT" err="1"/>
                  <a:t>well</a:t>
                </a:r>
                <a:r>
                  <a:rPr lang="it-IT"/>
                  <a:t> </a:t>
                </a:r>
                <a:r>
                  <a:rPr lang="it-IT" err="1"/>
                  <a:t>approximates</a:t>
                </a:r>
                <a:r>
                  <a:rPr lang="it-IT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it-IT"/>
                  <a:t>; and </a:t>
                </a:r>
                <a:r>
                  <a:rPr lang="it-IT" err="1"/>
                  <a:t>how</a:t>
                </a:r>
                <a:r>
                  <a:rPr lang="it-IT"/>
                  <a:t> </a:t>
                </a:r>
                <a:r>
                  <a:rPr lang="it-IT" err="1"/>
                  <a:t>well</a:t>
                </a:r>
                <a:r>
                  <a:rPr lang="it-IT"/>
                  <a:t>?</a:t>
                </a:r>
              </a:p>
              <a:p>
                <a:pPr marL="285750" indent="-285750">
                  <a:buFontTx/>
                  <a:buChar char="-"/>
                </a:pPr>
                <a:endParaRPr lang="it-IT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μ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∈[ </m:t>
                    </m:r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̅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̅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] )≃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it-IT"/>
                  <a:t>,     with </a:t>
                </a:r>
                <a:r>
                  <a:rPr lang="it-IT" err="1"/>
                  <a:t>hw</a:t>
                </a:r>
                <a:r>
                  <a:rPr lang="it-IT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σ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rad>
                      </m:den>
                    </m:f>
                  </m:oMath>
                </a14:m>
                <a:endParaRPr lang="it-IT"/>
              </a:p>
              <a:p>
                <a:pPr marL="285750" indent="-285750">
                  <a:buFontTx/>
                  <a:buChar char="-"/>
                </a:pPr>
                <a:endParaRPr lang="it-IT"/>
              </a:p>
              <a:p>
                <a:pPr marL="285750" indent="-285750">
                  <a:buFontTx/>
                  <a:buChar char="-"/>
                </a:pPr>
                <a:r>
                  <a:rPr lang="it-IT" b="1"/>
                  <a:t>Choice</a:t>
                </a:r>
                <a:r>
                  <a:rPr lang="it-IT"/>
                  <a:t>: </a:t>
                </a:r>
                <a:r>
                  <a:rPr lang="it-IT" err="1"/>
                  <a:t>we</a:t>
                </a:r>
                <a:r>
                  <a:rPr lang="it-IT"/>
                  <a:t> </a:t>
                </a:r>
                <a:r>
                  <a:rPr lang="it-IT" err="1"/>
                  <a:t>want</a:t>
                </a:r>
                <a:r>
                  <a:rPr lang="it-IT"/>
                  <a:t> an </a:t>
                </a:r>
                <a:r>
                  <a:rPr lang="it-IT" err="1"/>
                  <a:t>interval</a:t>
                </a:r>
                <a:r>
                  <a:rPr lang="it-IT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̅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it-IT" b="1" i="1" smtClean="0">
                        <a:latin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1" i="1" smtClean="0">
                            <a:latin typeface="Cambria Math" panose="02040503050406030204" pitchFamily="18" charset="0"/>
                          </a:rPr>
                          <m:t>𝒉𝒘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it-IT"/>
                  <a:t>of </a:t>
                </a:r>
                <a:r>
                  <a:rPr lang="it-IT" err="1"/>
                  <a:t>values</a:t>
                </a:r>
                <a:r>
                  <a:rPr lang="it-IT"/>
                  <a:t> </a:t>
                </a:r>
                <a:r>
                  <a:rPr lang="it-IT" err="1"/>
                  <a:t>s.t</a:t>
                </a:r>
                <a:r>
                  <a:rPr lang="it-IT"/>
                  <a:t>. </a:t>
                </a:r>
                <a:r>
                  <a:rPr lang="it-IT" err="1"/>
                  <a:t>we</a:t>
                </a:r>
                <a:r>
                  <a:rPr lang="it-IT"/>
                  <a:t> </a:t>
                </a:r>
                <a:r>
                  <a:rPr lang="it-IT" err="1"/>
                  <a:t>have</a:t>
                </a:r>
                <a:r>
                  <a:rPr lang="it-IT"/>
                  <a:t> </a:t>
                </a:r>
                <a:r>
                  <a:rPr lang="it-IT" b="1"/>
                  <a:t>90% </a:t>
                </a:r>
                <a:r>
                  <a:rPr lang="it-IT"/>
                  <a:t>confidence(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b="1" i="1">
                        <a:latin typeface="Cambria Math" panose="02040503050406030204" pitchFamily="18" charset="0"/>
                      </a:rPr>
                      <m:t>≃</m:t>
                    </m:r>
                  </m:oMath>
                </a14:m>
                <a:r>
                  <a:rPr lang="it-IT" b="1"/>
                  <a:t>1.645</a:t>
                </a:r>
                <a:r>
                  <a:rPr lang="it-IT"/>
                  <a:t>) </a:t>
                </a:r>
                <a:r>
                  <a:rPr lang="it-IT" err="1"/>
                  <a:t>that</a:t>
                </a:r>
                <a:r>
                  <a:rPr lang="it-IT"/>
                  <a:t> the </a:t>
                </a:r>
                <a:r>
                  <a:rPr lang="it-IT" err="1"/>
                  <a:t>real</a:t>
                </a:r>
                <a:r>
                  <a:rPr lang="it-IT"/>
                  <a:t> </a:t>
                </a:r>
                <a:r>
                  <a:rPr lang="it-IT" err="1"/>
                  <a:t>mean</a:t>
                </a:r>
                <a:r>
                  <a:rPr lang="it-IT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it-IT"/>
                  <a:t>is </a:t>
                </a:r>
                <a:r>
                  <a:rPr lang="it-IT" b="1"/>
                  <a:t>inside </a:t>
                </a:r>
                <a:r>
                  <a:rPr lang="it-IT" b="1" err="1"/>
                  <a:t>it</a:t>
                </a:r>
                <a:r>
                  <a:rPr lang="it-IT"/>
                  <a:t>. Also,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PT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it-IT">
                    <a:solidFill>
                      <a:srgbClr val="00B050"/>
                    </a:solidFill>
                  </a:rPr>
                  <a:t> </a:t>
                </a:r>
                <a:r>
                  <a:rPr lang="it-IT"/>
                  <a:t>must be small (</a:t>
                </a:r>
                <a:r>
                  <a:rPr lang="it-IT" err="1"/>
                  <a:t>otherwise</a:t>
                </a:r>
                <a:r>
                  <a:rPr lang="it-IT"/>
                  <a:t> </a:t>
                </a:r>
                <a:r>
                  <a:rPr lang="it-IT" err="1"/>
                  <a:t>useless</a:t>
                </a:r>
                <a:r>
                  <a:rPr lang="it-IT"/>
                  <a:t>), </a:t>
                </a:r>
                <a:r>
                  <a:rPr lang="it-IT" err="1"/>
                  <a:t>depending</a:t>
                </a:r>
                <a:r>
                  <a:rPr lang="it-IT"/>
                  <a:t> on i-</a:t>
                </a:r>
                <a:r>
                  <a:rPr lang="it-IT" err="1"/>
                  <a:t>th</a:t>
                </a:r>
                <a:r>
                  <a:rPr lang="it-IT"/>
                  <a:t> </a:t>
                </a:r>
                <a:r>
                  <a:rPr lang="it-IT" err="1"/>
                  <a:t>quantity</a:t>
                </a:r>
                <a:r>
                  <a:rPr lang="it-IT"/>
                  <a:t>. </a:t>
                </a:r>
                <a:r>
                  <a:rPr lang="it-IT" b="1" err="1"/>
                  <a:t>We</a:t>
                </a:r>
                <a:r>
                  <a:rPr lang="it-IT" b="1"/>
                  <a:t> </a:t>
                </a:r>
                <a:r>
                  <a:rPr lang="it-IT" b="1" err="1"/>
                  <a:t>chose</a:t>
                </a:r>
                <a:r>
                  <a:rPr lang="it-IT"/>
                  <a:t>:</a:t>
                </a:r>
              </a:p>
              <a:p>
                <a:r>
                  <a:rPr lang="it-IT" b="0"/>
                  <a:t>	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it-IT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PT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sSub>
                          <m:sSubPr>
                            <m:ctrlPr>
                              <a:rPr lang="it-IT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sub>
                    </m:sSub>
                    <m:r>
                      <a:rPr lang="it-IT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it-IT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PT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sub>
                    </m:sSub>
                    <m:r>
                      <a:rPr lang="it-IT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it-IT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PT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</m:sSub>
                    <m:r>
                      <a:rPr lang="it-IT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it-IT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PT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it-IT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it-IT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PT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OS</m:t>
                        </m:r>
                        <m:r>
                          <a:rPr lang="it-IT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]=</m:t>
                    </m:r>
                    <m:r>
                      <m:rPr>
                        <m:nor/>
                      </m:rPr>
                      <a:rPr lang="it-IT"/>
                      <m:t>[</m:t>
                    </m:r>
                    <m:r>
                      <m:rPr>
                        <m:nor/>
                      </m:rPr>
                      <a:rPr lang="it-IT"/>
                      <m:t>0.1,0.01,0.01,0.001,0.01</m:t>
                    </m:r>
                    <m:r>
                      <m:rPr>
                        <m:nor/>
                      </m:rPr>
                      <a:rPr lang="it-IT"/>
                      <m:t>]</m:t>
                    </m:r>
                    <m:r>
                      <m:rPr>
                        <m:nor/>
                      </m:rPr>
                      <a:rPr lang="it-IT"/>
                      <m:t>;</m:t>
                    </m:r>
                  </m:oMath>
                </a14:m>
                <a:r>
                  <a:rPr lang="it-IT"/>
                  <a:t> (in the   	</a:t>
                </a:r>
                <a:r>
                  <a:rPr lang="it-IT" err="1"/>
                  <a:t>corresponding</a:t>
                </a:r>
                <a:r>
                  <a:rPr lang="it-IT"/>
                  <a:t> </a:t>
                </a:r>
                <a:r>
                  <a:rPr lang="it-IT" err="1"/>
                  <a:t>units</a:t>
                </a:r>
                <a:r>
                  <a:rPr lang="it-IT"/>
                  <a:t> of </a:t>
                </a:r>
                <a:r>
                  <a:rPr lang="it-IT" err="1"/>
                  <a:t>measure</a:t>
                </a:r>
                <a:r>
                  <a:rPr lang="it-IT"/>
                  <a:t>)</a:t>
                </a:r>
              </a:p>
              <a:p>
                <a:pPr marL="285750" indent="-285750">
                  <a:buFontTx/>
                  <a:buChar char="-"/>
                </a:pPr>
                <a:endParaRPr lang="it-IT"/>
              </a:p>
              <a:p>
                <a:pPr marL="285750" indent="-285750">
                  <a:buFontTx/>
                  <a:buChar char="-"/>
                </a:pPr>
                <a:endParaRPr lang="it-IT"/>
              </a:p>
              <a:p>
                <a:pPr marL="285750" indent="-285750">
                  <a:buFontTx/>
                  <a:buChar char="-"/>
                </a:pPr>
                <a:endParaRPr lang="it-IT"/>
              </a:p>
              <a:p>
                <a:pPr marL="285750" indent="-285750">
                  <a:buFontTx/>
                  <a:buChar char="-"/>
                </a:pPr>
                <a:endParaRPr lang="it-IT"/>
              </a:p>
              <a:p>
                <a:pPr marL="285750" indent="-285750">
                  <a:buFontTx/>
                  <a:buChar char="-"/>
                </a:pPr>
                <a:endParaRPr lang="it-IT"/>
              </a:p>
              <a:p>
                <a:endParaRPr lang="it-IT"/>
              </a:p>
              <a:p>
                <a:endParaRPr lang="it-IT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7FCE0D5A-E929-C500-E9D9-2BDEEE23F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303" y="2325298"/>
                <a:ext cx="7649063" cy="6262805"/>
              </a:xfrm>
              <a:prstGeom prst="rect">
                <a:avLst/>
              </a:prstGeom>
              <a:blipFill>
                <a:blip r:embed="rId4"/>
                <a:stretch>
                  <a:fillRect l="-558" t="-389" r="-2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8185EA4E-59B6-7179-C70C-AC50AA0FBA04}"/>
                  </a:ext>
                </a:extLst>
              </p:cNvPr>
              <p:cNvSpPr txBox="1"/>
              <p:nvPr/>
            </p:nvSpPr>
            <p:spPr>
              <a:xfrm>
                <a:off x="3095514" y="1383380"/>
                <a:ext cx="85520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C.I. for the </a:t>
                </a:r>
                <a:r>
                  <a:rPr lang="it-IT" b="1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expected</a:t>
                </a:r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it-IT" b="1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value</a:t>
                </a:r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b="1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of a large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b="1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(of </a:t>
                </a:r>
                <a:r>
                  <a:rPr lang="it-IT" b="1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any</a:t>
                </a:r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it-IT" b="1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distribution</a:t>
                </a:r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8185EA4E-59B6-7179-C70C-AC50AA0FB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14" y="1383380"/>
                <a:ext cx="8552021" cy="369332"/>
              </a:xfrm>
              <a:prstGeom prst="rect">
                <a:avLst/>
              </a:prstGeom>
              <a:blipFill>
                <a:blip r:embed="rId5"/>
                <a:stretch>
                  <a:fillRect l="-641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BDF4F402-A9F2-A602-2C5B-FB36B1D1F83A}"/>
              </a:ext>
            </a:extLst>
          </p:cNvPr>
          <p:cNvSpPr txBox="1"/>
          <p:nvPr/>
        </p:nvSpPr>
        <p:spPr>
          <a:xfrm>
            <a:off x="9909524" y="3757344"/>
            <a:ext cx="1810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err="1"/>
              <a:t>Hw</a:t>
            </a:r>
            <a:r>
              <a:rPr lang="pt-PT"/>
              <a:t> = </a:t>
            </a:r>
            <a:r>
              <a:rPr lang="pt-PT" err="1"/>
              <a:t>Halfwidth</a:t>
            </a:r>
            <a:r>
              <a:rPr lang="pt-PT"/>
              <a:t> </a:t>
            </a:r>
            <a:r>
              <a:rPr lang="pt-PT" err="1"/>
              <a:t>of</a:t>
            </a:r>
            <a:r>
              <a:rPr lang="pt-PT"/>
              <a:t> C.I.</a:t>
            </a:r>
          </a:p>
        </p:txBody>
      </p:sp>
    </p:spTree>
    <p:extLst>
      <p:ext uri="{BB962C8B-B14F-4D97-AF65-F5344CB8AC3E}">
        <p14:creationId xmlns:p14="http://schemas.microsoft.com/office/powerpoint/2010/main" val="159954072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C237C-4785-3B29-7999-3DF574275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01C3020-4F96-008F-8CDC-95797FA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668F393-969D-257B-E8BC-55060D187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134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B8BE41B-5950-7B5D-500A-C6F25F2AF0E7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30353382-51EC-61F6-7826-A4DE493F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75D321A0-D927-954F-B052-8738B364B1ED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3B14657A-A68F-B34C-CA5D-26F941B8FAC3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6AC34CA7-E096-96C0-BB38-CC85837ECFA0}"/>
                  </a:ext>
                </a:extLst>
              </p:cNvPr>
              <p:cNvSpPr txBox="1"/>
              <p:nvPr/>
            </p:nvSpPr>
            <p:spPr>
              <a:xfrm>
                <a:off x="3392129" y="2261419"/>
                <a:ext cx="7548861" cy="17777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/>
                  <a:t>Therefore the </a:t>
                </a:r>
                <a:r>
                  <a:rPr lang="it-IT" err="1"/>
                  <a:t>number</a:t>
                </a:r>
                <a:r>
                  <a:rPr lang="it-IT"/>
                  <a:t> of </a:t>
                </a:r>
                <a:r>
                  <a:rPr lang="it-IT" err="1"/>
                  <a:t>total</a:t>
                </a:r>
                <a:r>
                  <a:rPr lang="it-IT"/>
                  <a:t> </a:t>
                </a:r>
                <a:r>
                  <a:rPr lang="it-IT" err="1"/>
                  <a:t>iterations</a:t>
                </a:r>
                <a:r>
                  <a:rPr lang="it-IT"/>
                  <a:t> </a:t>
                </a:r>
                <a:r>
                  <a:rPr lang="it-IT" b="1"/>
                  <a:t>n</a:t>
                </a:r>
                <a:r>
                  <a:rPr lang="it-IT"/>
                  <a:t> </a:t>
                </a:r>
                <a:r>
                  <a:rPr lang="it-IT" err="1"/>
                  <a:t>needed</a:t>
                </a:r>
                <a:r>
                  <a:rPr lang="it-IT"/>
                  <a:t> are </a:t>
                </a:r>
                <a:r>
                  <a:rPr lang="it-IT" err="1"/>
                  <a:t>dictated</a:t>
                </a:r>
                <a:r>
                  <a:rPr lang="it-IT"/>
                  <a:t> by the </a:t>
                </a:r>
              </a:p>
              <a:p>
                <a:r>
                  <a:rPr lang="it-IT" b="1" err="1"/>
                  <a:t>highest</a:t>
                </a:r>
                <a:r>
                  <a:rPr lang="it-IT" b="1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b="1" i="1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pt-PT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b="1" i="1">
                                <a:latin typeface="Cambria Math" panose="02040503050406030204" pitchFamily="18" charset="0"/>
                              </a:rPr>
                              <m:t>𝒉𝒘</m:t>
                            </m:r>
                          </m:e>
                          <m:sub>
                            <m:r>
                              <a:rPr lang="pt-PT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</m:oMath>
                </a14:m>
                <a:r>
                  <a:rPr lang="it-IT"/>
                  <a:t> ratio: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645</m:t>
                        </m:r>
                        <m:f>
                          <m:fPr>
                            <m:ctrlPr>
                              <a:rPr lang="it-IT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it-IT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it-IT" b="1" i="1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pt-PT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it-IT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b="1" i="1">
                                    <a:latin typeface="Cambria Math" panose="02040503050406030204" pitchFamily="18" charset="0"/>
                                  </a:rPr>
                                  <m:t>𝒉𝒘</m:t>
                                </m:r>
                              </m:e>
                              <m:sub>
                                <m:r>
                                  <a:rPr lang="pt-PT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 )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it-IT"/>
              </a:p>
              <a:p>
                <a:endParaRPr lang="it-IT"/>
              </a:p>
              <a:p>
                <a:endParaRPr lang="it-IT"/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6AC34CA7-E096-96C0-BB38-CC85837EC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129" y="2261419"/>
                <a:ext cx="7548861" cy="1777731"/>
              </a:xfrm>
              <a:prstGeom prst="rect">
                <a:avLst/>
              </a:prstGeom>
              <a:blipFill>
                <a:blip r:embed="rId3"/>
                <a:stretch>
                  <a:fillRect l="-646" t="-20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Immagine 19">
            <a:extLst>
              <a:ext uri="{FF2B5EF4-FFF2-40B4-BE49-F238E27FC236}">
                <a16:creationId xmlns:a16="http://schemas.microsoft.com/office/drawing/2014/main" id="{1CC9A9DD-CAE7-9630-F293-7E48296E69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63388" y="3549727"/>
            <a:ext cx="7772400" cy="334536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BC2F5FC-728E-D29B-4CF4-C4A8A11E5211}"/>
              </a:ext>
            </a:extLst>
          </p:cNvPr>
          <p:cNvSpPr txBox="1"/>
          <p:nvPr/>
        </p:nvSpPr>
        <p:spPr>
          <a:xfrm>
            <a:off x="3519948" y="4257368"/>
            <a:ext cx="6381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For </a:t>
            </a:r>
            <a:r>
              <a:rPr lang="it-IT" err="1"/>
              <a:t>example</a:t>
            </a:r>
            <a:r>
              <a:rPr lang="it-IT"/>
              <a:t> (</a:t>
            </a:r>
            <a:r>
              <a:rPr lang="it-IT" err="1"/>
              <a:t>Different</a:t>
            </a:r>
            <a:r>
              <a:rPr lang="it-IT"/>
              <a:t> on </a:t>
            </a:r>
            <a:r>
              <a:rPr lang="it-IT" err="1"/>
              <a:t>every</a:t>
            </a:r>
            <a:r>
              <a:rPr lang="it-IT"/>
              <a:t> </a:t>
            </a:r>
            <a:r>
              <a:rPr lang="it-IT" err="1"/>
              <a:t>run</a:t>
            </a:r>
            <a:r>
              <a:rPr lang="it-IT"/>
              <a:t> code):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find</a:t>
            </a:r>
            <a:r>
              <a:rPr lang="it-IT"/>
              <a:t> </a:t>
            </a:r>
            <a:r>
              <a:rPr lang="it-IT" err="1"/>
              <a:t>n</a:t>
            </a:r>
            <a:r>
              <a:rPr lang="it-IT"/>
              <a:t>= 4374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8F479ED4-848C-3793-1EFB-2402D0E5B1A7}"/>
              </a:ext>
            </a:extLst>
          </p:cNvPr>
          <p:cNvSpPr txBox="1"/>
          <p:nvPr/>
        </p:nvSpPr>
        <p:spPr>
          <a:xfrm>
            <a:off x="5054258" y="4769767"/>
            <a:ext cx="5200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So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still</a:t>
            </a:r>
            <a:r>
              <a:rPr lang="it-IT"/>
              <a:t> </a:t>
            </a:r>
            <a:r>
              <a:rPr lang="it-IT" err="1"/>
              <a:t>have</a:t>
            </a:r>
            <a:r>
              <a:rPr lang="it-IT"/>
              <a:t> to simulate </a:t>
            </a:r>
            <a:r>
              <a:rPr lang="it-IT" err="1"/>
              <a:t>r</a:t>
            </a:r>
            <a:r>
              <a:rPr lang="it-IT"/>
              <a:t> = </a:t>
            </a:r>
            <a:r>
              <a:rPr lang="it-IT" err="1"/>
              <a:t>n</a:t>
            </a:r>
            <a:r>
              <a:rPr lang="it-IT"/>
              <a:t>-k = 3874 times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1BB893BC-847E-1092-2A7E-DB4D17AA6C35}"/>
              </a:ext>
            </a:extLst>
          </p:cNvPr>
          <p:cNvSpPr txBox="1"/>
          <p:nvPr/>
        </p:nvSpPr>
        <p:spPr>
          <a:xfrm>
            <a:off x="4271895" y="5500384"/>
            <a:ext cx="239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After </a:t>
            </a:r>
            <a:r>
              <a:rPr lang="it-IT" err="1"/>
              <a:t>which</a:t>
            </a:r>
            <a:r>
              <a:rPr lang="it-IT"/>
              <a:t>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get</a:t>
            </a:r>
            <a:r>
              <a:rPr lang="it-IT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5">
                <a:extLst>
                  <a:ext uri="{FF2B5EF4-FFF2-40B4-BE49-F238E27FC236}">
                    <a16:creationId xmlns:a16="http://schemas.microsoft.com/office/drawing/2014/main" id="{3198700D-15C5-2DBF-1B41-3226CD887D5C}"/>
                  </a:ext>
                </a:extLst>
              </p:cNvPr>
              <p:cNvSpPr txBox="1"/>
              <p:nvPr/>
            </p:nvSpPr>
            <p:spPr>
              <a:xfrm>
                <a:off x="3095514" y="1383380"/>
                <a:ext cx="85520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C.I. for the </a:t>
                </a:r>
                <a:r>
                  <a:rPr lang="it-IT" b="1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expected</a:t>
                </a:r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it-IT" b="1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value</a:t>
                </a:r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b="1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of a large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b="1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(of </a:t>
                </a:r>
                <a:r>
                  <a:rPr lang="it-IT" b="1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any</a:t>
                </a:r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it-IT" b="1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distribution</a:t>
                </a:r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CasellaDiTesto 15">
                <a:extLst>
                  <a:ext uri="{FF2B5EF4-FFF2-40B4-BE49-F238E27FC236}">
                    <a16:creationId xmlns:a16="http://schemas.microsoft.com/office/drawing/2014/main" id="{3198700D-15C5-2DBF-1B41-3226CD887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14" y="1383380"/>
                <a:ext cx="8552021" cy="369332"/>
              </a:xfrm>
              <a:prstGeom prst="rect">
                <a:avLst/>
              </a:prstGeom>
              <a:blipFill>
                <a:blip r:embed="rId5"/>
                <a:stretch>
                  <a:fillRect l="-641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601284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50C8B-155F-2334-113F-C57261F11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0F2A4D0-3AD5-D295-A33B-9E2B5F76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DCAA695-0A90-8E67-0D53-F81557668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135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3084F23B-A376-05B2-CC0A-679E84BF70EC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023357EC-B151-3099-D83F-3D4E6E6B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E6503864-E703-2CAB-8B90-14AF659C79C5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77FEFAF4-CD13-AA2A-97FA-84727097F218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59118C43-730D-EC24-5C98-4EBD767117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6" r="7130"/>
          <a:stretch>
            <a:fillRect/>
          </a:stretch>
        </p:blipFill>
        <p:spPr>
          <a:xfrm>
            <a:off x="3095514" y="1346731"/>
            <a:ext cx="8824148" cy="524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35239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368E1-D7B2-B69A-87EA-9C2EAB79B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BEC2A46-06FA-6AC1-EB26-010B86536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3483D38-C593-0621-15E7-ADBB983E3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136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7915BF53-4477-7919-E758-3A3C82C69B82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2C1F5527-EAB4-DC6E-E544-7B4E89C39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64401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78F01AB7-4E63-C991-A2DF-CE75D5794C61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405DB754-DBAB-74D5-3E85-26029C3999CC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BDA08D78-0BF0-1100-52A2-83CE94A0DC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95514" y="1647353"/>
            <a:ext cx="8619690" cy="4254136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1CF974E9-E3C1-DAED-2451-8BB3397D64BE}"/>
              </a:ext>
            </a:extLst>
          </p:cNvPr>
          <p:cNvSpPr txBox="1"/>
          <p:nvPr/>
        </p:nvSpPr>
        <p:spPr>
          <a:xfrm>
            <a:off x="3095514" y="1278021"/>
            <a:ext cx="2218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err="1"/>
              <a:t>Uncoupled</a:t>
            </a:r>
            <a:r>
              <a:rPr lang="pt-PT"/>
              <a:t> </a:t>
            </a:r>
            <a:r>
              <a:rPr lang="pt-PT" err="1"/>
              <a:t>system</a:t>
            </a:r>
            <a:r>
              <a:rPr lang="pt-PT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96973568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7051A-6C70-5A48-3010-433C356E0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2E2FB92-58EC-961C-85A7-99773682F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7F52E8A-0A83-B135-B73E-491A26D1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137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393E1E1-9690-79B1-A7E3-BCEF73290ABA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418A6CDA-D54E-4AA3-15E2-1C4B9DF5A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64401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220FA2EF-B0F5-1BA4-BCF1-F18C51A91D94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A423A5CC-F619-51FA-12C2-8AA4AFDF1613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2BAF633-B66F-6C8F-CF32-B741CF87C70B}"/>
              </a:ext>
            </a:extLst>
          </p:cNvPr>
          <p:cNvSpPr txBox="1"/>
          <p:nvPr/>
        </p:nvSpPr>
        <p:spPr>
          <a:xfrm>
            <a:off x="3095514" y="1278021"/>
            <a:ext cx="2218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err="1"/>
              <a:t>Coupled</a:t>
            </a:r>
            <a:r>
              <a:rPr lang="pt-PT"/>
              <a:t> </a:t>
            </a:r>
            <a:r>
              <a:rPr lang="pt-PT" err="1"/>
              <a:t>system</a:t>
            </a:r>
            <a:r>
              <a:rPr lang="pt-PT"/>
              <a:t>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0630B52-3917-2CF0-58B1-DBE43922F2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244" y="1647353"/>
            <a:ext cx="7772400" cy="494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36660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6FAF7-8CAA-9261-3945-2191D7EC1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BC780F2-E7EC-625C-3EC5-81C39E3A5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FA81F5E-A0CE-1DEB-4D9C-8E812A39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138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374CCA5F-4B99-D89D-52C7-F6BC9EDBABE4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E7EEECE4-B90D-0159-40DD-AD438C2E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28981947-B3FC-EE0A-29CE-2CFBE29E15B2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286F1E98-0E76-65F2-3C00-15933D57D19B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538D69C-BF4F-E611-3672-C3814FAB92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388" y="1352259"/>
            <a:ext cx="7772400" cy="499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3790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87D58-0D29-A0EE-4102-CBB0947BD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ACF76DB-1273-5D8F-67CB-CE3AD292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D775BF2-B456-F906-E7BE-1D8706252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139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472F00B-3B6B-7294-108A-C27E4EF55DDC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9D453742-102A-EF39-2849-0C983A5F9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F76EE354-6550-FA30-11A9-C21C71A164A0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33606648-D5E9-D841-ABAB-28505C1238EF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98FB9F0-6AF3-EE81-4410-FB7BC98E6754}"/>
              </a:ext>
            </a:extLst>
          </p:cNvPr>
          <p:cNvSpPr txBox="1"/>
          <p:nvPr/>
        </p:nvSpPr>
        <p:spPr>
          <a:xfrm>
            <a:off x="4700031" y="1206579"/>
            <a:ext cx="2218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err="1"/>
              <a:t>Coupled</a:t>
            </a:r>
            <a:r>
              <a:rPr lang="pt-PT"/>
              <a:t> </a:t>
            </a:r>
            <a:r>
              <a:rPr lang="pt-PT" err="1"/>
              <a:t>system</a:t>
            </a:r>
            <a:r>
              <a:rPr lang="pt-PT"/>
              <a:t>: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1C903FE-0198-59C0-6C25-A0D2ECCB504C}"/>
              </a:ext>
            </a:extLst>
          </p:cNvPr>
          <p:cNvSpPr txBox="1"/>
          <p:nvPr/>
        </p:nvSpPr>
        <p:spPr>
          <a:xfrm>
            <a:off x="8654355" y="6376888"/>
            <a:ext cx="2218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err="1"/>
              <a:t>Uncoupled</a:t>
            </a:r>
            <a:r>
              <a:rPr lang="pt-PT"/>
              <a:t> </a:t>
            </a:r>
            <a:r>
              <a:rPr lang="pt-PT" err="1"/>
              <a:t>system</a:t>
            </a:r>
            <a:r>
              <a:rPr lang="pt-PT"/>
              <a:t>: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EB1FA0-507A-EE83-14F7-601AD922375E}"/>
              </a:ext>
            </a:extLst>
          </p:cNvPr>
          <p:cNvSpPr txBox="1"/>
          <p:nvPr/>
        </p:nvSpPr>
        <p:spPr>
          <a:xfrm>
            <a:off x="3007892" y="2102591"/>
            <a:ext cx="36560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err="1"/>
              <a:t>Only</a:t>
            </a:r>
            <a:r>
              <a:rPr lang="pt-PT"/>
              <a:t> 500 </a:t>
            </a:r>
            <a:r>
              <a:rPr lang="pt-PT" err="1"/>
              <a:t>iterations</a:t>
            </a:r>
            <a:r>
              <a:rPr lang="pt-PT"/>
              <a:t> are </a:t>
            </a:r>
            <a:r>
              <a:rPr lang="pt-PT" err="1"/>
              <a:t>required</a:t>
            </a:r>
            <a:r>
              <a:rPr lang="pt-PT"/>
              <a:t> for </a:t>
            </a:r>
            <a:r>
              <a:rPr lang="pt-PT" err="1"/>
              <a:t>the</a:t>
            </a:r>
            <a:r>
              <a:rPr lang="pt-PT"/>
              <a:t> </a:t>
            </a:r>
            <a:r>
              <a:rPr lang="pt-PT" err="1"/>
              <a:t>uncoupled</a:t>
            </a:r>
            <a:r>
              <a:rPr lang="pt-PT"/>
              <a:t> </a:t>
            </a:r>
            <a:r>
              <a:rPr lang="pt-PT" err="1"/>
              <a:t>system</a:t>
            </a:r>
            <a:r>
              <a:rPr lang="pt-PT"/>
              <a:t>, </a:t>
            </a:r>
            <a:r>
              <a:rPr lang="pt-PT" err="1"/>
              <a:t>which</a:t>
            </a:r>
            <a:r>
              <a:rPr lang="pt-PT"/>
              <a:t> </a:t>
            </a:r>
            <a:r>
              <a:rPr lang="pt-PT" err="1"/>
              <a:t>means</a:t>
            </a:r>
            <a:r>
              <a:rPr lang="pt-PT"/>
              <a:t> </a:t>
            </a:r>
            <a:r>
              <a:rPr lang="pt-PT" err="1"/>
              <a:t>it</a:t>
            </a:r>
            <a:r>
              <a:rPr lang="pt-PT"/>
              <a:t> </a:t>
            </a:r>
            <a:r>
              <a:rPr lang="pt-PT" err="1"/>
              <a:t>has</a:t>
            </a:r>
            <a:r>
              <a:rPr lang="pt-PT"/>
              <a:t> “</a:t>
            </a:r>
            <a:r>
              <a:rPr lang="pt-PT" err="1"/>
              <a:t>less</a:t>
            </a:r>
            <a:r>
              <a:rPr lang="pt-PT"/>
              <a:t> </a:t>
            </a:r>
            <a:r>
              <a:rPr lang="pt-PT" err="1"/>
              <a:t>uncertainty</a:t>
            </a:r>
            <a:r>
              <a:rPr lang="pt-PT"/>
              <a:t>” </a:t>
            </a:r>
            <a:r>
              <a:rPr lang="pt-PT" err="1"/>
              <a:t>than</a:t>
            </a:r>
            <a:r>
              <a:rPr lang="pt-PT"/>
              <a:t> </a:t>
            </a:r>
            <a:r>
              <a:rPr lang="pt-PT" err="1"/>
              <a:t>the</a:t>
            </a:r>
            <a:r>
              <a:rPr lang="pt-PT"/>
              <a:t> </a:t>
            </a:r>
            <a:r>
              <a:rPr lang="pt-PT" err="1"/>
              <a:t>coupled</a:t>
            </a:r>
            <a:r>
              <a:rPr lang="pt-PT"/>
              <a:t> </a:t>
            </a:r>
            <a:r>
              <a:rPr lang="pt-PT" err="1"/>
              <a:t>one</a:t>
            </a:r>
            <a:r>
              <a:rPr lang="pt-PT"/>
              <a:t> (sigmas are </a:t>
            </a:r>
            <a:r>
              <a:rPr lang="pt-PT" err="1"/>
              <a:t>lower</a:t>
            </a:r>
            <a:r>
              <a:rPr lang="pt-PT"/>
              <a:t> in formula </a:t>
            </a:r>
            <a:r>
              <a:rPr lang="pt-PT" err="1"/>
              <a:t>of</a:t>
            </a:r>
            <a:r>
              <a:rPr lang="pt-PT"/>
              <a:t> n)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484095D0-E6E8-39E5-BAB1-8F2D51D293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6" r="7130"/>
          <a:stretch>
            <a:fillRect/>
          </a:stretch>
        </p:blipFill>
        <p:spPr>
          <a:xfrm>
            <a:off x="6663896" y="918300"/>
            <a:ext cx="5304861" cy="3150361"/>
          </a:xfrm>
          <a:prstGeom prst="rect">
            <a:avLst/>
          </a:prstGeom>
        </p:spPr>
      </p:pic>
      <p:pic>
        <p:nvPicPr>
          <p:cNvPr id="16" name="Imagem 13">
            <a:extLst>
              <a:ext uri="{FF2B5EF4-FFF2-40B4-BE49-F238E27FC236}">
                <a16:creationId xmlns:a16="http://schemas.microsoft.com/office/drawing/2014/main" id="{9EE18974-A711-DDCE-6722-9F29575422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892" y="4186164"/>
            <a:ext cx="4686894" cy="262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75712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05A6C-3B64-426C-96BC-F42B34474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0959BFB-5273-8C15-219D-D7532DC2F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42181E3-F4AE-C6C1-8166-5389CA74E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140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A249D81D-5390-8769-5251-3B7E18D8A089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70738CE2-3986-28AD-355F-F9AA83E01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C6E675F6-F6AA-9E10-0394-871E04D7FAEA}"/>
              </a:ext>
            </a:extLst>
          </p:cNvPr>
          <p:cNvSpPr txBox="1">
            <a:spLocks/>
          </p:cNvSpPr>
          <p:nvPr/>
        </p:nvSpPr>
        <p:spPr>
          <a:xfrm>
            <a:off x="3095514" y="388444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 (Coupled System) - Lateral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1338A763-3FF4-F26B-EFF7-907ADFB7C146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C732B5D-DE71-DEF4-5118-DD2B81B75F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95513" y="1081822"/>
            <a:ext cx="5295452" cy="270444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24C49F2-C1EE-1FF7-AE9C-B675E1C462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18729" y="3779362"/>
            <a:ext cx="5438308" cy="276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20896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7A60A-34AA-62FD-BE00-4C8186B76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A29A4CD-1724-CA38-D6C1-3F6C3316A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DFE6257-F461-4180-FCE9-98EBA863D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141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28E3C5F-E9B7-84AA-2BA6-2A6527940219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79D3C57B-B6C8-3504-5AC6-A9A2B97F1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51A4F4D6-02ED-6F87-6B81-CC9839D99028}"/>
              </a:ext>
            </a:extLst>
          </p:cNvPr>
          <p:cNvSpPr txBox="1">
            <a:spLocks/>
          </p:cNvSpPr>
          <p:nvPr/>
        </p:nvSpPr>
        <p:spPr>
          <a:xfrm>
            <a:off x="3095514" y="388444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</a:t>
            </a:r>
            <a:r>
              <a:rPr lang="en-US"/>
              <a:t>Campaign (Coupled System) - Longitudinal</a:t>
            </a:r>
            <a:endParaRPr lang="en-US" noProof="0"/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696A6CA3-00A4-169A-4B5F-88BD3E932B51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372A9D8-BE9E-12D0-3F12-C5F2F48A02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95514" y="1081822"/>
            <a:ext cx="5295450" cy="270444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E5EDAC0E-1D15-89E4-CFC3-8ADFD3E3DE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18729" y="3779362"/>
            <a:ext cx="5438307" cy="276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31347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A1548-5906-22C9-6F0A-E11C3BA77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996A5D5-87DF-CCC9-11EB-863027AD8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3045333-9A90-A91C-C3EB-846331C50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142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C92969DD-A108-EDD1-1743-3C1BDB9CA6B2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56B2D0C2-884C-C5B6-64D9-54C2652E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9C886FE3-C3F3-F3D3-557B-EA2345CFECB6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429E88EB-0764-BB97-15EA-B595947C7E0A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F30CDF7-3B38-0AFE-D995-38DB54423B3D}"/>
              </a:ext>
            </a:extLst>
          </p:cNvPr>
          <p:cNvSpPr txBox="1"/>
          <p:nvPr/>
        </p:nvSpPr>
        <p:spPr>
          <a:xfrm>
            <a:off x="3382962" y="1913713"/>
            <a:ext cx="8809037" cy="1515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But we used n iterations also for the less deviated variables so: </a:t>
            </a:r>
            <a:br>
              <a:rPr lang="en-US"/>
            </a:br>
            <a:br>
              <a:rPr lang="en-US"/>
            </a:br>
            <a:endParaRPr lang="en-US"/>
          </a:p>
          <a:p>
            <a:endParaRPr lang="en-US"/>
          </a:p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C54A418F-418F-1C73-448E-5EBBA318CBC4}"/>
                  </a:ext>
                </a:extLst>
              </p:cNvPr>
              <p:cNvSpPr txBox="1"/>
              <p:nvPr/>
            </p:nvSpPr>
            <p:spPr>
              <a:xfrm>
                <a:off x="8604970" y="2523014"/>
                <a:ext cx="325461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>
                    <a:solidFill>
                      <a:schemeClr val="bg2">
                        <a:lumMod val="65000"/>
                      </a:schemeClr>
                    </a:solidFill>
                  </a:rPr>
                  <a:t>Now </a:t>
                </a:r>
                <a:r>
                  <a:rPr lang="pt-PT" err="1">
                    <a:solidFill>
                      <a:schemeClr val="bg2">
                        <a:lumMod val="65000"/>
                      </a:schemeClr>
                    </a:solidFill>
                  </a:rPr>
                  <a:t>we</a:t>
                </a:r>
                <a:r>
                  <a:rPr lang="pt-PT">
                    <a:solidFill>
                      <a:schemeClr val="bg2">
                        <a:lumMod val="65000"/>
                      </a:schemeClr>
                    </a:solidFill>
                  </a:rPr>
                  <a:t> use a more precise </a:t>
                </a:r>
                <a:r>
                  <a:rPr lang="pt-PT" err="1">
                    <a:solidFill>
                      <a:schemeClr val="bg2">
                        <a:lumMod val="65000"/>
                      </a:schemeClr>
                    </a:solidFill>
                  </a:rPr>
                  <a:t>estimation</a:t>
                </a:r>
                <a:r>
                  <a:rPr lang="pt-PT">
                    <a:solidFill>
                      <a:schemeClr val="bg2">
                        <a:lumMod val="65000"/>
                      </a:schemeClr>
                    </a:solidFill>
                  </a:rPr>
                  <a:t> </a:t>
                </a:r>
                <a:r>
                  <a:rPr lang="pt-PT" err="1">
                    <a:solidFill>
                      <a:schemeClr val="bg2">
                        <a:lumMod val="65000"/>
                      </a:schemeClr>
                    </a:solidFill>
                  </a:rPr>
                  <a:t>of</a:t>
                </a:r>
                <a:r>
                  <a:rPr lang="pt-PT">
                    <a:solidFill>
                      <a:schemeClr val="bg2">
                        <a:lumMod val="65000"/>
                      </a:schemeClr>
                    </a:solidFill>
                  </a:rPr>
                  <a:t> real</a:t>
                </a:r>
                <a:r>
                  <a:rPr lang="it-IT">
                    <a:solidFill>
                      <a:schemeClr val="bg2">
                        <a:lumMod val="6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>
                        <a:solidFill>
                          <a:schemeClr val="bg2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pt-PT">
                  <a:solidFill>
                    <a:schemeClr val="bg2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C54A418F-418F-1C73-448E-5EBBA318C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4970" y="2523014"/>
                <a:ext cx="3254617" cy="646331"/>
              </a:xfrm>
              <a:prstGeom prst="rect">
                <a:avLst/>
              </a:prstGeom>
              <a:blipFill>
                <a:blip r:embed="rId3"/>
                <a:stretch>
                  <a:fillRect l="-1689" t="-471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D22D3D4E-102F-90F3-4FDA-6471455C5EBF}"/>
                  </a:ext>
                </a:extLst>
              </p:cNvPr>
              <p:cNvSpPr txBox="1"/>
              <p:nvPr/>
            </p:nvSpPr>
            <p:spPr>
              <a:xfrm>
                <a:off x="3870102" y="2466075"/>
                <a:ext cx="4499565" cy="6842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pt-P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P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𝑣𝑎𝑟𝑖𝑎𝑏𝑙𝑒</m:t>
                      </m:r>
                      <m:r>
                        <a:rPr lang="pt-P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P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i="1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it-IT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</m:rad>
                        </m:den>
                      </m:f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it-IT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pt-PT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D22D3D4E-102F-90F3-4FDA-6471455C5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102" y="2466075"/>
                <a:ext cx="4499565" cy="6842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AF57E356-BBD5-031C-8F51-52044568F551}"/>
                  </a:ext>
                </a:extLst>
              </p:cNvPr>
              <p:cNvSpPr txBox="1"/>
              <p:nvPr/>
            </p:nvSpPr>
            <p:spPr>
              <a:xfrm>
                <a:off x="5740470" y="3172677"/>
                <a:ext cx="1840568" cy="5128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P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pt-PT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it-IT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ad>
                          <m:radPr>
                            <m:degHide m:val="on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rad>
                      </m:num>
                      <m:den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it-IT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den>
                    </m:f>
                  </m:oMath>
                </a14:m>
                <a:endParaRPr lang="pt-PT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AF57E356-BBD5-031C-8F51-52044568F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470" y="3172677"/>
                <a:ext cx="1840568" cy="5128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5D3C63EA-0FFC-252D-27DF-68962F9A7B0D}"/>
                  </a:ext>
                </a:extLst>
              </p:cNvPr>
              <p:cNvSpPr txBox="1"/>
              <p:nvPr/>
            </p:nvSpPr>
            <p:spPr>
              <a:xfrm>
                <a:off x="5740470" y="3953318"/>
                <a:ext cx="2514343" cy="6436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i="1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</m:rad>
                            </m:num>
                            <m:den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b>
                                  <m:sSub>
                                    <m:sSub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pt-PT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5D3C63EA-0FFC-252D-27DF-68962F9A7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470" y="3953318"/>
                <a:ext cx="2514343" cy="6436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7501A9A4-A20D-1D3C-01F6-8321CEDC02AD}"/>
                  </a:ext>
                </a:extLst>
              </p:cNvPr>
              <p:cNvSpPr txBox="1"/>
              <p:nvPr/>
            </p:nvSpPr>
            <p:spPr>
              <a:xfrm>
                <a:off x="5927219" y="4667456"/>
                <a:ext cx="2310056" cy="6436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it-IT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</m:rad>
                            </m:num>
                            <m:den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b>
                                  <m:sSub>
                                    <m:sSub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pt-PT"/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7501A9A4-A20D-1D3C-01F6-8321CEDC0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219" y="4667456"/>
                <a:ext cx="2310056" cy="6436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5B530B33-1AB7-DFAB-2B81-3821A00E931F}"/>
                  </a:ext>
                </a:extLst>
              </p:cNvPr>
              <p:cNvSpPr txBox="1"/>
              <p:nvPr/>
            </p:nvSpPr>
            <p:spPr>
              <a:xfrm>
                <a:off x="5638807" y="5450193"/>
                <a:ext cx="2706830" cy="715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⋅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</m:rad>
                                </m:num>
                                <m:den>
                                  <m:sSub>
                                    <m:sSub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it-I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PT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pt-PT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5B530B33-1AB7-DFAB-2B81-3821A00E9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7" y="5450193"/>
                <a:ext cx="2706830" cy="715902"/>
              </a:xfrm>
              <a:prstGeom prst="rect">
                <a:avLst/>
              </a:prstGeom>
              <a:blipFill>
                <a:blip r:embed="rId8"/>
                <a:stretch>
                  <a:fillRect b="-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08D5F49D-B0F9-232A-709B-2A40964DEBC3}"/>
                  </a:ext>
                </a:extLst>
              </p:cNvPr>
              <p:cNvSpPr txBox="1"/>
              <p:nvPr/>
            </p:nvSpPr>
            <p:spPr>
              <a:xfrm>
                <a:off x="8702232" y="5181240"/>
                <a:ext cx="325461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dirty="0">
                    <a:solidFill>
                      <a:schemeClr val="bg2">
                        <a:lumMod val="65000"/>
                      </a:schemeClr>
                    </a:solidFill>
                  </a:rPr>
                  <a:t>Confidence of variable i inside its C.I.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 smtClean="0">
                            <a:solidFill>
                              <a:schemeClr val="bg2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pt-PT" b="0" i="1" smtClean="0">
                                <a:solidFill>
                                  <a:schemeClr val="bg2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b="0" i="1" smtClean="0">
                                <a:solidFill>
                                  <a:schemeClr val="bg2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pt-PT" b="0" i="1" smtClean="0">
                            <a:solidFill>
                              <a:schemeClr val="bg2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PT" i="1" smtClean="0">
                        <a:solidFill>
                          <a:schemeClr val="bg2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pt-PT" i="1" smtClean="0">
                            <a:solidFill>
                              <a:schemeClr val="bg2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solidFill>
                              <a:schemeClr val="bg2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pt-PT" b="0" i="1" smtClean="0">
                            <a:solidFill>
                              <a:schemeClr val="bg2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PT" b="0" i="1" smtClean="0">
                            <a:solidFill>
                              <a:schemeClr val="bg2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pt-PT" dirty="0">
                  <a:solidFill>
                    <a:schemeClr val="bg2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08D5F49D-B0F9-232A-709B-2A40964DE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2232" y="5181240"/>
                <a:ext cx="3254617" cy="646331"/>
              </a:xfrm>
              <a:prstGeom prst="rect">
                <a:avLst/>
              </a:prstGeom>
              <a:blipFill>
                <a:blip r:embed="rId9"/>
                <a:stretch>
                  <a:fillRect l="-1689" t="-4717" r="-281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5">
                <a:extLst>
                  <a:ext uri="{FF2B5EF4-FFF2-40B4-BE49-F238E27FC236}">
                    <a16:creationId xmlns:a16="http://schemas.microsoft.com/office/drawing/2014/main" id="{92B1BCB7-CDC1-3E20-E79F-EA194DC01381}"/>
                  </a:ext>
                </a:extLst>
              </p:cNvPr>
              <p:cNvSpPr txBox="1"/>
              <p:nvPr/>
            </p:nvSpPr>
            <p:spPr>
              <a:xfrm>
                <a:off x="3095514" y="1383380"/>
                <a:ext cx="85520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C.I. for the </a:t>
                </a:r>
                <a:r>
                  <a:rPr lang="it-IT" b="1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expected</a:t>
                </a:r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it-IT" b="1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value</a:t>
                </a:r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b="1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of a large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b="1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(of </a:t>
                </a:r>
                <a:r>
                  <a:rPr lang="it-IT" b="1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any</a:t>
                </a:r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it-IT" b="1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distribution</a:t>
                </a:r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CasellaDiTesto 15">
                <a:extLst>
                  <a:ext uri="{FF2B5EF4-FFF2-40B4-BE49-F238E27FC236}">
                    <a16:creationId xmlns:a16="http://schemas.microsoft.com/office/drawing/2014/main" id="{92B1BCB7-CDC1-3E20-E79F-EA194DC01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14" y="1383380"/>
                <a:ext cx="8552021" cy="369332"/>
              </a:xfrm>
              <a:prstGeom prst="rect">
                <a:avLst/>
              </a:prstGeom>
              <a:blipFill>
                <a:blip r:embed="rId10"/>
                <a:stretch>
                  <a:fillRect l="-641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81009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A95BC-7AF2-1AA9-B51D-F73F2F062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F187A4C-B41C-CECC-3978-9FDCB8E6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040E1E5-F44F-55C5-EAC9-BA7284831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143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242CC3E-82A0-5C28-6BEC-7FDE18D0283C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5AE7DECE-876C-6E65-5766-B9E76A6D0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D9504D3A-B485-FBA7-DCA2-395A6E3FF7E2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56BDAC11-8308-D581-ADEA-8EEC9B35A0A2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D7B2AB78-20A7-9CC2-544E-B84DF6C9B476}"/>
                  </a:ext>
                </a:extLst>
              </p:cNvPr>
              <p:cNvSpPr txBox="1"/>
              <p:nvPr/>
            </p:nvSpPr>
            <p:spPr>
              <a:xfrm>
                <a:off x="3047999" y="2138797"/>
                <a:ext cx="8809037" cy="28291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/>
                  <a:t>The Confidence intervals (CI) are (for the coupled case):</a:t>
                </a:r>
              </a:p>
              <a:p>
                <a:endParaRPr lang="en-US"/>
              </a:p>
              <a:p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Lateral dynamics</a:t>
                </a:r>
                <a:endParaRPr lang="it-IT" b="1" i="1">
                  <a:solidFill>
                    <a:schemeClr val="tx2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𝑤</m:t>
                        </m:r>
                        <m:sSub>
                          <m:sSubPr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/>
                  <a:t>[5.529, 5.729] rad/s    with a confidence higher than 99%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sSub>
                          <m:sSubPr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𝜁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/>
                  <a:t>[0.5883, 0.6083]             with a confidence  higher than 99%</a:t>
                </a:r>
              </a:p>
              <a:p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sub>
                        </m:sSub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/>
                  <a:t>[0.03892, 0.05892]    with a confidence higher than 99%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𝑇𝑠𝑒</m:t>
                        </m:r>
                        <m:sSub>
                          <m:sSubPr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/>
                  <a:t>[0.4977, 0.4997].        with a confidence of 90%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sSub>
                          <m:sSubPr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/>
                  <a:t>[0.001612, 0.02161]      with a confidence higher than 99% 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D7B2AB78-20A7-9CC2-544E-B84DF6C9B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9" y="2138797"/>
                <a:ext cx="8809037" cy="2829172"/>
              </a:xfrm>
              <a:prstGeom prst="rect">
                <a:avLst/>
              </a:prstGeom>
              <a:blipFill>
                <a:blip r:embed="rId3"/>
                <a:stretch>
                  <a:fillRect l="-554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6">
            <a:extLst>
              <a:ext uri="{FF2B5EF4-FFF2-40B4-BE49-F238E27FC236}">
                <a16:creationId xmlns:a16="http://schemas.microsoft.com/office/drawing/2014/main" id="{0BE2A67F-9CA1-7249-C467-D503FC5695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1876" y="4899659"/>
            <a:ext cx="4348248" cy="1720752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D532593-7CCF-21B6-59FC-A6D47BA27AE8}"/>
              </a:ext>
            </a:extLst>
          </p:cNvPr>
          <p:cNvSpPr txBox="1"/>
          <p:nvPr/>
        </p:nvSpPr>
        <p:spPr>
          <a:xfrm>
            <a:off x="8686800" y="5624945"/>
            <a:ext cx="3090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err="1"/>
              <a:t>Desired</a:t>
            </a:r>
            <a:r>
              <a:rPr lang="pt-PT"/>
              <a:t> </a:t>
            </a:r>
            <a:r>
              <a:rPr lang="pt-PT" err="1"/>
              <a:t>and</a:t>
            </a:r>
            <a:r>
              <a:rPr lang="pt-PT"/>
              <a:t> nominal </a:t>
            </a:r>
            <a:r>
              <a:rPr lang="pt-PT" err="1"/>
              <a:t>Values</a:t>
            </a:r>
            <a:endParaRPr lang="pt-P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5">
                <a:extLst>
                  <a:ext uri="{FF2B5EF4-FFF2-40B4-BE49-F238E27FC236}">
                    <a16:creationId xmlns:a16="http://schemas.microsoft.com/office/drawing/2014/main" id="{CE959787-C26E-B330-ECCD-E2BB9F1A03AA}"/>
                  </a:ext>
                </a:extLst>
              </p:cNvPr>
              <p:cNvSpPr txBox="1"/>
              <p:nvPr/>
            </p:nvSpPr>
            <p:spPr>
              <a:xfrm>
                <a:off x="3095514" y="1383380"/>
                <a:ext cx="85520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C.I. for the </a:t>
                </a:r>
                <a:r>
                  <a:rPr lang="it-IT" b="1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expected</a:t>
                </a:r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it-IT" b="1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value</a:t>
                </a:r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b="1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of a large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b="1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(of </a:t>
                </a:r>
                <a:r>
                  <a:rPr lang="it-IT" b="1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any</a:t>
                </a:r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it-IT" b="1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distribution</a:t>
                </a:r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CasellaDiTesto 15">
                <a:extLst>
                  <a:ext uri="{FF2B5EF4-FFF2-40B4-BE49-F238E27FC236}">
                    <a16:creationId xmlns:a16="http://schemas.microsoft.com/office/drawing/2014/main" id="{CE959787-C26E-B330-ECCD-E2BB9F1A0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14" y="1383380"/>
                <a:ext cx="8552021" cy="369332"/>
              </a:xfrm>
              <a:prstGeom prst="rect">
                <a:avLst/>
              </a:prstGeom>
              <a:blipFill>
                <a:blip r:embed="rId5"/>
                <a:stretch>
                  <a:fillRect l="-641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9677960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1E44A-999F-D926-72B3-EC5EE932C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C43985E-00C7-3709-D9BF-CA109F0E7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CDCBC8F-35FE-69C6-9450-029C1684B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144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F548490F-F67E-80B8-F4B7-3DF11A0FB2A2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9DDB7435-8A9E-D487-368A-5110D90AB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AED1AF21-D1A3-CA48-9DCE-63CBAD9C7185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24A71EBE-4161-22BD-8B43-B38D2307B86C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 noProof="0">
                <a:solidFill>
                  <a:schemeClr val="tx2">
                    <a:lumMod val="75000"/>
                    <a:lumOff val="25000"/>
                  </a:schemeClr>
                </a:solidFill>
              </a:rPr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037FAB89-6B85-479E-4F7D-F187D508146B}"/>
                  </a:ext>
                </a:extLst>
              </p:cNvPr>
              <p:cNvSpPr txBox="1"/>
              <p:nvPr/>
            </p:nvSpPr>
            <p:spPr>
              <a:xfrm>
                <a:off x="3047999" y="2138797"/>
                <a:ext cx="9144001" cy="27273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/>
                  <a:t>The Confidence intervals (CI) are(for the coupled case):</a:t>
                </a:r>
              </a:p>
              <a:p>
                <a:endParaRPr lang="en-US"/>
              </a:p>
              <a:p>
                <a:r>
                  <a:rPr lang="en-US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Longitudinal dynamics</a:t>
                </a:r>
                <a:endParaRPr lang="it-IT" b="1" i="1">
                  <a:solidFill>
                    <a:schemeClr val="tx2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𝑤</m:t>
                        </m:r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/>
                  <a:t>[5.446, 5.646] rad/s        with a confidence higher than 99%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𝜁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pt-PT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/>
                  <a:t>[0.5847, 0.6047]                  with a confidence higher than 99%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𝑜𝑛</m:t>
                            </m:r>
                          </m:sub>
                        </m:sSub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/>
                  <a:t>[0.03907, 0.05907]          with a confidence higher than 99%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𝑇𝑠𝑒</m:t>
                        </m:r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/>
                  <a:t>[0.4977, 0.4997]              with a confidence of 91.07%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𝑂</m:t>
                        </m:r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/>
                  <a:t>[-0.008483, 0.01152]       with a confidence higher than 99%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037FAB89-6B85-479E-4F7D-F187D50814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9" y="2138797"/>
                <a:ext cx="9144001" cy="2727350"/>
              </a:xfrm>
              <a:prstGeom prst="rect">
                <a:avLst/>
              </a:prstGeom>
              <a:blipFill>
                <a:blip r:embed="rId3"/>
                <a:stretch>
                  <a:fillRect l="-533" t="-1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5">
                <a:extLst>
                  <a:ext uri="{FF2B5EF4-FFF2-40B4-BE49-F238E27FC236}">
                    <a16:creationId xmlns:a16="http://schemas.microsoft.com/office/drawing/2014/main" id="{BAADBDAF-3E06-BB29-7512-A6D5865654B9}"/>
                  </a:ext>
                </a:extLst>
              </p:cNvPr>
              <p:cNvSpPr txBox="1"/>
              <p:nvPr/>
            </p:nvSpPr>
            <p:spPr>
              <a:xfrm>
                <a:off x="3095514" y="1383380"/>
                <a:ext cx="85520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C.I. for the </a:t>
                </a:r>
                <a:r>
                  <a:rPr lang="it-IT" b="1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expected</a:t>
                </a:r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it-IT" b="1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value</a:t>
                </a:r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b="1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of a large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b="1" i="1" smtClean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1" i="1" smtClean="0">
                            <a:solidFill>
                              <a:schemeClr val="tx2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(of </a:t>
                </a:r>
                <a:r>
                  <a:rPr lang="it-IT" b="1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any</a:t>
                </a:r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it-IT" b="1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distribution</a:t>
                </a:r>
                <a:r>
                  <a:rPr lang="it-IT" b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CasellaDiTesto 15">
                <a:extLst>
                  <a:ext uri="{FF2B5EF4-FFF2-40B4-BE49-F238E27FC236}">
                    <a16:creationId xmlns:a16="http://schemas.microsoft.com/office/drawing/2014/main" id="{BAADBDAF-3E06-BB29-7512-A6D586565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14" y="1383380"/>
                <a:ext cx="8552021" cy="369332"/>
              </a:xfrm>
              <a:prstGeom prst="rect">
                <a:avLst/>
              </a:prstGeom>
              <a:blipFill>
                <a:blip r:embed="rId4"/>
                <a:stretch>
                  <a:fillRect l="-641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magine 6">
            <a:extLst>
              <a:ext uri="{FF2B5EF4-FFF2-40B4-BE49-F238E27FC236}">
                <a16:creationId xmlns:a16="http://schemas.microsoft.com/office/drawing/2014/main" id="{1F02859F-593B-376A-FBB3-754AAA98D7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1876" y="4899659"/>
            <a:ext cx="4348248" cy="1720752"/>
          </a:xfrm>
          <a:prstGeom prst="rect">
            <a:avLst/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513B57EF-D7A4-7D4E-0B08-07393578D5B2}"/>
              </a:ext>
            </a:extLst>
          </p:cNvPr>
          <p:cNvSpPr txBox="1"/>
          <p:nvPr/>
        </p:nvSpPr>
        <p:spPr>
          <a:xfrm>
            <a:off x="8686800" y="5624945"/>
            <a:ext cx="3090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err="1"/>
              <a:t>Desired</a:t>
            </a:r>
            <a:r>
              <a:rPr lang="pt-PT"/>
              <a:t> </a:t>
            </a:r>
            <a:r>
              <a:rPr lang="pt-PT" err="1"/>
              <a:t>and</a:t>
            </a:r>
            <a:r>
              <a:rPr lang="pt-PT"/>
              <a:t> nominal </a:t>
            </a:r>
            <a:r>
              <a:rPr lang="pt-PT" err="1"/>
              <a:t>Values</a:t>
            </a:r>
            <a:endParaRPr lang="pt-PT"/>
          </a:p>
        </p:txBody>
      </p:sp>
      <p:pic>
        <p:nvPicPr>
          <p:cNvPr id="13" name="Immagine 11">
            <a:extLst>
              <a:ext uri="{FF2B5EF4-FFF2-40B4-BE49-F238E27FC236}">
                <a16:creationId xmlns:a16="http://schemas.microsoft.com/office/drawing/2014/main" id="{9B91909C-F4E3-8609-6686-63DA2E9CF6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1876" y="4910373"/>
            <a:ext cx="4348248" cy="169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37230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B40F1-BCDA-C94D-F3E6-2B7BE03CE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213918E-8CCE-FC61-4BED-4B6FBE55D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F21C-AB5D-4C24-8CBA-4C4AFA0A4EF2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FBD4028-1BCF-804C-396F-893345D9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145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BA0B9EAF-8A15-DF59-11B2-ECEA397C0231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Aerospace Control Systems - Exam project AA 25/26 - </a:t>
            </a:r>
            <a:r>
              <a:rPr lang="en-US" b="1"/>
              <a:t>Robust multivariable control of the lateral/longitudinal dynamics of a multirotor UAV</a:t>
            </a:r>
            <a:endParaRPr lang="en-US" b="1">
              <a:solidFill>
                <a:srgbClr val="000000">
                  <a:lumMod val="65000"/>
                  <a:lumOff val="35000"/>
                </a:srgbClr>
              </a:solidFill>
              <a:latin typeface="Manrope"/>
            </a:endParaRPr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99F30919-D3C1-BC97-34F0-3019099D6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37" y="669099"/>
            <a:ext cx="2218158" cy="1177349"/>
          </a:xfrm>
        </p:spPr>
        <p:txBody>
          <a:bodyPr/>
          <a:lstStyle/>
          <a:p>
            <a:r>
              <a:rPr lang="en-US"/>
              <a:t>Task 5: MC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CCCF7562-B3E4-0FBA-E89B-08106B50F997}"/>
              </a:ext>
            </a:extLst>
          </p:cNvPr>
          <p:cNvSpPr txBox="1">
            <a:spLocks/>
          </p:cNvSpPr>
          <p:nvPr/>
        </p:nvSpPr>
        <p:spPr>
          <a:xfrm>
            <a:off x="3095514" y="506648"/>
            <a:ext cx="8421861" cy="84008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Monte Carlo Campaign</a:t>
            </a:r>
          </a:p>
        </p:txBody>
      </p:sp>
      <p:sp>
        <p:nvSpPr>
          <p:cNvPr id="11" name="Segnaposto testo 5">
            <a:extLst>
              <a:ext uri="{FF2B5EF4-FFF2-40B4-BE49-F238E27FC236}">
                <a16:creationId xmlns:a16="http://schemas.microsoft.com/office/drawing/2014/main" id="{33CB0D43-36EF-53AA-574B-D900B9823207}"/>
              </a:ext>
            </a:extLst>
          </p:cNvPr>
          <p:cNvSpPr txBox="1">
            <a:spLocks/>
          </p:cNvSpPr>
          <p:nvPr/>
        </p:nvSpPr>
        <p:spPr>
          <a:xfrm>
            <a:off x="334963" y="2060575"/>
            <a:ext cx="2383298" cy="44291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Distribution of the 11 aleatory variables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Uncertain system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/>
              <a:t>First iteration: standard deviations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noProof="0"/>
              <a:t>Continue iteration: means convergence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</a:rPr>
              <a:t>Conclusions, e.g. on RP.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noProof="0"/>
          </a:p>
        </p:txBody>
      </p:sp>
      <p:sp>
        <p:nvSpPr>
          <p:cNvPr id="4" name="CasellaDiTesto 15">
            <a:extLst>
              <a:ext uri="{FF2B5EF4-FFF2-40B4-BE49-F238E27FC236}">
                <a16:creationId xmlns:a16="http://schemas.microsoft.com/office/drawing/2014/main" id="{25679323-5863-B22E-7947-85090D67E93F}"/>
              </a:ext>
            </a:extLst>
          </p:cNvPr>
          <p:cNvSpPr txBox="1"/>
          <p:nvPr/>
        </p:nvSpPr>
        <p:spPr>
          <a:xfrm>
            <a:off x="2925719" y="3480204"/>
            <a:ext cx="8761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err="1">
                <a:solidFill>
                  <a:schemeClr val="tx2">
                    <a:lumMod val="75000"/>
                    <a:lumOff val="25000"/>
                  </a:schemeClr>
                </a:solidFill>
              </a:rPr>
              <a:t>Conclusions</a:t>
            </a:r>
            <a:r>
              <a:rPr lang="it-IT" b="1">
                <a:solidFill>
                  <a:schemeClr val="tx2">
                    <a:lumMod val="75000"/>
                    <a:lumOff val="25000"/>
                  </a:schemeClr>
                </a:solidFill>
              </a:rPr>
              <a:t>: MC-</a:t>
            </a:r>
            <a:r>
              <a:rPr lang="it-IT" b="1" err="1">
                <a:solidFill>
                  <a:schemeClr val="tx2">
                    <a:lumMod val="75000"/>
                    <a:lumOff val="25000"/>
                  </a:schemeClr>
                </a:solidFill>
              </a:rPr>
              <a:t>based</a:t>
            </a:r>
            <a:r>
              <a:rPr lang="it-IT" b="1">
                <a:solidFill>
                  <a:schemeClr val="tx2">
                    <a:lumMod val="75000"/>
                    <a:lumOff val="25000"/>
                  </a:schemeClr>
                </a:solidFill>
              </a:rPr>
              <a:t> RP </a:t>
            </a:r>
            <a:r>
              <a:rPr lang="it-IT" b="1" err="1">
                <a:solidFill>
                  <a:schemeClr val="tx2">
                    <a:lumMod val="75000"/>
                    <a:lumOff val="25000"/>
                  </a:schemeClr>
                </a:solidFill>
              </a:rPr>
              <a:t>analysis</a:t>
            </a:r>
            <a:endParaRPr lang="it-IT" b="1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65217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7EE0-E25F-8D32-489B-20D6AF4B3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0C9C63-55CA-9450-D3F6-576D1AD58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/>
              <a:t>Project Methodologies 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5D46D1E-1B52-2388-3F9E-A968EC0F6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26D3B-03D2-4B47-B87E-FB37B34FF9BC}" type="datetime1">
              <a:rPr lang="en-US" smtClean="0"/>
              <a:t>6/27/2026</a:t>
            </a:fld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3204885-9926-4BA9-F80C-8F3010CE3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smtClean="0"/>
              <a:pPr/>
              <a:t>146</a:t>
            </a:fld>
            <a:endParaRPr lang="en-US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49B27B53-180A-C9D5-0B1F-AEE949DBD3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endParaRPr lang="en-US" sz="3600"/>
          </a:p>
          <a:p>
            <a:r>
              <a:rPr lang="en-US"/>
              <a:t>06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D16FEFD-2347-61FD-291F-0880D237867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-56000"/>
                    </a14:imgEffect>
                  </a14:imgLayer>
                </a14:imgProps>
              </a:ext>
            </a:extLst>
          </a:blip>
          <a:srcRect l="44218" r="-145" b="160"/>
          <a:stretch>
            <a:fillRect/>
          </a:stretch>
        </p:blipFill>
        <p:spPr>
          <a:xfrm>
            <a:off x="1282075" y="1174043"/>
            <a:ext cx="4346023" cy="5686133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08DA2F5-860D-A615-8AE7-0B071A207C9E}"/>
              </a:ext>
            </a:extLst>
          </p:cNvPr>
          <p:cNvSpPr txBox="1">
            <a:spLocks/>
          </p:cNvSpPr>
          <p:nvPr/>
        </p:nvSpPr>
        <p:spPr>
          <a:xfrm>
            <a:off x="3095514" y="48493"/>
            <a:ext cx="7136765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Aerospace Control Systems - Exam project AA 25/26 - </a:t>
            </a:r>
            <a:r>
              <a:rPr lang="en-US" b="1">
                <a:solidFill>
                  <a:schemeClr val="bg1"/>
                </a:solidFill>
              </a:rPr>
              <a:t>Robust multivariable control of the lateral/longitudinal dynamics of a multirotor UAV</a:t>
            </a:r>
            <a:endParaRPr lang="en-US" b="1">
              <a:solidFill>
                <a:schemeClr val="bg1"/>
              </a:solidFill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403928611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EB188-5222-DC46-639B-438657F7A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32711D-EC3D-5FC7-869B-EF21C2E8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195" y="812652"/>
            <a:ext cx="2383297" cy="840083"/>
          </a:xfrm>
        </p:spPr>
        <p:txBody>
          <a:bodyPr/>
          <a:lstStyle/>
          <a:p>
            <a:r>
              <a:rPr lang="en-US"/>
              <a:t>References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75CA43-D92D-1790-C45F-0910F041A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1FB1EF-D7FA-4AB3-A499-83F9AF562A32}" type="datetime1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6/27/2026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E60D24-D55A-C83B-0B2E-75D8F5432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6275" y="21355"/>
            <a:ext cx="6645481" cy="365125"/>
          </a:xfrm>
        </p:spPr>
        <p:txBody>
          <a:bodyPr/>
          <a:lstStyle/>
          <a:p>
            <a:pPr lvl="0"/>
            <a:r>
              <a:rPr lang="en-US" noProof="0"/>
              <a:t>Aerospace Control Systems - Exam project AA 25/26 - </a:t>
            </a:r>
            <a:r>
              <a:rPr lang="en-US" b="1" noProof="0"/>
              <a:t>Robust multivariable control of the lateral/longitudinal dynamics of a multirotor UAV</a:t>
            </a:r>
            <a:endParaRPr kumimoji="0" lang="en-US" b="1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AF461-ED31-C1C6-967B-6BE635D85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35EEA2-8D42-4D46-95A6-66E65FDC5EB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147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654FE8-8CB7-A927-1FE4-767B06EDE64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94354" y="970085"/>
            <a:ext cx="8975725" cy="3997325"/>
          </a:xfrm>
        </p:spPr>
        <p:txBody>
          <a:bodyPr vert="horz" lIns="0" tIns="0" rIns="0" bIns="0" rtlCol="0" anchor="t">
            <a:normAutofit fontScale="92500"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sz="1800">
                <a:solidFill>
                  <a:srgbClr val="102C53"/>
                </a:solidFill>
              </a:rPr>
              <a:t>Aerospace Control Systems Course 25/26, M. Lovera, </a:t>
            </a:r>
            <a:r>
              <a:rPr lang="en-US" sz="1800" b="1">
                <a:solidFill>
                  <a:srgbClr val="102C53"/>
                </a:solidFill>
              </a:rPr>
              <a:t>Lecture slides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sz="1800">
                <a:solidFill>
                  <a:srgbClr val="102C53"/>
                </a:solidFill>
                <a:ea typeface="+mn-lt"/>
                <a:cs typeface="+mn-lt"/>
              </a:rPr>
              <a:t>Aerospace Control Systems Course Lectures 25/26,M. Lovera,</a:t>
            </a:r>
            <a:r>
              <a:rPr lang="en-US" sz="1800" b="1">
                <a:solidFill>
                  <a:srgbClr val="102C53"/>
                </a:solidFill>
                <a:ea typeface="+mn-lt"/>
                <a:cs typeface="+mn-lt"/>
              </a:rPr>
              <a:t> Lecture notes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sz="1800">
                <a:solidFill>
                  <a:srgbClr val="102C53"/>
                </a:solidFill>
              </a:rPr>
              <a:t>Multivariable Feedback Control – Analysis and Design, </a:t>
            </a:r>
            <a:r>
              <a:rPr lang="en-US" sz="1800" b="1" err="1">
                <a:solidFill>
                  <a:srgbClr val="102C53"/>
                </a:solidFill>
              </a:rPr>
              <a:t>Skogestad</a:t>
            </a:r>
            <a:r>
              <a:rPr lang="en-US" sz="1800" b="1">
                <a:solidFill>
                  <a:srgbClr val="102C53"/>
                </a:solidFill>
              </a:rPr>
              <a:t>, Postlethwaite.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AutoNum type="arabicParenR"/>
            </a:pPr>
            <a:r>
              <a:rPr lang="en-US" sz="1800" noProof="0" err="1">
                <a:solidFill>
                  <a:srgbClr val="102C53"/>
                </a:solidFill>
              </a:rPr>
              <a:t>MatLab’s</a:t>
            </a:r>
            <a:r>
              <a:rPr lang="en-US" sz="1800" noProof="0">
                <a:solidFill>
                  <a:srgbClr val="102C53"/>
                </a:solidFill>
              </a:rPr>
              <a:t> </a:t>
            </a:r>
            <a:r>
              <a:rPr lang="en-US" sz="1800" b="1" noProof="0">
                <a:solidFill>
                  <a:srgbClr val="102C53"/>
                </a:solidFill>
              </a:rPr>
              <a:t>Robust Control Toolbox </a:t>
            </a:r>
            <a:r>
              <a:rPr lang="en-US" sz="1800" noProof="0">
                <a:solidFill>
                  <a:srgbClr val="102C53"/>
                </a:solidFill>
              </a:rPr>
              <a:t>documentation : </a:t>
            </a:r>
            <a:r>
              <a:rPr lang="en-US" sz="1800">
                <a:solidFill>
                  <a:srgbClr val="102C53"/>
                </a:solidFill>
                <a:hlinkClick r:id="rId3"/>
              </a:rPr>
              <a:t>https://it.mathworks.com/help/robust/index.html</a:t>
            </a:r>
            <a:endParaRPr lang="en-US" sz="1800">
              <a:solidFill>
                <a:srgbClr val="102C53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AutoNum type="arabicParenR"/>
            </a:pPr>
            <a:r>
              <a:rPr lang="en-US" sz="1800" noProof="0">
                <a:solidFill>
                  <a:srgbClr val="102C53"/>
                </a:solidFill>
              </a:rPr>
              <a:t>M. K. H. Fan, A. L. Tits, J. C. Doyle (1991)  "Robustness in the presence of mixed parametric uncertainty and unmodeled dynamics" IEEE Transactions on Automatic Control, vol. 36, no. 1, pp. 25–38.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AutoNum type="arabicParenR"/>
            </a:pPr>
            <a:r>
              <a:rPr lang="en-US" sz="1900"/>
              <a:t>Ross, S. M. (2014). </a:t>
            </a:r>
            <a:r>
              <a:rPr lang="en-US" sz="1900" i="1" err="1"/>
              <a:t>Introduzione</a:t>
            </a:r>
            <a:r>
              <a:rPr lang="en-US" sz="1900" i="1"/>
              <a:t> </a:t>
            </a:r>
            <a:r>
              <a:rPr lang="en-US" sz="1900" i="1" err="1"/>
              <a:t>alla</a:t>
            </a:r>
            <a:r>
              <a:rPr lang="en-US" sz="1900" i="1"/>
              <a:t> </a:t>
            </a:r>
            <a:r>
              <a:rPr lang="en-US" sz="1900" i="1" err="1"/>
              <a:t>statistica</a:t>
            </a:r>
            <a:r>
              <a:rPr lang="en-US" sz="1900"/>
              <a:t> (2ª ed.). </a:t>
            </a:r>
            <a:r>
              <a:rPr lang="en-US" sz="1900" err="1"/>
              <a:t>Maggioli</a:t>
            </a:r>
            <a:r>
              <a:rPr lang="en-US" sz="1900"/>
              <a:t> Editore.</a:t>
            </a:r>
            <a:endParaRPr lang="en-US" sz="1900">
              <a:solidFill>
                <a:srgbClr val="102C53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AutoNum type="arabicParenR"/>
            </a:pPr>
            <a:r>
              <a:rPr lang="en-US" sz="1800">
                <a:solidFill>
                  <a:srgbClr val="102C53"/>
                </a:solidFill>
              </a:rPr>
              <a:t>Images from </a:t>
            </a:r>
            <a:r>
              <a:rPr lang="en-US" sz="1800" b="1">
                <a:solidFill>
                  <a:srgbClr val="102C53"/>
                </a:solidFill>
              </a:rPr>
              <a:t>ANT-X website</a:t>
            </a:r>
            <a:r>
              <a:rPr lang="en-US" sz="1800">
                <a:solidFill>
                  <a:srgbClr val="102C53"/>
                </a:solidFill>
              </a:rPr>
              <a:t>: </a:t>
            </a:r>
            <a:r>
              <a:rPr lang="en-US" sz="1800">
                <a:solidFill>
                  <a:srgbClr val="102C53"/>
                </a:solidFill>
                <a:ea typeface="+mn-lt"/>
                <a:cs typeface="+mn-lt"/>
                <a:hlinkClick r:id="rId4"/>
              </a:rPr>
              <a:t>https://antx.it/educational-products-antx/dronelab-v2-antx/</a:t>
            </a:r>
            <a:endParaRPr lang="en-US" sz="1800" noProof="0">
              <a:solidFill>
                <a:srgbClr val="102C53"/>
              </a:solidFill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sz="1800">
              <a:solidFill>
                <a:srgbClr val="102C53"/>
              </a:solidFill>
            </a:endParaRPr>
          </a:p>
          <a:p>
            <a:pPr>
              <a:lnSpc>
                <a:spcPct val="150000"/>
              </a:lnSpc>
            </a:pPr>
            <a:endParaRPr lang="en-US" sz="1800">
              <a:solidFill>
                <a:srgbClr val="102C53"/>
              </a:solidFill>
            </a:endParaRPr>
          </a:p>
          <a:p>
            <a:pPr>
              <a:lnSpc>
                <a:spcPct val="150000"/>
              </a:lnSpc>
            </a:pPr>
            <a:endParaRPr lang="en-US" sz="1800">
              <a:solidFill>
                <a:srgbClr val="102C53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772F83B-4B21-1BFE-B063-EB5DE20EC6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endParaRPr lang="en-US" noProof="0"/>
          </a:p>
          <a:p>
            <a:endParaRPr lang="en-US" noProof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714B274F-1BEB-4D6D-EBDC-DDB94F888AE0}"/>
              </a:ext>
            </a:extLst>
          </p:cNvPr>
          <p:cNvSpPr txBox="1">
            <a:spLocks/>
          </p:cNvSpPr>
          <p:nvPr/>
        </p:nvSpPr>
        <p:spPr>
          <a:xfrm>
            <a:off x="334965" y="5367042"/>
            <a:ext cx="2383297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Software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659689DC-4247-D989-8373-335FCEC78520}"/>
              </a:ext>
            </a:extLst>
          </p:cNvPr>
          <p:cNvSpPr txBox="1">
            <a:spLocks/>
          </p:cNvSpPr>
          <p:nvPr/>
        </p:nvSpPr>
        <p:spPr>
          <a:xfrm>
            <a:off x="3094354" y="5288102"/>
            <a:ext cx="6554613" cy="141692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it-IT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AutoNum type="arabicParenR"/>
            </a:pPr>
            <a:r>
              <a:rPr lang="en-US" sz="1600" b="1">
                <a:solidFill>
                  <a:srgbClr val="102C53"/>
                </a:solidFill>
              </a:rPr>
              <a:t>MATLAB 2025b</a:t>
            </a:r>
            <a:r>
              <a:rPr lang="en-US" sz="1600">
                <a:solidFill>
                  <a:srgbClr val="102C53"/>
                </a:solidFill>
              </a:rPr>
              <a:t> : </a:t>
            </a:r>
          </a:p>
          <a:p>
            <a:pPr>
              <a:lnSpc>
                <a:spcPct val="150000"/>
              </a:lnSpc>
            </a:pPr>
            <a:r>
              <a:rPr lang="en-US" sz="1600" err="1">
                <a:solidFill>
                  <a:srgbClr val="102C53"/>
                </a:solidFill>
              </a:rPr>
              <a:t>Matlab</a:t>
            </a:r>
            <a:r>
              <a:rPr lang="en-US" sz="1600">
                <a:solidFill>
                  <a:srgbClr val="102C53"/>
                </a:solidFill>
              </a:rPr>
              <a:t> Control System </a:t>
            </a:r>
            <a:r>
              <a:rPr lang="en-US" sz="1600" err="1">
                <a:solidFill>
                  <a:srgbClr val="102C53"/>
                </a:solidFill>
              </a:rPr>
              <a:t>Toolbox,MATLAB</a:t>
            </a:r>
            <a:r>
              <a:rPr lang="en-US" sz="1600">
                <a:solidFill>
                  <a:srgbClr val="102C53"/>
                </a:solidFill>
              </a:rPr>
              <a:t> Robust Control Toolbox, MATLAB  Optimization Toolbox (for </a:t>
            </a:r>
            <a:r>
              <a:rPr lang="en-US" sz="1600" err="1">
                <a:solidFill>
                  <a:srgbClr val="102C53"/>
                </a:solidFill>
              </a:rPr>
              <a:t>fmincon</a:t>
            </a:r>
            <a:r>
              <a:rPr lang="en-US" sz="1600">
                <a:solidFill>
                  <a:srgbClr val="102C53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600" b="1">
                <a:solidFill>
                  <a:srgbClr val="102C53"/>
                </a:solidFill>
              </a:rPr>
              <a:t>2) </a:t>
            </a:r>
            <a:r>
              <a:rPr lang="en-US" sz="1600" b="1" err="1">
                <a:solidFill>
                  <a:srgbClr val="102C53"/>
                </a:solidFill>
              </a:rPr>
              <a:t>Geogebra</a:t>
            </a:r>
            <a:endParaRPr lang="en-US" sz="1600" b="1">
              <a:solidFill>
                <a:srgbClr val="102C53"/>
              </a:solidFill>
            </a:endParaRPr>
          </a:p>
          <a:p>
            <a:pPr>
              <a:lnSpc>
                <a:spcPct val="150000"/>
              </a:lnSpc>
            </a:pPr>
            <a:endParaRPr lang="en-US" sz="1600">
              <a:solidFill>
                <a:srgbClr val="102C53"/>
              </a:solidFill>
            </a:endParaRPr>
          </a:p>
          <a:p>
            <a:pPr>
              <a:lnSpc>
                <a:spcPct val="150000"/>
              </a:lnSpc>
            </a:pPr>
            <a:endParaRPr lang="en-US" sz="1600">
              <a:solidFill>
                <a:srgbClr val="102C53"/>
              </a:solidFill>
            </a:endParaRPr>
          </a:p>
          <a:p>
            <a:pPr>
              <a:lnSpc>
                <a:spcPct val="150000"/>
              </a:lnSpc>
            </a:pPr>
            <a:endParaRPr lang="en-US" sz="1600">
              <a:solidFill>
                <a:srgbClr val="102C53"/>
              </a:solidFill>
            </a:endParaRPr>
          </a:p>
        </p:txBody>
      </p:sp>
      <p:pic>
        <p:nvPicPr>
          <p:cNvPr id="14" name="Immagine 13" descr="Immagine che contiene schermata, creatività, design, arte&#10;&#10;Il contenuto generato dall'IA potrebbe non essere corretto.">
            <a:extLst>
              <a:ext uri="{FF2B5EF4-FFF2-40B4-BE49-F238E27FC236}">
                <a16:creationId xmlns:a16="http://schemas.microsoft.com/office/drawing/2014/main" id="{337F8707-1C15-9C80-DA27-43078E4234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770" y="5756670"/>
            <a:ext cx="1005962" cy="900909"/>
          </a:xfrm>
          <a:prstGeom prst="rect">
            <a:avLst/>
          </a:prstGeom>
        </p:spPr>
      </p:pic>
      <p:pic>
        <p:nvPicPr>
          <p:cNvPr id="10" name="Elemento grafico 9" descr="Libri con riempimento a tinta unita">
            <a:extLst>
              <a:ext uri="{FF2B5EF4-FFF2-40B4-BE49-F238E27FC236}">
                <a16:creationId xmlns:a16="http://schemas.microsoft.com/office/drawing/2014/main" id="{7F6DE745-F929-6904-782C-159E45FC53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44769" y="649393"/>
            <a:ext cx="822036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241510"/>
      </p:ext>
    </p:extLst>
  </p:cSld>
  <p:clrMapOvr>
    <a:masterClrMapping/>
  </p:clrMapOvr>
</p:sld>
</file>

<file path=ppt/theme/theme1.xml><?xml version="1.0" encoding="utf-8"?>
<a:theme xmlns:a="http://schemas.openxmlformats.org/drawingml/2006/main" name="Interni">
  <a:themeElements>
    <a:clrScheme name="Polimi ppt blu102c53">
      <a:dk1>
        <a:srgbClr val="000000"/>
      </a:dk1>
      <a:lt1>
        <a:srgbClr val="FFFFFF"/>
      </a:lt1>
      <a:dk2>
        <a:srgbClr val="102C53"/>
      </a:dk2>
      <a:lt2>
        <a:srgbClr val="FFFFFF"/>
      </a:lt2>
      <a:accent1>
        <a:srgbClr val="102C53"/>
      </a:accent1>
      <a:accent2>
        <a:srgbClr val="596C87"/>
      </a:accent2>
      <a:accent3>
        <a:srgbClr val="8795A8"/>
      </a:accent3>
      <a:accent4>
        <a:srgbClr val="B7BFCA"/>
      </a:accent4>
      <a:accent5>
        <a:srgbClr val="D0D5DD"/>
      </a:accent5>
      <a:accent6>
        <a:srgbClr val="F3F3F6"/>
      </a:accent6>
      <a:hlink>
        <a:srgbClr val="0000FF"/>
      </a:hlink>
      <a:folHlink>
        <a:srgbClr val="28C8F0"/>
      </a:folHlink>
    </a:clrScheme>
    <a:fontScheme name="caratteri tema manrope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manrope_2024_regular" id="{AF503DD6-45CC-4FD9-A316-7E3073ACAABC}" vid="{376A186E-ACA5-4725-B103-CB5852E20BBA}"/>
    </a:ext>
  </a:extLst>
</a:theme>
</file>

<file path=ppt/theme/theme2.xml><?xml version="1.0" encoding="utf-8"?>
<a:theme xmlns:a="http://schemas.openxmlformats.org/drawingml/2006/main" name="Cover">
  <a:themeElements>
    <a:clrScheme name="Polimi ppt blu102c53">
      <a:dk1>
        <a:srgbClr val="000000"/>
      </a:dk1>
      <a:lt1>
        <a:srgbClr val="FFFFFF"/>
      </a:lt1>
      <a:dk2>
        <a:srgbClr val="102C53"/>
      </a:dk2>
      <a:lt2>
        <a:srgbClr val="FFFFFF"/>
      </a:lt2>
      <a:accent1>
        <a:srgbClr val="102C53"/>
      </a:accent1>
      <a:accent2>
        <a:srgbClr val="596C87"/>
      </a:accent2>
      <a:accent3>
        <a:srgbClr val="8795A8"/>
      </a:accent3>
      <a:accent4>
        <a:srgbClr val="B7BFCA"/>
      </a:accent4>
      <a:accent5>
        <a:srgbClr val="D0D5DD"/>
      </a:accent5>
      <a:accent6>
        <a:srgbClr val="F3F3F6"/>
      </a:accent6>
      <a:hlink>
        <a:srgbClr val="0000FF"/>
      </a:hlink>
      <a:folHlink>
        <a:srgbClr val="28C8F0"/>
      </a:folHlink>
    </a:clrScheme>
    <a:fontScheme name="caratteri tema manrope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manrope_2024_regular" id="{AF503DD6-45CC-4FD9-A316-7E3073ACAABC}" vid="{376A186E-ACA5-4725-B103-CB5852E20BB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ppt_manrope_2024_regular</Template>
  <TotalTime>0</TotalTime>
  <Words>12512</Words>
  <Application>Microsoft Office PowerPoint</Application>
  <PresentationFormat>Widescreen</PresentationFormat>
  <Paragraphs>2190</Paragraphs>
  <Slides>147</Slides>
  <Notes>76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147</vt:i4>
      </vt:variant>
    </vt:vector>
  </HeadingPairs>
  <TitlesOfParts>
    <vt:vector size="158" baseType="lpstr">
      <vt:lpstr>Arial</vt:lpstr>
      <vt:lpstr>Cambria Math</vt:lpstr>
      <vt:lpstr>Calibri</vt:lpstr>
      <vt:lpstr>Manrope Light</vt:lpstr>
      <vt:lpstr>Manrope</vt:lpstr>
      <vt:lpstr>Wingdings</vt:lpstr>
      <vt:lpstr>STIXGeneral-Regular</vt:lpstr>
      <vt:lpstr>Arial,Sans-Serif</vt:lpstr>
      <vt:lpstr>Aptos</vt:lpstr>
      <vt:lpstr>Interni</vt:lpstr>
      <vt:lpstr>Cover</vt:lpstr>
      <vt:lpstr>Aerospace Control Systems  Exam project AA 25/26 Robust multivariable control of the lateral/longitudinal dynamics of a multirotor UAV  </vt:lpstr>
      <vt:lpstr>Index</vt:lpstr>
      <vt:lpstr>Problem Definition</vt:lpstr>
      <vt:lpstr>Problem Definition </vt:lpstr>
      <vt:lpstr>Problem Definition </vt:lpstr>
      <vt:lpstr>Problem Definition </vt:lpstr>
      <vt:lpstr>  </vt:lpstr>
      <vt:lpstr> Nominal controller design for 1 dof dynamics</vt:lpstr>
      <vt:lpstr>Nominal plant modeling for Lateral dynamics</vt:lpstr>
      <vt:lpstr>Nominal plant modeling for Lateral dynamics</vt:lpstr>
      <vt:lpstr>Nominal plant modeling for Lateral dynamics</vt:lpstr>
      <vt:lpstr>Nominal plant modeling for Lateral dynamics</vt:lpstr>
      <vt:lpstr>Nominal controller design for Lateral dynamics</vt:lpstr>
      <vt:lpstr>Nominal controller design for Lateral dynamics</vt:lpstr>
      <vt:lpstr>Nominal controller design for Lateral dynamics</vt:lpstr>
      <vt:lpstr>Design requirements for Nominal controller design for Lateral dynamics</vt:lpstr>
      <vt:lpstr>Design requirements for Nominal controller design for Lateral dynamics</vt:lpstr>
      <vt:lpstr>Design requirements for Nominal controller design for Lateral dynamics</vt:lpstr>
      <vt:lpstr>Design requirements for Nominal controller design for Lateral dynamics</vt:lpstr>
      <vt:lpstr>Design requirements for Nominal controller design for Lateral dynamics</vt:lpstr>
      <vt:lpstr>Design requirements for Nominal controller design for Lateral dynamics</vt:lpstr>
      <vt:lpstr>Mixed-sensitivity synthesis</vt:lpstr>
      <vt:lpstr>Mixed-sensitivity synthesis</vt:lpstr>
      <vt:lpstr>Mixed-sensitivity synthesis</vt:lpstr>
      <vt:lpstr>Analysis of the results</vt:lpstr>
      <vt:lpstr>Analysis of the results</vt:lpstr>
      <vt:lpstr>Analysis of the results </vt:lpstr>
      <vt:lpstr>Analysis of the results</vt:lpstr>
      <vt:lpstr>Analysis of the results</vt:lpstr>
      <vt:lpstr>Analysis of the results</vt:lpstr>
      <vt:lpstr>Analysis of the results</vt:lpstr>
      <vt:lpstr>Analysis of the results</vt:lpstr>
      <vt:lpstr>Nominal plant modeling for Longitudinal dynamics</vt:lpstr>
      <vt:lpstr>Nominal plant modeling for Longitudinal dynamics</vt:lpstr>
      <vt:lpstr>Nominal plant modeling for Longitudinal dynamics</vt:lpstr>
      <vt:lpstr>Nominal controller design for Longitudinal dynamics</vt:lpstr>
      <vt:lpstr>Nominal controller design for Longitudinal dynamics</vt:lpstr>
      <vt:lpstr>Nominal controller design for Longitudinal dynamics</vt:lpstr>
      <vt:lpstr>Design requirements for Nominal controller design for Longitudinal dynamics</vt:lpstr>
      <vt:lpstr>Design requirements for Nominal controller design for Longitudinal dynamics</vt:lpstr>
      <vt:lpstr>Design requirements for Nominal controller design for Longitudinal dynamics</vt:lpstr>
      <vt:lpstr>Design requirements for Nominal controller design for Longitudinal dynamics</vt:lpstr>
      <vt:lpstr>Design requirements for Nominal controller design for Longitudinal dynamics</vt:lpstr>
      <vt:lpstr>Mixed-sensitivity synthesis</vt:lpstr>
      <vt:lpstr>Mixed-sensitivity synthesis</vt:lpstr>
      <vt:lpstr>Mixed-sensitivity synthesis</vt:lpstr>
      <vt:lpstr>Analysis of the results</vt:lpstr>
      <vt:lpstr>Analysis of the results</vt:lpstr>
      <vt:lpstr>Analysis of the results</vt:lpstr>
      <vt:lpstr>Analysis of the results</vt:lpstr>
      <vt:lpstr>Analysis of the results</vt:lpstr>
      <vt:lpstr>Analysis of the results</vt:lpstr>
      <vt:lpstr>Analysis of the results</vt:lpstr>
      <vt:lpstr>Uncertain modeling</vt:lpstr>
      <vt:lpstr>Uncertain Modelling: Lateral</vt:lpstr>
      <vt:lpstr>Uncertain Modelling: Lateral</vt:lpstr>
      <vt:lpstr>Uncertain Modelling: Lateral</vt:lpstr>
      <vt:lpstr>Uncertain Modelling: Longitudinal</vt:lpstr>
      <vt:lpstr>Uncertain Modelling: Longitudinal</vt:lpstr>
      <vt:lpstr>Uncertain Modelling: Longitudinal</vt:lpstr>
      <vt:lpstr>Robust stability (R.S.) analysis</vt:lpstr>
      <vt:lpstr>Task 3: RS</vt:lpstr>
      <vt:lpstr>Task 3: RS</vt:lpstr>
      <vt:lpstr>Task 3: RS</vt:lpstr>
      <vt:lpstr>Task 3: RS</vt:lpstr>
      <vt:lpstr>Task 3: RS</vt:lpstr>
      <vt:lpstr>Task 3: RS</vt:lpstr>
      <vt:lpstr>Task 3: RS</vt:lpstr>
      <vt:lpstr>Task 3: RS</vt:lpstr>
      <vt:lpstr>Task 3: RS</vt:lpstr>
      <vt:lpstr>Task 3: RS</vt:lpstr>
      <vt:lpstr>Task 3: RS</vt:lpstr>
      <vt:lpstr>Task 3: RS</vt:lpstr>
      <vt:lpstr>Task 3: RS</vt:lpstr>
      <vt:lpstr>Task 3: RS</vt:lpstr>
      <vt:lpstr>Task 3: RS</vt:lpstr>
      <vt:lpstr>Task 3: RS</vt:lpstr>
      <vt:lpstr>Task 3: RS</vt:lpstr>
      <vt:lpstr>Task 3: RS</vt:lpstr>
      <vt:lpstr>Task 3: RS</vt:lpstr>
      <vt:lpstr>Task 3: RS</vt:lpstr>
      <vt:lpstr>Task 3: RS</vt:lpstr>
      <vt:lpstr>Task 3: RS</vt:lpstr>
      <vt:lpstr>Task 3: RS</vt:lpstr>
      <vt:lpstr>Task 3: RS</vt:lpstr>
      <vt:lpstr>Task 3: RS</vt:lpstr>
      <vt:lpstr>Task 3: RS</vt:lpstr>
      <vt:lpstr>Stability Robustness to pitch-roll dynamics uncertainty coupling </vt:lpstr>
      <vt:lpstr>Stability Robustness to pitch-roll dynamics uncertainty coupling</vt:lpstr>
      <vt:lpstr>Stability Robustness to pitch-roll dynamics uncertain coupling</vt:lpstr>
      <vt:lpstr>Stability Robustness to pitch-roll dynamics uncertain coupling</vt:lpstr>
      <vt:lpstr>Stability Robustness to pitch-roll dynamics uncertain coupling</vt:lpstr>
      <vt:lpstr>Stability Robustness to pitch-roll dynamics uncertain coupling</vt:lpstr>
      <vt:lpstr>Stability Robustness to pitch-roll dynamics uncertain coupling</vt:lpstr>
      <vt:lpstr>Stability Robustness to pitch-roll dynamics  uncertain coupling</vt:lpstr>
      <vt:lpstr>Stability Robustness to pitch-roll dynamics. uncertain coupling</vt:lpstr>
      <vt:lpstr>Stability Robustness to pitch-roll dynamics. uncertain coupling</vt:lpstr>
      <vt:lpstr>Stability Robustness to pitch-roll dynamics uncertain coupling</vt:lpstr>
      <vt:lpstr>Stability Robustness to pitch-roll dynamics uncertain coupling</vt:lpstr>
      <vt:lpstr>Task 4: RS</vt:lpstr>
      <vt:lpstr>Task 4: RS</vt:lpstr>
      <vt:lpstr>Task 4: RS</vt:lpstr>
      <vt:lpstr>Task 4: RS</vt:lpstr>
      <vt:lpstr>Task 4: RS</vt:lpstr>
      <vt:lpstr>Task 4: RS</vt:lpstr>
      <vt:lpstr>Task 4: RS</vt:lpstr>
      <vt:lpstr>Task 4: RS</vt:lpstr>
      <vt:lpstr>Task 4: RS</vt:lpstr>
      <vt:lpstr>Task 4: RS</vt:lpstr>
      <vt:lpstr>Task 4: RS</vt:lpstr>
      <vt:lpstr>Task 4: RS</vt:lpstr>
      <vt:lpstr>Task 4: RS</vt:lpstr>
      <vt:lpstr>Task 4: RS</vt:lpstr>
      <vt:lpstr>Task 4: RS</vt:lpstr>
      <vt:lpstr>Task 4: RS</vt:lpstr>
      <vt:lpstr>Task 4: RS</vt:lpstr>
      <vt:lpstr>Task 4: RS</vt:lpstr>
      <vt:lpstr>Task 4: RS</vt:lpstr>
      <vt:lpstr>Task 4: RS</vt:lpstr>
      <vt:lpstr>TASK 5: Monte Carlo Campaign</vt:lpstr>
      <vt:lpstr>Task 5: MC</vt:lpstr>
      <vt:lpstr>Task 5: MC</vt:lpstr>
      <vt:lpstr>Task 5: MC</vt:lpstr>
      <vt:lpstr>Task 5: MC</vt:lpstr>
      <vt:lpstr>Task 5: MC</vt:lpstr>
      <vt:lpstr>Task 5: MC</vt:lpstr>
      <vt:lpstr>Task 5: MC</vt:lpstr>
      <vt:lpstr>Task 5: MC</vt:lpstr>
      <vt:lpstr>Task 5: MC</vt:lpstr>
      <vt:lpstr>Task 5: MC</vt:lpstr>
      <vt:lpstr>Task 5: MC</vt:lpstr>
      <vt:lpstr>Task 5: MC</vt:lpstr>
      <vt:lpstr>Task 5: MC</vt:lpstr>
      <vt:lpstr>Task 5: MC</vt:lpstr>
      <vt:lpstr>Task 5: MC</vt:lpstr>
      <vt:lpstr>Task 5: MC</vt:lpstr>
      <vt:lpstr>Task 5: MC</vt:lpstr>
      <vt:lpstr>Task 5: MC</vt:lpstr>
      <vt:lpstr>Task 5: MC</vt:lpstr>
      <vt:lpstr>Task 5: MC</vt:lpstr>
      <vt:lpstr>Task 5: MC</vt:lpstr>
      <vt:lpstr>Task 5: MC</vt:lpstr>
      <vt:lpstr>Task 5: MC</vt:lpstr>
      <vt:lpstr>Task 5: MC</vt:lpstr>
      <vt:lpstr>Task 5: MC</vt:lpstr>
      <vt:lpstr>Project Methodologies 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Camilla Ghironi</dc:creator>
  <cp:lastModifiedBy>Domenico Raffaele Acierno</cp:lastModifiedBy>
  <cp:revision>1</cp:revision>
  <dcterms:created xsi:type="dcterms:W3CDTF">2024-06-28T15:03:44Z</dcterms:created>
  <dcterms:modified xsi:type="dcterms:W3CDTF">2026-06-27T12:37:02Z</dcterms:modified>
</cp:coreProperties>
</file>